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58" r:id="rId3"/>
    <p:sldId id="259" r:id="rId4"/>
    <p:sldId id="260" r:id="rId5"/>
    <p:sldId id="261" r:id="rId6"/>
    <p:sldId id="262" r:id="rId7"/>
    <p:sldId id="274" r:id="rId8"/>
    <p:sldId id="263" r:id="rId9"/>
    <p:sldId id="264" r:id="rId10"/>
    <p:sldId id="265" r:id="rId11"/>
    <p:sldId id="266" r:id="rId12"/>
    <p:sldId id="267" r:id="rId13"/>
    <p:sldId id="268" r:id="rId14"/>
    <p:sldId id="269" r:id="rId15"/>
    <p:sldId id="270" r:id="rId16"/>
    <p:sldId id="272" r:id="rId17"/>
    <p:sldId id="275" r:id="rId18"/>
    <p:sldId id="273" r:id="rId1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651781-2FAD-4408-9D2B-9AAF0E28779D}" type="datetimeFigureOut">
              <a:rPr lang="ko-KR" altLang="en-US" smtClean="0"/>
              <a:t>2026-10-27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68971-8A18-4432-9241-6F774AE9F424}" type="slidenum">
              <a:rPr lang="ko-KR" altLang="en-US" smtClean="0"/>
              <a:t>‹#›</a:t>
            </a:fld>
            <a:endParaRPr lang="ko-KR" altLang="en-US"/>
          </a:p>
        </p:txBody>
      </p:sp>
    </p:spTree>
    <p:extLst>
      <p:ext uri="{BB962C8B-B14F-4D97-AF65-F5344CB8AC3E}">
        <p14:creationId xmlns:p14="http://schemas.microsoft.com/office/powerpoint/2010/main" val="3631393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강사 참고 (2026. 10. 25. Sonnet 5.5, 노력: 중간, 웹 검색 켜짐 상태로 첫 응답까지 직접 실행해 확인)</a:t>
            </a:r>
          </a:p>
          <a:p>
            <a:r>
              <a:rPr lang="ko-KR" altLang="en-US" dirty="0"/>
              <a:t>A: 보도자료 작성법 일반론(제목·리드문·본문·인용문·부가 요소·작성 팁)을 설명하고, 시스템 사양·활용 계획·원장 코멘트 방향을 알려 달라고 요청. 웹 검색은 하지 않음. 제목 예시 “KISTI, 국가 슈퍼컴퓨터 6호기 도입…연산 성능 OO배 향상”처럼 추측(6호기)과 빈칸(OO배)만 남김.</a:t>
            </a:r>
          </a:p>
          <a:p>
            <a:r>
              <a:rPr lang="ko-KR" altLang="en-US" dirty="0"/>
              <a:t>B: 응답 위 작업 표시가 이번에는 '웹 검색함'으로 나옴 — 펼치면 '스킬 불러옴 grilling' 항목이 보임. 먼저 웹 검색으로 6호기 '한강', 구축사 HPE, GPU 수량, 목표 성능 600PF, 양자컴 연계 등을 출처와 함께 정리한 뒤, 발표 주체·발표 단계·핵심 메시지·성능 표기 기준·주 독자·인용문 6개 결정을 묶어서 질문하고 각각 추천답 제시. “Q1 예, Q2 시범운영, Q3 (c)” 같은 짧은 답도 된다고 안내.</a:t>
            </a:r>
          </a:p>
          <a:p>
            <a:r>
              <a:rPr lang="ko-KR" altLang="en-US" dirty="0"/>
              <a:t>사실 검증 사례: B가 쓴 'GH200 8,694장'은 보도(바이라인네트워크 8,496장, MTN 8,500여 장)와 다름. 6호기 '한강'·HPE 구축·2026년 하반기 도입은 보도와 일치. 출처가 붙어 있어도 숫자는 확인해야 한다는 점을 짚어 줄 것.</a:t>
            </a:r>
          </a:p>
          <a:p>
            <a:r>
              <a:rPr lang="ko-KR" altLang="en-US" dirty="0"/>
              <a:t>비교 포인트는 '환각 여부'보다 '결정을 끌어내 주는가'. A는 결정을 묻지 않고, B는 결정만 묻고 사실은 스스로 찾음.</a:t>
            </a:r>
          </a:p>
          <a:p>
            <a:r>
              <a:rPr lang="ko-KR" altLang="en-US" dirty="0"/>
              <a:t>수업 전 확인: 계정의 grilling 스킬이 최신본인지 (사용자 지정 → Skills → 내 항목 → grilling. 강사 계정은 v2로 표시, 새로 올리면 v1로 표시). 웹 검색이 켜져 있는지 (꺼져 있으면 B가 사실을 찾지 못하고 질문만 함).</a:t>
            </a:r>
          </a:p>
          <a:p>
            <a:r>
              <a:rPr lang="ko-KR" altLang="en-US" dirty="0"/>
              <a:t>응답 아래 '문서 만들기' 버튼으로 결과를 문서로 만들 수 있음.</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85874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507467"/>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1061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사전 준비</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1979295" y="598932"/>
            <a:ext cx="938944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수업 시작 전 준비 사항</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828800"/>
            <a:ext cx="5148072" cy="2286000"/>
          </a:xfrm>
          <a:prstGeom prst="rect">
            <a:avLst/>
          </a:prstGeom>
          <a:solidFill>
            <a:srgbClr val="1A1810"/>
          </a:solidFill>
          <a:ln w="12700">
            <a:solidFill>
              <a:srgbClr val="4A4430"/>
            </a:solidFill>
            <a:prstDash val="solid"/>
          </a:ln>
        </p:spPr>
      </p:sp>
      <p:sp>
        <p:nvSpPr>
          <p:cNvPr id="6" name="Text 4"/>
          <p:cNvSpPr/>
          <p:nvPr/>
        </p:nvSpPr>
        <p:spPr>
          <a:xfrm>
            <a:off x="1042416" y="199339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준비 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42416" y="2304288"/>
            <a:ext cx="4709160"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강의자료 다운로드</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2416" y="2688336"/>
            <a:ext cx="4709160" cy="12801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수강 신청 시 등록한 개인 이메일로 </a:t>
            </a:r>
            <a:r>
              <a:rPr kumimoji="0" lang="en-US"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전송된</a:t>
            </a: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파일 </a:t>
            </a:r>
            <a:r>
              <a:rPr kumimoji="0" lang="en-US"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다운로드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17920" y="1828800"/>
            <a:ext cx="5148072" cy="2286000"/>
          </a:xfrm>
          <a:prstGeom prst="rect">
            <a:avLst/>
          </a:prstGeom>
          <a:solidFill>
            <a:srgbClr val="1A1810"/>
          </a:solidFill>
          <a:ln w="12700">
            <a:solidFill>
              <a:srgbClr val="4A4430"/>
            </a:solidFill>
            <a:prstDash val="solid"/>
          </a:ln>
        </p:spPr>
      </p:sp>
      <p:sp>
        <p:nvSpPr>
          <p:cNvPr id="11" name="Text 9"/>
          <p:cNvSpPr/>
          <p:nvPr/>
        </p:nvSpPr>
        <p:spPr>
          <a:xfrm>
            <a:off x="6437376" y="199339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준비 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37376" y="2304288"/>
            <a:ext cx="4709160"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Claude Desktop 설치 · 로그인</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37376" y="2688336"/>
            <a:ext cx="4709160" cy="12801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claude.ai/download에서 운영체제(Windows 10·macOS 13 이상)에 맞는 설치 파일 다운로드 후 설치. 유료 계정(Pro 이상) 로그인 필수 — 비교 실습에 쓰는 Opus는 유료 플랜에서만 선택 가능.</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3" name="Shape 1"/>
          <p:cNvSpPr/>
          <p:nvPr/>
        </p:nvSpPr>
        <p:spPr>
          <a:xfrm>
            <a:off x="5821528" y="2441448"/>
            <a:ext cx="548640" cy="45720"/>
          </a:xfrm>
          <a:prstGeom prst="rect">
            <a:avLst/>
          </a:prstGeom>
          <a:solidFill>
            <a:srgbClr val="FFD733"/>
          </a:solidFill>
          <a:ln/>
        </p:spPr>
      </p:sp>
      <p:sp>
        <p:nvSpPr>
          <p:cNvPr id="4" name="Text 2"/>
          <p:cNvSpPr/>
          <p:nvPr/>
        </p:nvSpPr>
        <p:spPr>
          <a:xfrm>
            <a:off x="640080" y="2743200"/>
            <a:ext cx="10911535" cy="1645920"/>
          </a:xfrm>
          <a:prstGeom prst="rect">
            <a:avLst/>
          </a:prstGeom>
          <a:noFill/>
          <a:ln/>
        </p:spPr>
        <p:txBody>
          <a:bodyPr wrap="square" lIns="0" tIns="0" rIns="0" bIns="0" rtlCol="0" anchor="t"/>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Grilling으로 원하는 결과를</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이끌어내는 프롬프트 만들기</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62179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01 · 문제 진단</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490470" y="598932"/>
            <a:ext cx="8878265"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프롬프트를 써도 원하는 결과가 나오지 않는 이유</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481328"/>
            <a:ext cx="10545775"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지시하지 않은 부분을 </a:t>
            </a: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모델이 스스로 메우는 구조</a:t>
            </a:r>
            <a:r>
              <a:rPr kumimoji="0" lang="en-US" sz="14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이기 때문</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822960" y="2011680"/>
            <a:ext cx="10545775" cy="868680"/>
          </a:xfrm>
          <a:prstGeom prst="rect">
            <a:avLst/>
          </a:prstGeom>
          <a:solidFill>
            <a:srgbClr val="1A1810"/>
          </a:solidFill>
          <a:ln w="12700">
            <a:solidFill>
              <a:srgbClr val="4A4430"/>
            </a:solidFill>
            <a:prstDash val="solid"/>
          </a:ln>
        </p:spPr>
      </p:sp>
      <p:sp>
        <p:nvSpPr>
          <p:cNvPr id="7" name="Shape 5"/>
          <p:cNvSpPr/>
          <p:nvPr/>
        </p:nvSpPr>
        <p:spPr>
          <a:xfrm>
            <a:off x="822960" y="2011680"/>
            <a:ext cx="50292" cy="868680"/>
          </a:xfrm>
          <a:prstGeom prst="rect">
            <a:avLst/>
          </a:prstGeom>
          <a:solidFill>
            <a:srgbClr val="FFD733"/>
          </a:solidFill>
          <a:ln/>
        </p:spPr>
      </p:sp>
      <p:sp>
        <p:nvSpPr>
          <p:cNvPr id="8" name="Text 6"/>
          <p:cNvSpPr/>
          <p:nvPr/>
        </p:nvSpPr>
        <p:spPr>
          <a:xfrm>
            <a:off x="1097280" y="213969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모호한 한 줄 지시의 예</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97280" y="2432304"/>
            <a:ext cx="9997135" cy="32004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“보도자료 어떻게 써?”</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822960" y="3200400"/>
            <a:ext cx="3088538" cy="1051560"/>
          </a:xfrm>
          <a:prstGeom prst="rect">
            <a:avLst/>
          </a:prstGeom>
          <a:solidFill>
            <a:srgbClr val="1A1810"/>
          </a:solidFill>
          <a:ln w="12700">
            <a:solidFill>
              <a:srgbClr val="4A4430"/>
            </a:solidFill>
            <a:prstDash val="solid"/>
          </a:ln>
        </p:spPr>
      </p:sp>
      <p:sp>
        <p:nvSpPr>
          <p:cNvPr id="11" name="Shape 9"/>
          <p:cNvSpPr/>
          <p:nvPr/>
        </p:nvSpPr>
        <p:spPr>
          <a:xfrm>
            <a:off x="822960" y="3200400"/>
            <a:ext cx="3088538" cy="41148"/>
          </a:xfrm>
          <a:prstGeom prst="rect">
            <a:avLst/>
          </a:prstGeom>
          <a:solidFill>
            <a:srgbClr val="FFD733"/>
          </a:solidFill>
          <a:ln/>
        </p:spPr>
      </p:sp>
      <p:sp>
        <p:nvSpPr>
          <p:cNvPr id="12" name="Text 10"/>
          <p:cNvSpPr/>
          <p:nvPr/>
        </p:nvSpPr>
        <p:spPr>
          <a:xfrm>
            <a:off x="932688" y="3227832"/>
            <a:ext cx="2869082" cy="99669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모호한 한 줄 지시</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의도의 일부만 글로 전달</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948074" y="3200400"/>
            <a:ext cx="566928" cy="10515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551578" y="3200400"/>
            <a:ext cx="3088538" cy="1051560"/>
          </a:xfrm>
          <a:prstGeom prst="rect">
            <a:avLst/>
          </a:prstGeom>
          <a:solidFill>
            <a:srgbClr val="1A1810"/>
          </a:solidFill>
          <a:ln w="12700">
            <a:solidFill>
              <a:srgbClr val="4A4430"/>
            </a:solidFill>
            <a:prstDash val="solid"/>
          </a:ln>
        </p:spPr>
      </p:sp>
      <p:sp>
        <p:nvSpPr>
          <p:cNvPr id="15" name="Shape 13"/>
          <p:cNvSpPr/>
          <p:nvPr/>
        </p:nvSpPr>
        <p:spPr>
          <a:xfrm>
            <a:off x="4551578" y="3200400"/>
            <a:ext cx="3088538" cy="41148"/>
          </a:xfrm>
          <a:prstGeom prst="rect">
            <a:avLst/>
          </a:prstGeom>
          <a:solidFill>
            <a:srgbClr val="FFD733"/>
          </a:solidFill>
          <a:ln/>
        </p:spPr>
      </p:sp>
      <p:sp>
        <p:nvSpPr>
          <p:cNvPr id="16" name="Text 14"/>
          <p:cNvSpPr/>
          <p:nvPr/>
        </p:nvSpPr>
        <p:spPr>
          <a:xfrm>
            <a:off x="4661306" y="3227832"/>
            <a:ext cx="2869082" cy="99669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모델이 빈칸을 임의로 가정</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지시 없는 부분을 스스로 결정</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676693" y="3200400"/>
            <a:ext cx="566928" cy="10515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8280197" y="3200400"/>
            <a:ext cx="3088538" cy="1051560"/>
          </a:xfrm>
          <a:prstGeom prst="rect">
            <a:avLst/>
          </a:prstGeom>
          <a:solidFill>
            <a:srgbClr val="1A1810"/>
          </a:solidFill>
          <a:ln w="12700">
            <a:solidFill>
              <a:srgbClr val="4A4430"/>
            </a:solidFill>
            <a:prstDash val="solid"/>
          </a:ln>
        </p:spPr>
      </p:sp>
      <p:sp>
        <p:nvSpPr>
          <p:cNvPr id="19" name="Shape 17"/>
          <p:cNvSpPr/>
          <p:nvPr/>
        </p:nvSpPr>
        <p:spPr>
          <a:xfrm>
            <a:off x="8280197" y="3200400"/>
            <a:ext cx="3088538" cy="41148"/>
          </a:xfrm>
          <a:prstGeom prst="rect">
            <a:avLst/>
          </a:prstGeom>
          <a:solidFill>
            <a:srgbClr val="FFD733"/>
          </a:solidFill>
          <a:ln/>
        </p:spPr>
      </p:sp>
      <p:sp>
        <p:nvSpPr>
          <p:cNvPr id="20" name="Text 18"/>
          <p:cNvSpPr/>
          <p:nvPr/>
        </p:nvSpPr>
        <p:spPr>
          <a:xfrm>
            <a:off x="8389925" y="3227832"/>
            <a:ext cx="2869082" cy="99669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원치 않은 결과 · 환각</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일반론 답변 · 사실과 다른 내용까지 생성</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22960" y="4617720"/>
            <a:ext cx="10545775" cy="868680"/>
          </a:xfrm>
          <a:prstGeom prst="rect">
            <a:avLst/>
          </a:prstGeom>
          <a:solidFill>
            <a:srgbClr val="1A1810"/>
          </a:solidFill>
          <a:ln w="12700">
            <a:solidFill>
              <a:srgbClr val="4A4430"/>
            </a:solidFill>
            <a:prstDash val="solid"/>
          </a:ln>
        </p:spPr>
      </p:sp>
      <p:sp>
        <p:nvSpPr>
          <p:cNvPr id="22" name="Text 20"/>
          <p:cNvSpPr/>
          <p:nvPr/>
        </p:nvSpPr>
        <p:spPr>
          <a:xfrm>
            <a:off x="1042416" y="4736592"/>
            <a:ext cx="10106863"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핵심</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042416" y="5001768"/>
            <a:ext cx="10106863" cy="374904"/>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지시하지 않은 것은 모델에게 모호한 의도로 남는 부분 — 결국 임의 생성과 환각의 출발점.</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62179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02 · 근본 원인</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490470" y="598932"/>
            <a:ext cx="8878265"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혼자 작성한 프롬프트에는 빈틈이 많음</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783080"/>
            <a:ext cx="5148072" cy="1965960"/>
          </a:xfrm>
          <a:prstGeom prst="rect">
            <a:avLst/>
          </a:prstGeom>
          <a:solidFill>
            <a:srgbClr val="1A1810"/>
          </a:solidFill>
          <a:ln w="12700">
            <a:solidFill>
              <a:srgbClr val="4A4430"/>
            </a:solidFill>
            <a:prstDash val="solid"/>
          </a:ln>
        </p:spPr>
      </p:sp>
      <p:sp>
        <p:nvSpPr>
          <p:cNvPr id="6" name="Text 4"/>
          <p:cNvSpPr/>
          <p:nvPr/>
        </p:nvSpPr>
        <p:spPr>
          <a:xfrm>
            <a:off x="1042416" y="194767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내가 아는 것</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42416" y="2258568"/>
            <a:ext cx="4709160"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프롬프트 </a:t>
            </a:r>
            <a:r>
              <a:rPr kumimoji="0" lang="en-US" sz="1500" b="1"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명세에</a:t>
            </a: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기재 → 모델이 정확히 반영</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2416" y="2642616"/>
            <a:ext cx="4709160" cy="96012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적힌 내용은 그대로 반영. 다만 전문가일수록 '이건 당연하지'라며 생략하는 내용이 많은 편 — 모델은 그 '당연한 것'을 </a:t>
            </a:r>
            <a:r>
              <a:rPr kumimoji="0" lang="en-US"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알지</a:t>
            </a: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못</a:t>
            </a: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함</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217920" y="1783080"/>
            <a:ext cx="5148072" cy="1965960"/>
          </a:xfrm>
          <a:prstGeom prst="rect">
            <a:avLst/>
          </a:prstGeom>
          <a:solidFill>
            <a:srgbClr val="1A1810"/>
          </a:solidFill>
          <a:ln w="12700">
            <a:solidFill>
              <a:srgbClr val="4A4430"/>
            </a:solidFill>
            <a:prstDash val="solid"/>
          </a:ln>
        </p:spPr>
      </p:sp>
      <p:sp>
        <p:nvSpPr>
          <p:cNvPr id="10" name="Text 8"/>
          <p:cNvSpPr/>
          <p:nvPr/>
        </p:nvSpPr>
        <p:spPr>
          <a:xfrm>
            <a:off x="6437376" y="194767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내가 모르는 것 · BLIND SPOT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37376" y="2258568"/>
            <a:ext cx="4709160"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기재되지 않음 → 모델이 임의로 생성</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37376" y="2642616"/>
            <a:ext cx="4709160" cy="96012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적히지 않은 빈칸이 곧 blind spot. 모델이 스스로 채우는 과정에서 원치 않은 결과와 환각으로 연결.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Guide Box"/>
          <p:cNvSpPr/>
          <p:nvPr/>
        </p:nvSpPr>
        <p:spPr>
          <a:xfrm>
            <a:off x="822960" y="4069080"/>
            <a:ext cx="10545775" cy="1645920"/>
          </a:xfrm>
          <a:prstGeom prst="rect">
            <a:avLst/>
          </a:prstGeom>
          <a:solidFill>
            <a:srgbClr val="1A1810"/>
          </a:solidFill>
          <a:ln w="12700">
            <a:solidFill>
              <a:srgbClr val="4A4430"/>
            </a:solidFill>
            <a:prstDash val="solid"/>
          </a:ln>
        </p:spPr>
      </p:sp>
      <p:sp>
        <p:nvSpPr>
          <p:cNvPr id="19" name="Guide Bar"/>
          <p:cNvSpPr/>
          <p:nvPr/>
        </p:nvSpPr>
        <p:spPr>
          <a:xfrm>
            <a:off x="822960" y="4069080"/>
            <a:ext cx="50292" cy="1645920"/>
          </a:xfrm>
          <a:prstGeom prst="rect">
            <a:avLst/>
          </a:prstGeom>
          <a:solidFill>
            <a:srgbClr val="FFD733"/>
          </a:solidFill>
          <a:ln/>
        </p:spPr>
      </p:sp>
      <p:sp>
        <p:nvSpPr>
          <p:cNvPr id="20" name="Guide Label"/>
          <p:cNvSpPr/>
          <p:nvPr/>
        </p:nvSpPr>
        <p:spPr>
          <a:xfrm>
            <a:off x="1097280" y="419709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Anthropic 공식 프롬프트 가이드의 같은 진단</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Guide Body"/>
          <p:cNvSpPr/>
          <p:nvPr/>
        </p:nvSpPr>
        <p:spPr>
          <a:xfrm>
            <a:off x="1097280" y="4489704"/>
            <a:ext cx="9997135" cy="96012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Claude는 뛰어나지만 우리 조직의 규칙과 업무 방식은 모르는 신입 직원과 같음 — 원하는 것을 정확히 설명할수록 결과가 좋아짐</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5000"/>
              </a:lnSpc>
              <a:spcBef>
                <a:spcPts val="600"/>
              </a:spcBef>
              <a:spcAft>
                <a:spcPts val="0"/>
              </a:spcAft>
              <a:buClrTx/>
              <a:buSzTx/>
              <a:buFontTx/>
              <a:buNone/>
              <a:tabLst/>
              <a:defRPr/>
            </a:pPr>
            <a:r>
              <a:rPr kumimoji="0" lang="ko-KR" altLang="en-US" sz="125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점검 방법 </a:t>
            </a: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이 업무를 잘 모르는 동료에게 프롬프트를 보여주고 그대로 해 보게 할 것. 동료가 헷갈리면 Claude도 헷갈림</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Guide Source"/>
          <p:cNvSpPr/>
          <p:nvPr/>
        </p:nvSpPr>
        <p:spPr>
          <a:xfrm>
            <a:off x="1097280" y="5349240"/>
            <a:ext cx="9994392"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출처: Anthropic, Prompting best practices (platform.claude.com) · 2026. 10. 확인</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03 · 해법</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Grilling — AI가 질문을 던져 나와 AI의 이해를 일치시킴</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965960"/>
            <a:ext cx="10545775" cy="1097280"/>
          </a:xfrm>
          <a:prstGeom prst="rect">
            <a:avLst/>
          </a:prstGeom>
          <a:solidFill>
            <a:srgbClr val="1A1810"/>
          </a:solidFill>
          <a:ln w="12700">
            <a:solidFill>
              <a:srgbClr val="4A4430"/>
            </a:solidFill>
            <a:prstDash val="solid"/>
          </a:ln>
        </p:spPr>
      </p:sp>
      <p:sp>
        <p:nvSpPr>
          <p:cNvPr id="6" name="Shape 4"/>
          <p:cNvSpPr/>
          <p:nvPr/>
        </p:nvSpPr>
        <p:spPr>
          <a:xfrm>
            <a:off x="822960" y="1965960"/>
            <a:ext cx="50292" cy="1097280"/>
          </a:xfrm>
          <a:prstGeom prst="rect">
            <a:avLst/>
          </a:prstGeom>
          <a:solidFill>
            <a:srgbClr val="FFD733"/>
          </a:solidFill>
          <a:ln/>
        </p:spPr>
      </p:sp>
      <p:sp>
        <p:nvSpPr>
          <p:cNvPr id="7" name="Text 5"/>
          <p:cNvSpPr/>
          <p:nvPr/>
        </p:nvSpPr>
        <p:spPr>
          <a:xfrm>
            <a:off x="1097280" y="209397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목표</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97280" y="2386584"/>
            <a:ext cx="9997135" cy="54864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t>
            </a: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나는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아직</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대략적인 아이디어만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있는</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상태</a:t>
            </a: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야</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모델이</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나에게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끝까지</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질문하도록 해서, 이 문제에 어떤 관점이 더 필요하고 어떤 정보가 빠져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있는지</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끌어내</a:t>
            </a: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고 싶어</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822960" y="3611880"/>
            <a:ext cx="2844698" cy="1097280"/>
          </a:xfrm>
          <a:prstGeom prst="rect">
            <a:avLst/>
          </a:prstGeom>
          <a:solidFill>
            <a:srgbClr val="1A1810"/>
          </a:solidFill>
          <a:ln w="12700">
            <a:solidFill>
              <a:srgbClr val="4A4430"/>
            </a:solidFill>
            <a:prstDash val="solid"/>
          </a:ln>
        </p:spPr>
      </p:sp>
      <p:sp>
        <p:nvSpPr>
          <p:cNvPr id="10" name="Shape 8"/>
          <p:cNvSpPr/>
          <p:nvPr/>
        </p:nvSpPr>
        <p:spPr>
          <a:xfrm>
            <a:off x="822960" y="3611880"/>
            <a:ext cx="2844698" cy="41148"/>
          </a:xfrm>
          <a:prstGeom prst="rect">
            <a:avLst/>
          </a:prstGeom>
          <a:solidFill>
            <a:srgbClr val="FFD733"/>
          </a:solidFill>
          <a:ln/>
        </p:spPr>
      </p:sp>
      <p:sp>
        <p:nvSpPr>
          <p:cNvPr id="11" name="Text 9"/>
          <p:cNvSpPr/>
          <p:nvPr/>
        </p:nvSpPr>
        <p:spPr>
          <a:xfrm>
            <a:off x="932688" y="3639312"/>
            <a:ext cx="2625242" cy="104241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대략적 아이디어</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막연한 출발점</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704234" y="3611880"/>
            <a:ext cx="932688"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grill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673498" y="3611880"/>
            <a:ext cx="2844698" cy="1097280"/>
          </a:xfrm>
          <a:prstGeom prst="rect">
            <a:avLst/>
          </a:prstGeom>
          <a:solidFill>
            <a:srgbClr val="1A1810"/>
          </a:solidFill>
          <a:ln w="12700">
            <a:solidFill>
              <a:srgbClr val="4A4430"/>
            </a:solidFill>
            <a:prstDash val="solid"/>
          </a:ln>
        </p:spPr>
      </p:sp>
      <p:sp>
        <p:nvSpPr>
          <p:cNvPr id="14" name="Shape 12"/>
          <p:cNvSpPr/>
          <p:nvPr/>
        </p:nvSpPr>
        <p:spPr>
          <a:xfrm>
            <a:off x="4673498" y="3611880"/>
            <a:ext cx="2844698" cy="41148"/>
          </a:xfrm>
          <a:prstGeom prst="rect">
            <a:avLst/>
          </a:prstGeom>
          <a:solidFill>
            <a:srgbClr val="FFD733"/>
          </a:solidFill>
          <a:ln/>
        </p:spPr>
      </p:sp>
      <p:sp>
        <p:nvSpPr>
          <p:cNvPr id="15" name="Text 13"/>
          <p:cNvSpPr/>
          <p:nvPr/>
        </p:nvSpPr>
        <p:spPr>
          <a:xfrm>
            <a:off x="4783226" y="3639312"/>
            <a:ext cx="2625242" cy="104241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구체적 이해</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관점 · 정보 보강</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554773" y="3611880"/>
            <a:ext cx="932688"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grill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524037" y="3611880"/>
            <a:ext cx="2844698" cy="1097280"/>
          </a:xfrm>
          <a:prstGeom prst="rect">
            <a:avLst/>
          </a:prstGeom>
          <a:solidFill>
            <a:srgbClr val="1A1810"/>
          </a:solidFill>
          <a:ln w="12700">
            <a:solidFill>
              <a:srgbClr val="4A4430"/>
            </a:solidFill>
            <a:prstDash val="solid"/>
          </a:ln>
        </p:spPr>
      </p:sp>
      <p:sp>
        <p:nvSpPr>
          <p:cNvPr id="18" name="Shape 16"/>
          <p:cNvSpPr/>
          <p:nvPr/>
        </p:nvSpPr>
        <p:spPr>
          <a:xfrm>
            <a:off x="8524037" y="3611880"/>
            <a:ext cx="2844698" cy="41148"/>
          </a:xfrm>
          <a:prstGeom prst="rect">
            <a:avLst/>
          </a:prstGeom>
          <a:solidFill>
            <a:srgbClr val="FFD733"/>
          </a:solidFill>
          <a:ln/>
        </p:spPr>
      </p:sp>
      <p:sp>
        <p:nvSpPr>
          <p:cNvPr id="19" name="Text 17"/>
          <p:cNvSpPr/>
          <p:nvPr/>
        </p:nvSpPr>
        <p:spPr>
          <a:xfrm>
            <a:off x="8633765" y="3639312"/>
            <a:ext cx="2625242" cy="104241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좋은 프롬프트</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그대로 실행 가능</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22960" y="5029200"/>
            <a:ext cx="10545775"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좋은 프롬프트는 이해의 구체성에서 출발 — Grilling은 그 이해를 빠르게 끌어올리는 수단</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62179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04 · 작동 원리</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490470" y="598932"/>
            <a:ext cx="8878265"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질문은 묶어서 </a:t>
            </a:r>
            <a:r>
              <a:rPr kumimoji="0" lang="en-US" altLang="ko-KR"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답은 추천과 함께 </a:t>
            </a:r>
            <a:r>
              <a:rPr kumimoji="0" lang="en-US" altLang="ko-KR"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합의되면 종합</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783080"/>
            <a:ext cx="3271418" cy="2487168"/>
          </a:xfrm>
          <a:prstGeom prst="rect">
            <a:avLst/>
          </a:prstGeom>
          <a:solidFill>
            <a:srgbClr val="1A1810"/>
          </a:solidFill>
          <a:ln w="12700">
            <a:solidFill>
              <a:srgbClr val="4A4430"/>
            </a:solidFill>
            <a:prstDash val="solid"/>
          </a:ln>
        </p:spPr>
      </p:sp>
      <p:sp>
        <p:nvSpPr>
          <p:cNvPr id="6" name="Text 4"/>
          <p:cNvSpPr/>
          <p:nvPr/>
        </p:nvSpPr>
        <p:spPr>
          <a:xfrm>
            <a:off x="1042416" y="194767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STEP 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42416" y="225856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묶음</a:t>
            </a:r>
            <a:r>
              <a:rPr kumimoji="0" lang="en-US" sz="15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 </a:t>
            </a: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단위 질문</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2416" y="2642616"/>
            <a:ext cx="2832506" cy="1536192"/>
          </a:xfrm>
          <a:prstGeom prst="rect">
            <a:avLst/>
          </a:prstGeom>
          <a:noFill/>
          <a:ln/>
        </p:spPr>
        <p:txBody>
          <a:bodyPr wrap="square" lIns="0" tIns="0" rIns="0" bIns="0" rtlCol="0" anchor="t"/>
          <a:lstStyle/>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질문을 하나씩 주고받지 않고, 지금 답할 수 있는 질문을 한 묶음(라운드)으로 물어봄</a:t>
            </a:r>
            <a:endPar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endParaRPr>
          </a:p>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답에 따라 다음 질문 묶음이 정해짐</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찾을 수 있는 사실은 AI가 직접 확인 — 사용자에게는 결정만 질문</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460138" y="1783080"/>
            <a:ext cx="3271418" cy="2487168"/>
          </a:xfrm>
          <a:prstGeom prst="rect">
            <a:avLst/>
          </a:prstGeom>
          <a:solidFill>
            <a:srgbClr val="1A1810"/>
          </a:solidFill>
          <a:ln w="12700">
            <a:solidFill>
              <a:srgbClr val="4A4430"/>
            </a:solidFill>
            <a:prstDash val="solid"/>
          </a:ln>
        </p:spPr>
      </p:sp>
      <p:sp>
        <p:nvSpPr>
          <p:cNvPr id="10" name="Text 8"/>
          <p:cNvSpPr/>
          <p:nvPr/>
        </p:nvSpPr>
        <p:spPr>
          <a:xfrm>
            <a:off x="4679594" y="194767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STEP 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679594" y="225856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추천답 동반</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679594" y="2642616"/>
            <a:ext cx="2832506" cy="1536192"/>
          </a:xfrm>
          <a:prstGeom prst="rect">
            <a:avLst/>
          </a:prstGeom>
          <a:noFill/>
          <a:ln/>
        </p:spPr>
        <p:txBody>
          <a:bodyPr wrap="square" lIns="0" tIns="0" rIns="0" bIns="0" rtlCol="0" anchor="t"/>
          <a:lstStyle/>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질문마다 추천답 제시</a:t>
            </a:r>
            <a:endPar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endParaRPr>
          </a:p>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'예'라고만 답하면 추천답이 채택되도록 질문을 구성 — 잘 모르는 질문은 '예'로 넘어갈 수 있음</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8097317" y="1783080"/>
            <a:ext cx="3271418" cy="2487168"/>
          </a:xfrm>
          <a:prstGeom prst="rect">
            <a:avLst/>
          </a:prstGeom>
          <a:solidFill>
            <a:srgbClr val="1A1810"/>
          </a:solidFill>
          <a:ln w="12700">
            <a:solidFill>
              <a:srgbClr val="4A4430"/>
            </a:solidFill>
            <a:prstDash val="solid"/>
          </a:ln>
        </p:spPr>
      </p:sp>
      <p:sp>
        <p:nvSpPr>
          <p:cNvPr id="14" name="Text 12"/>
          <p:cNvSpPr/>
          <p:nvPr/>
        </p:nvSpPr>
        <p:spPr>
          <a:xfrm>
            <a:off x="8316773" y="194767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STEP 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8316773" y="225856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합의 후 종합</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316773" y="2642616"/>
            <a:ext cx="2832506" cy="1536192"/>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더 물어볼 질문이 남지 않을 때까지 묶음 질문을 반복. 이해가 일치했다고 사용자가 확인한 뒤 최종안 생성.</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79222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05 · 설치와 사용</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660904" y="598932"/>
            <a:ext cx="8705088"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Skill — 자주 쓰는 작업 지시를 저장해 두고 자동으로 불러 쓰는 기능</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783080"/>
            <a:ext cx="3271418" cy="2103120"/>
          </a:xfrm>
          <a:prstGeom prst="rect">
            <a:avLst/>
          </a:prstGeom>
          <a:solidFill>
            <a:srgbClr val="1A1810"/>
          </a:solidFill>
          <a:ln w="12700">
            <a:solidFill>
              <a:srgbClr val="4A4430"/>
            </a:solidFill>
            <a:prstDash val="solid"/>
          </a:ln>
        </p:spPr>
      </p:sp>
      <p:sp>
        <p:nvSpPr>
          <p:cNvPr id="6" name="Text 4"/>
          <p:cNvSpPr/>
          <p:nvPr/>
        </p:nvSpPr>
        <p:spPr>
          <a:xfrm>
            <a:off x="1042416" y="194767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구성</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42416" y="225856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SKILL.md 파일 하나</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2416" y="2642616"/>
            <a:ext cx="2832506" cy="1097280"/>
          </a:xfrm>
          <a:prstGeom prst="rect">
            <a:avLst/>
          </a:prstGeom>
          <a:noFill/>
          <a:ln/>
        </p:spPr>
        <p:txBody>
          <a:bodyPr wrap="square" lIns="0" tIns="0" rIns="0" bIns="0" rtlCol="0" anchor="t"/>
          <a:lstStyle/>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SKILL.md 파일 하나가 기본 단위 — 참고 파일이 있으면 폴더로 묶음</a:t>
            </a:r>
            <a:endPar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endParaRPr>
          </a:p>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맨 위에 이름·설명, 그 아래에 작업 지시 본문</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460138" y="1783080"/>
            <a:ext cx="3271418" cy="2103120"/>
          </a:xfrm>
          <a:prstGeom prst="rect">
            <a:avLst/>
          </a:prstGeom>
          <a:solidFill>
            <a:srgbClr val="1A1810"/>
          </a:solidFill>
          <a:ln w="12700">
            <a:solidFill>
              <a:srgbClr val="4A4430"/>
            </a:solidFill>
            <a:prstDash val="solid"/>
          </a:ln>
        </p:spPr>
      </p:sp>
      <p:sp>
        <p:nvSpPr>
          <p:cNvPr id="10" name="Text 8"/>
          <p:cNvSpPr/>
          <p:nvPr/>
        </p:nvSpPr>
        <p:spPr>
          <a:xfrm>
            <a:off x="4679594" y="194767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작동 방식</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679594" y="225856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설명과 맞으면 자동 적용</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679594" y="2642616"/>
            <a:ext cx="2832506" cy="1097280"/>
          </a:xfrm>
          <a:prstGeom prst="rect">
            <a:avLst/>
          </a:prstGeom>
          <a:noFill/>
          <a:ln/>
        </p:spPr>
        <p:txBody>
          <a:bodyPr wrap="square" lIns="0" tIns="0" rIns="0" bIns="0" rtlCol="0" anchor="t"/>
          <a:lstStyle/>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평소에는 Claude가 스킬의 이름과 설명만 읽어 둠</a:t>
            </a:r>
            <a:endPar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endParaRPr>
          </a:p>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요청 내용이 설명과 맞으면 본문 전체를 불러와 그대로 따름</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8097317" y="1783080"/>
            <a:ext cx="3271418" cy="2103120"/>
          </a:xfrm>
          <a:prstGeom prst="rect">
            <a:avLst/>
          </a:prstGeom>
          <a:solidFill>
            <a:srgbClr val="1A1810"/>
          </a:solidFill>
          <a:ln w="12700">
            <a:solidFill>
              <a:srgbClr val="4A4430"/>
            </a:solidFill>
            <a:prstDash val="solid"/>
          </a:ln>
        </p:spPr>
      </p:sp>
      <p:sp>
        <p:nvSpPr>
          <p:cNvPr id="14" name="Text 12"/>
          <p:cNvSpPr/>
          <p:nvPr/>
        </p:nvSpPr>
        <p:spPr>
          <a:xfrm>
            <a:off x="8316773" y="194767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활용 범위</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8316773" y="225856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여러 AI 도구에서 같은 형식</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316773" y="2642616"/>
            <a:ext cx="2832506" cy="1097280"/>
          </a:xfrm>
          <a:prstGeom prst="rect">
            <a:avLst/>
          </a:prstGeom>
          <a:noFill/>
          <a:ln/>
        </p:spPr>
        <p:txBody>
          <a:bodyPr wrap="square" lIns="0" tIns="0" rIns="0" bIns="0" rtlCol="0" anchor="t"/>
          <a:lstStyle/>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Anthropic이 Agent Skills라는 공개 표준으로 발표</a:t>
            </a:r>
            <a:endPar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endParaRPr>
          </a:p>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GitHub Copilot(VS Code)·Cursor 등 다른 AI 도구도 같은 형식 지원</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kill Note"/>
          <p:cNvSpPr/>
          <p:nvPr/>
        </p:nvSpPr>
        <p:spPr>
          <a:xfrm>
            <a:off x="822960" y="4206240"/>
            <a:ext cx="10545775"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1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grilling도 이 형식의 스킬 — 설명(description)에 'grill' 표현이 있어 대화 중 “grill” 입력 시 자동 적용</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79387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05 · 설치와 사용</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662555" y="598932"/>
            <a:ext cx="870618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설치</a:t>
            </a: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en-US" sz="25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방법</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822960" y="4965192"/>
            <a:ext cx="69494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다운로드</a:t>
            </a:r>
            <a:r>
              <a:rPr kumimoji="0" lang="en-US" sz="11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100" b="1" i="0" u="none" strike="noStrike" kern="0" cap="none" spc="10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주소</a:t>
            </a:r>
            <a:r>
              <a:rPr kumimoji="0" lang="en-US" sz="11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https://github.com/mattpocock/skills/blob/main/skills/productivity/grilling/SKILL.md</a:t>
            </a:r>
            <a:endParaRPr kumimoji="0" lang="en-US" sz="1100" b="0" i="0" u="none" strike="noStrike" kern="1200" cap="none" spc="0" normalizeH="0" baseline="0" noProof="0" dirty="0">
              <a:ln>
                <a:noFill/>
              </a:ln>
              <a:solidFill>
                <a:srgbClr val="FFD733"/>
              </a:solidFill>
              <a:effectLst/>
              <a:uLnTx/>
              <a:uFillTx/>
              <a:latin typeface="Calibri" panose="020F0502020204030204"/>
              <a:ea typeface="+mn-ea"/>
              <a:cs typeface="+mn-cs"/>
            </a:endParaRPr>
          </a:p>
        </p:txBody>
      </p:sp>
      <p:sp>
        <p:nvSpPr>
          <p:cNvPr id="19" name="Text 17"/>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Inst Box"/>
          <p:cNvSpPr/>
          <p:nvPr/>
        </p:nvSpPr>
        <p:spPr>
          <a:xfrm>
            <a:off x="822960" y="1783080"/>
            <a:ext cx="6949440" cy="3017520"/>
          </a:xfrm>
          <a:prstGeom prst="rect">
            <a:avLst/>
          </a:prstGeom>
          <a:solidFill>
            <a:srgbClr val="1A1810"/>
          </a:solidFill>
          <a:ln w="12700">
            <a:solidFill>
              <a:srgbClr val="4A4430"/>
            </a:solidFill>
            <a:prstDash val="solid"/>
          </a:ln>
        </p:spPr>
      </p:sp>
      <p:sp>
        <p:nvSpPr>
          <p:cNvPr id="21" name="Inst Num0"/>
          <p:cNvSpPr/>
          <p:nvPr/>
        </p:nvSpPr>
        <p:spPr>
          <a:xfrm>
            <a:off x="1060704" y="1783080"/>
            <a:ext cx="50292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Inst Txt0"/>
          <p:cNvSpPr/>
          <p:nvPr/>
        </p:nvSpPr>
        <p:spPr>
          <a:xfrm>
            <a:off x="1563624" y="1783080"/>
            <a:ext cx="5989320" cy="603504"/>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설정 → 기능 → '코드 실행 및 파일 생성'의 '클라우드에서 코드 실행'이 켜져 있는지 확인 (Skills 사용에 필요)</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Inst Num1"/>
          <p:cNvSpPr/>
          <p:nvPr/>
        </p:nvSpPr>
        <p:spPr>
          <a:xfrm>
            <a:off x="1060704" y="2386584"/>
            <a:ext cx="50292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Inst Txt1"/>
          <p:cNvSpPr/>
          <p:nvPr/>
        </p:nvSpPr>
        <p:spPr>
          <a:xfrm>
            <a:off x="1563624" y="2386584"/>
            <a:ext cx="5989320" cy="603504"/>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다운로드 — 배포 강의자료의 SKILL.md 사용, 또는 아래 주소에서 Download raw file(다운로드 아이콘) 클릭</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Inst Line1"/>
          <p:cNvSpPr/>
          <p:nvPr/>
        </p:nvSpPr>
        <p:spPr>
          <a:xfrm>
            <a:off x="1005840" y="2386584"/>
            <a:ext cx="6583680" cy="0"/>
          </a:xfrm>
          <a:prstGeom prst="line">
            <a:avLst/>
          </a:prstGeom>
          <a:noFill/>
          <a:ln w="9525">
            <a:solidFill>
              <a:srgbClr val="4A4430"/>
            </a:solidFill>
            <a:prstDash val="dash"/>
          </a:ln>
        </p:spPr>
      </p:sp>
      <p:sp>
        <p:nvSpPr>
          <p:cNvPr id="26" name="Inst Num2"/>
          <p:cNvSpPr/>
          <p:nvPr/>
        </p:nvSpPr>
        <p:spPr>
          <a:xfrm>
            <a:off x="1060704" y="2990088"/>
            <a:ext cx="50292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Inst Txt2"/>
          <p:cNvSpPr/>
          <p:nvPr/>
        </p:nvSpPr>
        <p:spPr>
          <a:xfrm>
            <a:off x="1563624" y="2990088"/>
            <a:ext cx="5989320" cy="603504"/>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사용자 지정 → Skills → 오른쪽 위 '+ 추가' → 'Skill 업로드'</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Inst Line2"/>
          <p:cNvSpPr/>
          <p:nvPr/>
        </p:nvSpPr>
        <p:spPr>
          <a:xfrm>
            <a:off x="1005840" y="2990088"/>
            <a:ext cx="6583680" cy="0"/>
          </a:xfrm>
          <a:prstGeom prst="line">
            <a:avLst/>
          </a:prstGeom>
          <a:noFill/>
          <a:ln w="9525">
            <a:solidFill>
              <a:srgbClr val="4A4430"/>
            </a:solidFill>
            <a:prstDash val="dash"/>
          </a:ln>
        </p:spPr>
      </p:sp>
      <p:sp>
        <p:nvSpPr>
          <p:cNvPr id="29" name="Inst Num3"/>
          <p:cNvSpPr/>
          <p:nvPr/>
        </p:nvSpPr>
        <p:spPr>
          <a:xfrm>
            <a:off x="1060704" y="3593592"/>
            <a:ext cx="50292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Inst Txt3"/>
          <p:cNvSpPr/>
          <p:nvPr/>
        </p:nvSpPr>
        <p:spPr>
          <a:xfrm>
            <a:off x="1563624" y="3593592"/>
            <a:ext cx="5989320" cy="603504"/>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SKILL.md를 끌어다 놓거나 '찾아보기'로 선택 후 '업로드' — ZIP 압축 없이 .md 파일 그대로 가능하나 </a:t>
            </a:r>
            <a:r>
              <a:rPr kumimoji="0" lang="en-US" altLang="ko-KR"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ZIP </a:t>
            </a: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압축해서 업로드하는 것이 일반적</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Inst Line3"/>
          <p:cNvSpPr/>
          <p:nvPr/>
        </p:nvSpPr>
        <p:spPr>
          <a:xfrm>
            <a:off x="1005840" y="3593592"/>
            <a:ext cx="6583680" cy="0"/>
          </a:xfrm>
          <a:prstGeom prst="line">
            <a:avLst/>
          </a:prstGeom>
          <a:noFill/>
          <a:ln w="9525">
            <a:solidFill>
              <a:srgbClr val="4A4430"/>
            </a:solidFill>
            <a:prstDash val="dash"/>
          </a:ln>
        </p:spPr>
      </p:sp>
      <p:sp>
        <p:nvSpPr>
          <p:cNvPr id="34" name="Inst Line4"/>
          <p:cNvSpPr/>
          <p:nvPr/>
        </p:nvSpPr>
        <p:spPr>
          <a:xfrm>
            <a:off x="1005840" y="4197096"/>
            <a:ext cx="6583680" cy="0"/>
          </a:xfrm>
          <a:prstGeom prst="line">
            <a:avLst/>
          </a:prstGeom>
          <a:noFill/>
          <a:ln w="9525">
            <a:solidFill>
              <a:srgbClr val="4A4430"/>
            </a:solidFill>
            <a:prstDash val="dash"/>
          </a:ln>
        </p:spPr>
      </p:sp>
      <p:pic>
        <p:nvPicPr>
          <p:cNvPr id="36" name="Shot Add Menu" descr="사용자 지정 &gt; Skills 화면의 + 추가 메뉴 (Skill 업로드, Skill 만들기, Claude로 만들기)"/>
          <p:cNvPicPr>
            <a:picLocks noChangeAspect="1"/>
          </p:cNvPicPr>
          <p:nvPr/>
        </p:nvPicPr>
        <p:blipFill>
          <a:blip r:embed="rId3"/>
          <a:stretch>
            <a:fillRect/>
          </a:stretch>
        </p:blipFill>
        <p:spPr>
          <a:xfrm>
            <a:off x="8165592" y="1572768"/>
            <a:ext cx="3200400" cy="1471448"/>
          </a:xfrm>
          <a:prstGeom prst="rect">
            <a:avLst/>
          </a:prstGeom>
          <a:ln w="12700">
            <a:solidFill>
              <a:srgbClr val="4A4430"/>
            </a:solidFill>
          </a:ln>
        </p:spPr>
      </p:pic>
      <p:sp>
        <p:nvSpPr>
          <p:cNvPr id="37" name="Mark add"/>
          <p:cNvSpPr/>
          <p:nvPr/>
        </p:nvSpPr>
        <p:spPr>
          <a:xfrm>
            <a:off x="10409551" y="1911201"/>
            <a:ext cx="728367" cy="286932"/>
          </a:xfrm>
          <a:prstGeom prst="roundRect">
            <a:avLst>
              <a:gd name="adj" fmla="val 18000"/>
            </a:avLst>
          </a:prstGeom>
          <a:noFill/>
          <a:ln w="28575">
            <a:solidFill>
              <a:srgbClr val="E8590C"/>
            </a:solidFill>
          </a:ln>
        </p:spPr>
      </p:sp>
      <p:sp>
        <p:nvSpPr>
          <p:cNvPr id="38" name="Mark 03"/>
          <p:cNvSpPr/>
          <p:nvPr/>
        </p:nvSpPr>
        <p:spPr>
          <a:xfrm>
            <a:off x="9946044" y="2234920"/>
            <a:ext cx="1162444" cy="272218"/>
          </a:xfrm>
          <a:prstGeom prst="roundRect">
            <a:avLst>
              <a:gd name="adj" fmla="val 18000"/>
            </a:avLst>
          </a:prstGeom>
          <a:noFill/>
          <a:ln w="28575">
            <a:solidFill>
              <a:srgbClr val="E8590C"/>
            </a:solidFill>
          </a:ln>
        </p:spPr>
      </p:sp>
      <p:sp>
        <p:nvSpPr>
          <p:cNvPr id="39" name="Badge 03"/>
          <p:cNvSpPr/>
          <p:nvPr/>
        </p:nvSpPr>
        <p:spPr>
          <a:xfrm>
            <a:off x="9571140" y="2215581"/>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03</a:t>
            </a:r>
          </a:p>
        </p:txBody>
      </p:sp>
      <p:pic>
        <p:nvPicPr>
          <p:cNvPr id="40" name="Shot Upload" descr="Skill 업로드 화면: .md 파일 또는 .zip/.skill 파일을 끌어다 놓는 영역과 안내 문구"/>
          <p:cNvPicPr>
            <a:picLocks noChangeAspect="1"/>
          </p:cNvPicPr>
          <p:nvPr/>
        </p:nvPicPr>
        <p:blipFill>
          <a:blip r:embed="rId4"/>
          <a:stretch>
            <a:fillRect/>
          </a:stretch>
        </p:blipFill>
        <p:spPr>
          <a:xfrm>
            <a:off x="8165592" y="3208808"/>
            <a:ext cx="3200400" cy="1795167"/>
          </a:xfrm>
          <a:prstGeom prst="rect">
            <a:avLst/>
          </a:prstGeom>
          <a:ln w="12700">
            <a:solidFill>
              <a:srgbClr val="4A4430"/>
            </a:solidFill>
          </a:ln>
        </p:spPr>
      </p:pic>
      <p:sp>
        <p:nvSpPr>
          <p:cNvPr id="41" name="Mark 04"/>
          <p:cNvSpPr/>
          <p:nvPr/>
        </p:nvSpPr>
        <p:spPr>
          <a:xfrm>
            <a:off x="8312737" y="3444240"/>
            <a:ext cx="2832538" cy="1000585"/>
          </a:xfrm>
          <a:prstGeom prst="roundRect">
            <a:avLst>
              <a:gd name="adj" fmla="val 18000"/>
            </a:avLst>
          </a:prstGeom>
          <a:noFill/>
          <a:ln w="28575">
            <a:solidFill>
              <a:srgbClr val="E8590C"/>
            </a:solidFill>
          </a:ln>
        </p:spPr>
      </p:sp>
      <p:sp>
        <p:nvSpPr>
          <p:cNvPr id="42" name="Badge 04"/>
          <p:cNvSpPr/>
          <p:nvPr/>
        </p:nvSpPr>
        <p:spPr>
          <a:xfrm>
            <a:off x="7937833" y="3789084"/>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62179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 준비</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490470" y="598932"/>
            <a:ext cx="8878265"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실습에 사용할 모델 — Sonnet 기본, Opus는 비교용</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737360"/>
            <a:ext cx="5148072" cy="1481328"/>
          </a:xfrm>
          <a:prstGeom prst="rect">
            <a:avLst/>
          </a:prstGeom>
          <a:solidFill>
            <a:srgbClr val="1A1810"/>
          </a:solidFill>
          <a:ln w="12700">
            <a:solidFill>
              <a:srgbClr val="4A4430"/>
            </a:solidFill>
            <a:prstDash val="solid"/>
          </a:ln>
        </p:spPr>
      </p:sp>
      <p:sp>
        <p:nvSpPr>
          <p:cNvPr id="6" name="Text 4"/>
          <p:cNvSpPr/>
          <p:nvPr/>
        </p:nvSpPr>
        <p:spPr>
          <a:xfrm>
            <a:off x="1042416" y="190195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기본 사용</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42416" y="2212848"/>
            <a:ext cx="4709160"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Sonnet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42416" y="2596896"/>
            <a:ext cx="470916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간단하고 범위가 분명한 작업에 효율적. 빠른 응답과 적은 사용량 — 빠른 실습과 사용량 절약을 위한 기본 선택.</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217920" y="1737360"/>
            <a:ext cx="5148072" cy="1481328"/>
          </a:xfrm>
          <a:prstGeom prst="rect">
            <a:avLst/>
          </a:prstGeom>
          <a:solidFill>
            <a:srgbClr val="1A1810"/>
          </a:solidFill>
          <a:ln w="12700">
            <a:solidFill>
              <a:srgbClr val="4A4430"/>
            </a:solidFill>
            <a:prstDash val="solid"/>
          </a:ln>
        </p:spPr>
      </p:sp>
      <p:sp>
        <p:nvSpPr>
          <p:cNvPr id="10" name="Text 8"/>
          <p:cNvSpPr/>
          <p:nvPr/>
        </p:nvSpPr>
        <p:spPr>
          <a:xfrm>
            <a:off x="6437376" y="190195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비교용</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37376" y="2212848"/>
            <a:ext cx="4709160"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500" b="1"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Opus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37376" y="2596896"/>
            <a:ext cx="470916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복잡하고 판단이 많이 필요한 작업에 강점. 사용 한도를 Sonnet보다 많이 씀 — 결과 차이를 확인하는 비교 용도로만 사용.</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22960" y="3474720"/>
            <a:ext cx="10545775" cy="777240"/>
          </a:xfrm>
          <a:prstGeom prst="rect">
            <a:avLst/>
          </a:prstGeom>
          <a:noFill/>
          <a:ln/>
        </p:spPr>
        <p:txBody>
          <a:bodyPr wrap="square" lIns="0" tIns="0" rIns="0" bIns="0" rtlCol="0" anchor="t"/>
          <a:lstStyle/>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Haiku</a:t>
            </a:r>
            <a:r>
              <a:rPr kumimoji="0" lang="ko-KR" altLang="en-US"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가장 빠르고 저렴한 경량 모델. 요약·분류 같은 대량 단순 작업용 — 이번 실습에서 제외</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Fable</a:t>
            </a:r>
            <a:r>
              <a:rPr kumimoji="0" lang="ko-KR" altLang="en-US"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가장 어려운 과제용 최상위 모델. Max 플랜 등에는 기본 포함, Pro는 별도 사용 크레딧 필요 — 이번 실습에서 제외</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Effort Box"/>
          <p:cNvSpPr/>
          <p:nvPr/>
        </p:nvSpPr>
        <p:spPr>
          <a:xfrm>
            <a:off x="822960" y="4480560"/>
            <a:ext cx="10545775" cy="1719072"/>
          </a:xfrm>
          <a:prstGeom prst="rect">
            <a:avLst/>
          </a:prstGeom>
          <a:solidFill>
            <a:srgbClr val="1A1810"/>
          </a:solidFill>
          <a:ln w="12700">
            <a:solidFill>
              <a:srgbClr val="4A4430"/>
            </a:solidFill>
            <a:prstDash val="solid"/>
          </a:ln>
        </p:spPr>
      </p:sp>
      <p:sp>
        <p:nvSpPr>
          <p:cNvPr id="17" name="Effort Label"/>
          <p:cNvSpPr/>
          <p:nvPr/>
        </p:nvSpPr>
        <p:spPr>
          <a:xfrm>
            <a:off x="1042416" y="4590288"/>
            <a:ext cx="10106863"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모델과 함께 정하는 '노력(Effort)'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Effort Body"/>
          <p:cNvSpPr/>
          <p:nvPr/>
        </p:nvSpPr>
        <p:spPr>
          <a:xfrm>
            <a:off x="1042416" y="4846320"/>
            <a:ext cx="10106863" cy="1243584"/>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답을 내기 위해 얼마나 많이 생각할지 정하는 설정 — 생각의 양과 응답 속도·토큰 사용량 사이의 균형을 맞추는 것</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300"/>
              </a:spcBef>
              <a:spcAft>
                <a:spcPts val="0"/>
              </a:spcAft>
              <a:buClrTx/>
              <a:buSzTx/>
              <a:buFontTx/>
              <a:buNone/>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낮음 · 중간 · 높음 · 엑스트라 · 최대 — 높일수록 깊이 생각해 답이 충실해지는 대신 응답이 느려지고 사용량이 늘어남</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30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모델 선택 — Sonnet으로 시작</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481328"/>
            <a:ext cx="10545775"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빠른 실습 시작과 사용량 절약을 위해 Sonnet을 먼저 선택</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09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tep Box"/>
          <p:cNvSpPr/>
          <p:nvPr/>
        </p:nvSpPr>
        <p:spPr>
          <a:xfrm>
            <a:off x="822960" y="1920240"/>
            <a:ext cx="6263640" cy="2267712"/>
          </a:xfrm>
          <a:prstGeom prst="rect">
            <a:avLst/>
          </a:prstGeom>
          <a:solidFill>
            <a:srgbClr val="1A1810"/>
          </a:solidFill>
          <a:ln w="12700">
            <a:solidFill>
              <a:srgbClr val="4A4430"/>
            </a:solidFill>
            <a:prstDash val="solid"/>
          </a:ln>
        </p:spPr>
      </p:sp>
      <p:sp>
        <p:nvSpPr>
          <p:cNvPr id="11" name="Step Num0"/>
          <p:cNvSpPr/>
          <p:nvPr/>
        </p:nvSpPr>
        <p:spPr>
          <a:xfrm>
            <a:off x="1060704" y="1920240"/>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tep Txt0"/>
          <p:cNvSpPr/>
          <p:nvPr/>
        </p:nvSpPr>
        <p:spPr>
          <a:xfrm>
            <a:off x="1563624" y="1920240"/>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입력창 아래 오른쪽의 모델 이름(지금 선택된 모델·노력 단계) 클릭 → 모델 메뉴 열림</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tep Num1"/>
          <p:cNvSpPr/>
          <p:nvPr/>
        </p:nvSpPr>
        <p:spPr>
          <a:xfrm>
            <a:off x="1060704" y="2487168"/>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tep Txt1"/>
          <p:cNvSpPr/>
          <p:nvPr/>
        </p:nvSpPr>
        <p:spPr>
          <a:xfrm>
            <a:off x="1563624" y="2487168"/>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목록 위쪽에서 Sonnet 5.5 선택</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tep Line1"/>
          <p:cNvSpPr/>
          <p:nvPr/>
        </p:nvSpPr>
        <p:spPr>
          <a:xfrm>
            <a:off x="1005840" y="2487168"/>
            <a:ext cx="5897880" cy="0"/>
          </a:xfrm>
          <a:prstGeom prst="line">
            <a:avLst/>
          </a:prstGeom>
          <a:noFill/>
          <a:ln w="9525">
            <a:solidFill>
              <a:srgbClr val="4A4430"/>
            </a:solidFill>
            <a:prstDash val="dash"/>
          </a:ln>
        </p:spPr>
      </p:sp>
      <p:sp>
        <p:nvSpPr>
          <p:cNvPr id="16" name="Step Num2"/>
          <p:cNvSpPr/>
          <p:nvPr/>
        </p:nvSpPr>
        <p:spPr>
          <a:xfrm>
            <a:off x="1060704" y="3054096"/>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tep Txt2"/>
          <p:cNvSpPr/>
          <p:nvPr/>
        </p:nvSpPr>
        <p:spPr>
          <a:xfrm>
            <a:off x="1563624" y="3054096"/>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'노력'에서 '추천' 표시가 붙은 단계(중간)가 선택됐는지 확인 — 다르면 '중간' 클릭</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tep Line2"/>
          <p:cNvSpPr/>
          <p:nvPr/>
        </p:nvSpPr>
        <p:spPr>
          <a:xfrm>
            <a:off x="1005840" y="3054096"/>
            <a:ext cx="5897880" cy="0"/>
          </a:xfrm>
          <a:prstGeom prst="line">
            <a:avLst/>
          </a:prstGeom>
          <a:noFill/>
          <a:ln w="9525">
            <a:solidFill>
              <a:srgbClr val="4A4430"/>
            </a:solidFill>
            <a:prstDash val="dash"/>
          </a:ln>
        </p:spPr>
      </p:sp>
      <p:sp>
        <p:nvSpPr>
          <p:cNvPr id="19" name="Step Num3"/>
          <p:cNvSpPr/>
          <p:nvPr/>
        </p:nvSpPr>
        <p:spPr>
          <a:xfrm>
            <a:off x="1060704" y="3621024"/>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tep Txt3"/>
          <p:cNvSpPr/>
          <p:nvPr/>
        </p:nvSpPr>
        <p:spPr>
          <a:xfrm>
            <a:off x="1563624" y="3621024"/>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입력창 아래 표시가 'Sonnet 5.5 중간'으로 바뀌었는지 확인</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tep Line3"/>
          <p:cNvSpPr/>
          <p:nvPr/>
        </p:nvSpPr>
        <p:spPr>
          <a:xfrm>
            <a:off x="1005840" y="3621024"/>
            <a:ext cx="5897880" cy="0"/>
          </a:xfrm>
          <a:prstGeom prst="line">
            <a:avLst/>
          </a:prstGeom>
          <a:noFill/>
          <a:ln w="9525">
            <a:solidFill>
              <a:srgbClr val="4A4430"/>
            </a:solidFill>
            <a:prstDash val="dash"/>
          </a:ln>
        </p:spPr>
      </p:sp>
      <p:pic>
        <p:nvPicPr>
          <p:cNvPr id="22" name="Shot Strip" descr="메시지 입력창 아래 오른쪽에 표시된 모델 이름과 노력 단계 버튼"/>
          <p:cNvPicPr>
            <a:picLocks noChangeAspect="1"/>
          </p:cNvPicPr>
          <p:nvPr/>
        </p:nvPicPr>
        <p:blipFill>
          <a:blip r:embed="rId3"/>
          <a:stretch>
            <a:fillRect/>
          </a:stretch>
        </p:blipFill>
        <p:spPr>
          <a:xfrm>
            <a:off x="822960" y="4389120"/>
            <a:ext cx="4572000" cy="1481959"/>
          </a:xfrm>
          <a:prstGeom prst="rect">
            <a:avLst/>
          </a:prstGeom>
          <a:ln w="12700">
            <a:solidFill>
              <a:srgbClr val="4A4430"/>
            </a:solidFill>
          </a:ln>
        </p:spPr>
      </p:pic>
      <p:sp>
        <p:nvSpPr>
          <p:cNvPr id="23" name="Mark 01"/>
          <p:cNvSpPr/>
          <p:nvPr/>
        </p:nvSpPr>
        <p:spPr>
          <a:xfrm>
            <a:off x="3534629" y="5482196"/>
            <a:ext cx="1219200" cy="357352"/>
          </a:xfrm>
          <a:prstGeom prst="roundRect">
            <a:avLst>
              <a:gd name="adj" fmla="val 18000"/>
            </a:avLst>
          </a:prstGeom>
          <a:noFill/>
          <a:ln w="28575">
            <a:solidFill>
              <a:srgbClr val="E8590C"/>
            </a:solidFill>
          </a:ln>
        </p:spPr>
      </p:sp>
      <p:sp>
        <p:nvSpPr>
          <p:cNvPr id="24" name="Badge 01"/>
          <p:cNvSpPr/>
          <p:nvPr/>
        </p:nvSpPr>
        <p:spPr>
          <a:xfrm>
            <a:off x="3159725" y="5505424"/>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01</a:t>
            </a:r>
          </a:p>
        </p:txBody>
      </p:sp>
      <p:pic>
        <p:nvPicPr>
          <p:cNvPr id="25" name="Shot Menu" descr="모델 메뉴: 모델 목록과 노력 단계(낮음·중간·높음·엑스트라·최대), 중간에 추천 표시"/>
          <p:cNvPicPr>
            <a:picLocks noChangeAspect="1"/>
          </p:cNvPicPr>
          <p:nvPr/>
        </p:nvPicPr>
        <p:blipFill>
          <a:blip r:embed="rId4"/>
          <a:stretch>
            <a:fillRect/>
          </a:stretch>
        </p:blipFill>
        <p:spPr>
          <a:xfrm>
            <a:off x="7980140" y="1920240"/>
            <a:ext cx="2812352" cy="4343400"/>
          </a:xfrm>
          <a:prstGeom prst="rect">
            <a:avLst/>
          </a:prstGeom>
          <a:ln w="12700">
            <a:solidFill>
              <a:srgbClr val="4A4430"/>
            </a:solidFill>
          </a:ln>
        </p:spPr>
      </p:pic>
      <p:sp>
        <p:nvSpPr>
          <p:cNvPr id="26" name="Mark 02"/>
          <p:cNvSpPr/>
          <p:nvPr/>
        </p:nvSpPr>
        <p:spPr>
          <a:xfrm>
            <a:off x="8045291" y="3038666"/>
            <a:ext cx="2649474" cy="532066"/>
          </a:xfrm>
          <a:prstGeom prst="roundRect">
            <a:avLst>
              <a:gd name="adj" fmla="val 18000"/>
            </a:avLst>
          </a:prstGeom>
          <a:noFill/>
          <a:ln w="28575">
            <a:solidFill>
              <a:srgbClr val="E8590C"/>
            </a:solidFill>
          </a:ln>
        </p:spPr>
      </p:sp>
      <p:sp>
        <p:nvSpPr>
          <p:cNvPr id="27" name="Badge 02"/>
          <p:cNvSpPr/>
          <p:nvPr/>
        </p:nvSpPr>
        <p:spPr>
          <a:xfrm>
            <a:off x="7670387" y="3149251"/>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02</a:t>
            </a:r>
          </a:p>
        </p:txBody>
      </p:sp>
      <p:sp>
        <p:nvSpPr>
          <p:cNvPr id="28" name="Mark 03"/>
          <p:cNvSpPr/>
          <p:nvPr/>
        </p:nvSpPr>
        <p:spPr>
          <a:xfrm>
            <a:off x="8045291" y="4808601"/>
            <a:ext cx="2649474" cy="412623"/>
          </a:xfrm>
          <a:prstGeom prst="roundRect">
            <a:avLst>
              <a:gd name="adj" fmla="val 18000"/>
            </a:avLst>
          </a:prstGeom>
          <a:noFill/>
          <a:ln w="28575">
            <a:solidFill>
              <a:srgbClr val="E8590C"/>
            </a:solidFill>
          </a:ln>
        </p:spPr>
      </p:sp>
      <p:sp>
        <p:nvSpPr>
          <p:cNvPr id="29" name="Badge 03"/>
          <p:cNvSpPr/>
          <p:nvPr/>
        </p:nvSpPr>
        <p:spPr>
          <a:xfrm>
            <a:off x="7670387" y="4859464"/>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03</a:t>
            </a:r>
          </a:p>
        </p:txBody>
      </p:sp>
      <p:sp>
        <p:nvSpPr>
          <p:cNvPr id="30" name="Model Note"/>
          <p:cNvSpPr/>
          <p:nvPr/>
        </p:nvSpPr>
        <p:spPr>
          <a:xfrm>
            <a:off x="822960" y="5962519"/>
            <a:ext cx="6263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모델을 바꾸면 노력이 '추천'이 아닌 단계로 선택돼 있을 수 있음 — 바꿀 때마다 확인. Fable 5.1이 선택된 채로 보내지 않기 (Pro 플랜은 사용 크레딧 차감)</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1038840"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2300" b="1" i="0" u="none" strike="noStrike" kern="1200" cap="none" spc="0" normalizeH="0" baseline="0" noProof="0">
                <a:ln>
                  <a:noFill/>
                </a:ln>
                <a:solidFill>
                  <a:srgbClr val="FFDF57"/>
                </a:solidFill>
                <a:effectLst/>
                <a:uLnTx/>
                <a:uFillTx/>
                <a:latin typeface="Malgun Gothic" pitchFamily="34" charset="0"/>
                <a:ea typeface="Malgun Gothic" pitchFamily="34" charset="-122"/>
                <a:cs typeface="Malgun Gothic" pitchFamily="34" charset="-120"/>
              </a:rPr>
              <a:t>KISTI가 도입한 슈퍼컴퓨터 홍보 보도자료 작성 — grill 유무 비교</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481328"/>
            <a:ext cx="10545775"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아래 두 프롬프트를 각각 새 대화('새로 만들기')에서 시작해 대화를 이어가며 비교</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822960" y="1965960"/>
            <a:ext cx="10545775" cy="960120"/>
          </a:xfrm>
          <a:prstGeom prst="rect">
            <a:avLst/>
          </a:prstGeom>
          <a:solidFill>
            <a:srgbClr val="1A1810"/>
          </a:solidFill>
          <a:ln w="12700">
            <a:solidFill>
              <a:srgbClr val="4A4430"/>
            </a:solidFill>
            <a:prstDash val="solid"/>
          </a:ln>
        </p:spPr>
      </p:sp>
      <p:sp>
        <p:nvSpPr>
          <p:cNvPr id="7" name="Shape 5"/>
          <p:cNvSpPr/>
          <p:nvPr/>
        </p:nvSpPr>
        <p:spPr>
          <a:xfrm>
            <a:off x="822960" y="1965960"/>
            <a:ext cx="50292" cy="960120"/>
          </a:xfrm>
          <a:prstGeom prst="rect">
            <a:avLst/>
          </a:prstGeom>
          <a:solidFill>
            <a:srgbClr val="FFD733"/>
          </a:solidFill>
          <a:ln/>
        </p:spPr>
      </p:sp>
      <p:sp>
        <p:nvSpPr>
          <p:cNvPr id="8" name="Text 6"/>
          <p:cNvSpPr/>
          <p:nvPr/>
        </p:nvSpPr>
        <p:spPr>
          <a:xfrm>
            <a:off x="1097280" y="209397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시작 프롬프트 A · GRILL 없이</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97280" y="2386584"/>
            <a:ext cx="9997135" cy="411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ko-KR" altLang="en-US" sz="125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KISTI가 새 슈퍼컴퓨터를 도입했어. 보도자료 어떻게 써?</a:t>
            </a:r>
            <a:endParaRPr kumimoji="0" lang="en-US" sz="1250" b="1" i="0" u="none" strike="noStrike" kern="1200" cap="none" spc="0" normalizeH="0" baseline="0" noProof="0" dirty="0">
              <a:ln>
                <a:noFill/>
              </a:ln>
              <a:solidFill>
                <a:srgbClr val="FFD733"/>
              </a:solidFill>
              <a:effectLst/>
              <a:uLnTx/>
              <a:uFillTx/>
              <a:latin typeface="Calibri" panose="020F0502020204030204"/>
              <a:ea typeface="+mn-ea"/>
              <a:cs typeface="+mn-cs"/>
            </a:endParaRPr>
          </a:p>
        </p:txBody>
      </p:sp>
      <p:sp>
        <p:nvSpPr>
          <p:cNvPr id="10" name="Shape 8"/>
          <p:cNvSpPr/>
          <p:nvPr/>
        </p:nvSpPr>
        <p:spPr>
          <a:xfrm>
            <a:off x="822960" y="3108960"/>
            <a:ext cx="10545775" cy="960120"/>
          </a:xfrm>
          <a:prstGeom prst="rect">
            <a:avLst/>
          </a:prstGeom>
          <a:solidFill>
            <a:srgbClr val="1A1810"/>
          </a:solidFill>
          <a:ln w="12700">
            <a:solidFill>
              <a:srgbClr val="4A4430"/>
            </a:solidFill>
            <a:prstDash val="solid"/>
          </a:ln>
        </p:spPr>
      </p:sp>
      <p:sp>
        <p:nvSpPr>
          <p:cNvPr id="11" name="Shape 9"/>
          <p:cNvSpPr/>
          <p:nvPr/>
        </p:nvSpPr>
        <p:spPr>
          <a:xfrm>
            <a:off x="822960" y="3108960"/>
            <a:ext cx="50292" cy="960120"/>
          </a:xfrm>
          <a:prstGeom prst="rect">
            <a:avLst/>
          </a:prstGeom>
          <a:solidFill>
            <a:srgbClr val="FFD733"/>
          </a:solidFill>
          <a:ln/>
        </p:spPr>
      </p:sp>
      <p:sp>
        <p:nvSpPr>
          <p:cNvPr id="12" name="Text 10"/>
          <p:cNvSpPr/>
          <p:nvPr/>
        </p:nvSpPr>
        <p:spPr>
          <a:xfrm>
            <a:off x="1097280" y="323697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시작 프롬프트 B · 끝에 grill 추가</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097280" y="3529584"/>
            <a:ext cx="9997135" cy="411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ko-KR" altLang="en-US" sz="125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KISTI가 새 슈퍼컴퓨터를 도입했어. 보도자료 어떻게 써? grill</a:t>
            </a:r>
            <a:endParaRPr kumimoji="0" lang="en-US" altLang="ko-KR" sz="1250" b="1" i="0" u="none" strike="noStrike" kern="1200" cap="none" spc="0" normalizeH="0" baseline="0" noProof="0" dirty="0">
              <a:ln>
                <a:noFill/>
              </a:ln>
              <a:solidFill>
                <a:srgbClr val="FFD733"/>
              </a:solidFill>
              <a:effectLst/>
              <a:uLnTx/>
              <a:uFillTx/>
              <a:latin typeface="Calibri" panose="020F0502020204030204"/>
              <a:ea typeface="맑은 고딕" panose="020B0503020000020004" pitchFamily="50" charset="-127"/>
              <a:cs typeface="+mn-cs"/>
            </a:endParaRPr>
          </a:p>
        </p:txBody>
      </p:sp>
      <p:sp>
        <p:nvSpPr>
          <p:cNvPr id="14" name="Shape 12"/>
          <p:cNvSpPr/>
          <p:nvPr/>
        </p:nvSpPr>
        <p:spPr>
          <a:xfrm>
            <a:off x="822960" y="4434840"/>
            <a:ext cx="5148072" cy="1143000"/>
          </a:xfrm>
          <a:prstGeom prst="rect">
            <a:avLst/>
          </a:prstGeom>
          <a:solidFill>
            <a:srgbClr val="1A1810"/>
          </a:solidFill>
          <a:ln w="12700">
            <a:solidFill>
              <a:srgbClr val="4A4430"/>
            </a:solidFill>
            <a:prstDash val="solid"/>
          </a:ln>
        </p:spPr>
      </p:sp>
      <p:sp>
        <p:nvSpPr>
          <p:cNvPr id="15" name="Text 13"/>
          <p:cNvSpPr/>
          <p:nvPr/>
        </p:nvSpPr>
        <p:spPr>
          <a:xfrm>
            <a:off x="1042416" y="459943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A의 예상 흐름</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042416" y="4910328"/>
            <a:ext cx="4709160" cy="54864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작성법 일반론 설명 · 필요한 정보는 목록으로만 요청</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217920" y="4434840"/>
            <a:ext cx="5148072" cy="1143000"/>
          </a:xfrm>
          <a:prstGeom prst="rect">
            <a:avLst/>
          </a:prstGeom>
          <a:solidFill>
            <a:srgbClr val="1A1810"/>
          </a:solidFill>
          <a:ln w="12700">
            <a:solidFill>
              <a:srgbClr val="4A4430"/>
            </a:solidFill>
            <a:prstDash val="solid"/>
          </a:ln>
        </p:spPr>
      </p:sp>
      <p:sp>
        <p:nvSpPr>
          <p:cNvPr id="18" name="Text 16"/>
          <p:cNvSpPr/>
          <p:nvPr/>
        </p:nvSpPr>
        <p:spPr>
          <a:xfrm>
            <a:off x="6437376" y="459943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B의 예상 흐름</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437376" y="4910328"/>
            <a:ext cx="4709160" cy="54864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사실은 웹 검색으로 확인 · 결정은 묶음 질문과 추천답으로 확인</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모델을 Opus로 변경 — 응답 차이 확인</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481328"/>
            <a:ext cx="10545775"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같은 프롬프트를 Opus로 실행했을 때 어떻게 다른지 확인</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tep Box"/>
          <p:cNvSpPr/>
          <p:nvPr/>
        </p:nvSpPr>
        <p:spPr>
          <a:xfrm>
            <a:off x="822960" y="1920240"/>
            <a:ext cx="6263640" cy="2267712"/>
          </a:xfrm>
          <a:prstGeom prst="rect">
            <a:avLst/>
          </a:prstGeom>
          <a:solidFill>
            <a:srgbClr val="1A1810"/>
          </a:solidFill>
          <a:ln w="12700">
            <a:solidFill>
              <a:srgbClr val="4A4430"/>
            </a:solidFill>
            <a:prstDash val="solid"/>
          </a:ln>
        </p:spPr>
      </p:sp>
      <p:sp>
        <p:nvSpPr>
          <p:cNvPr id="11" name="Step Num0"/>
          <p:cNvSpPr/>
          <p:nvPr/>
        </p:nvSpPr>
        <p:spPr>
          <a:xfrm>
            <a:off x="1060704" y="1920240"/>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tep Txt0"/>
          <p:cNvSpPr/>
          <p:nvPr/>
        </p:nvSpPr>
        <p:spPr>
          <a:xfrm>
            <a:off x="1563624" y="1920240"/>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사이드바의 '새로 만들기'로 새 대화를 열고 입력창 아래 모델 이름 클릭</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tep Num1"/>
          <p:cNvSpPr/>
          <p:nvPr/>
        </p:nvSpPr>
        <p:spPr>
          <a:xfrm>
            <a:off x="1060704" y="2487168"/>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tep Txt1"/>
          <p:cNvSpPr/>
          <p:nvPr/>
        </p:nvSpPr>
        <p:spPr>
          <a:xfrm>
            <a:off x="1563624" y="2487168"/>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목록에서 Opus 5.5 선택</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tep Line1"/>
          <p:cNvSpPr/>
          <p:nvPr/>
        </p:nvSpPr>
        <p:spPr>
          <a:xfrm>
            <a:off x="1005840" y="2487168"/>
            <a:ext cx="5897880" cy="0"/>
          </a:xfrm>
          <a:prstGeom prst="line">
            <a:avLst/>
          </a:prstGeom>
          <a:noFill/>
          <a:ln w="9525">
            <a:solidFill>
              <a:srgbClr val="4A4430"/>
            </a:solidFill>
            <a:prstDash val="dash"/>
          </a:ln>
        </p:spPr>
      </p:sp>
      <p:sp>
        <p:nvSpPr>
          <p:cNvPr id="16" name="Step Num2"/>
          <p:cNvSpPr/>
          <p:nvPr/>
        </p:nvSpPr>
        <p:spPr>
          <a:xfrm>
            <a:off x="1060704" y="3054096"/>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tep Txt2"/>
          <p:cNvSpPr/>
          <p:nvPr/>
        </p:nvSpPr>
        <p:spPr>
          <a:xfrm>
            <a:off x="1563624" y="3054096"/>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'노력'이 '추천' 단계(중간)인지 확인 — 엑스트라 등 다른 단계면 '중간' 클릭</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tep Line2"/>
          <p:cNvSpPr/>
          <p:nvPr/>
        </p:nvSpPr>
        <p:spPr>
          <a:xfrm>
            <a:off x="1005840" y="3054096"/>
            <a:ext cx="5897880" cy="0"/>
          </a:xfrm>
          <a:prstGeom prst="line">
            <a:avLst/>
          </a:prstGeom>
          <a:noFill/>
          <a:ln w="9525">
            <a:solidFill>
              <a:srgbClr val="4A4430"/>
            </a:solidFill>
            <a:prstDash val="dash"/>
          </a:ln>
        </p:spPr>
      </p:sp>
      <p:sp>
        <p:nvSpPr>
          <p:cNvPr id="19" name="Step Num3"/>
          <p:cNvSpPr/>
          <p:nvPr/>
        </p:nvSpPr>
        <p:spPr>
          <a:xfrm>
            <a:off x="1060704" y="3621024"/>
            <a:ext cx="5029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tep Txt3"/>
          <p:cNvSpPr/>
          <p:nvPr/>
        </p:nvSpPr>
        <p:spPr>
          <a:xfrm>
            <a:off x="1563624" y="3621024"/>
            <a:ext cx="5303520" cy="566928"/>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시작 프롬프트 B(grill 포함) 입력 후 Sonnet 결과와 비교 — 첫 라운드 질문의 수·깊이, 추천답의 구체성</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tep Line3"/>
          <p:cNvSpPr/>
          <p:nvPr/>
        </p:nvSpPr>
        <p:spPr>
          <a:xfrm>
            <a:off x="1005840" y="3621024"/>
            <a:ext cx="5897880" cy="0"/>
          </a:xfrm>
          <a:prstGeom prst="line">
            <a:avLst/>
          </a:prstGeom>
          <a:noFill/>
          <a:ln w="9525">
            <a:solidFill>
              <a:srgbClr val="4A4430"/>
            </a:solidFill>
            <a:prstDash val="dash"/>
          </a:ln>
        </p:spPr>
      </p:sp>
      <p:pic>
        <p:nvPicPr>
          <p:cNvPr id="22" name="Shot Strip" descr="메시지 입력창 아래 오른쪽에 표시된 모델 이름과 노력 단계 버튼"/>
          <p:cNvPicPr>
            <a:picLocks noChangeAspect="1"/>
          </p:cNvPicPr>
          <p:nvPr/>
        </p:nvPicPr>
        <p:blipFill>
          <a:blip r:embed="rId3"/>
          <a:stretch>
            <a:fillRect/>
          </a:stretch>
        </p:blipFill>
        <p:spPr>
          <a:xfrm>
            <a:off x="822960" y="4389120"/>
            <a:ext cx="4572000" cy="1481959"/>
          </a:xfrm>
          <a:prstGeom prst="rect">
            <a:avLst/>
          </a:prstGeom>
          <a:ln w="12700">
            <a:solidFill>
              <a:srgbClr val="4A4430"/>
            </a:solidFill>
          </a:ln>
        </p:spPr>
      </p:pic>
      <p:sp>
        <p:nvSpPr>
          <p:cNvPr id="23" name="Mark 01"/>
          <p:cNvSpPr/>
          <p:nvPr/>
        </p:nvSpPr>
        <p:spPr>
          <a:xfrm>
            <a:off x="3660753" y="5482196"/>
            <a:ext cx="1093076" cy="357352"/>
          </a:xfrm>
          <a:prstGeom prst="roundRect">
            <a:avLst>
              <a:gd name="adj" fmla="val 18000"/>
            </a:avLst>
          </a:prstGeom>
          <a:noFill/>
          <a:ln w="28575">
            <a:solidFill>
              <a:srgbClr val="E8590C"/>
            </a:solidFill>
          </a:ln>
        </p:spPr>
      </p:sp>
      <p:sp>
        <p:nvSpPr>
          <p:cNvPr id="24" name="Badge 01"/>
          <p:cNvSpPr/>
          <p:nvPr/>
        </p:nvSpPr>
        <p:spPr>
          <a:xfrm>
            <a:off x="3285849" y="5505424"/>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01</a:t>
            </a:r>
          </a:p>
        </p:txBody>
      </p:sp>
      <p:pic>
        <p:nvPicPr>
          <p:cNvPr id="25" name="Shot Menu" descr="모델 메뉴: 모델 목록과 노력 단계(낮음·중간·높음·엑스트라·최대), 중간에 추천 표시"/>
          <p:cNvPicPr>
            <a:picLocks noChangeAspect="1"/>
          </p:cNvPicPr>
          <p:nvPr/>
        </p:nvPicPr>
        <p:blipFill>
          <a:blip r:embed="rId4"/>
          <a:stretch>
            <a:fillRect/>
          </a:stretch>
        </p:blipFill>
        <p:spPr>
          <a:xfrm>
            <a:off x="7980140" y="1920240"/>
            <a:ext cx="2812352" cy="4343400"/>
          </a:xfrm>
          <a:prstGeom prst="rect">
            <a:avLst/>
          </a:prstGeom>
          <a:ln w="12700">
            <a:solidFill>
              <a:srgbClr val="4A4430"/>
            </a:solidFill>
          </a:ln>
        </p:spPr>
      </p:pic>
      <p:sp>
        <p:nvSpPr>
          <p:cNvPr id="26" name="Mark 02"/>
          <p:cNvSpPr/>
          <p:nvPr/>
        </p:nvSpPr>
        <p:spPr>
          <a:xfrm>
            <a:off x="8045291" y="2495740"/>
            <a:ext cx="2649474" cy="532066"/>
          </a:xfrm>
          <a:prstGeom prst="roundRect">
            <a:avLst>
              <a:gd name="adj" fmla="val 18000"/>
            </a:avLst>
          </a:prstGeom>
          <a:noFill/>
          <a:ln w="28575">
            <a:solidFill>
              <a:srgbClr val="E8590C"/>
            </a:solidFill>
          </a:ln>
        </p:spPr>
      </p:sp>
      <p:sp>
        <p:nvSpPr>
          <p:cNvPr id="27" name="Badge 02"/>
          <p:cNvSpPr/>
          <p:nvPr/>
        </p:nvSpPr>
        <p:spPr>
          <a:xfrm>
            <a:off x="7670387" y="2606326"/>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02</a:t>
            </a:r>
          </a:p>
        </p:txBody>
      </p:sp>
      <p:sp>
        <p:nvSpPr>
          <p:cNvPr id="28" name="Mark 03"/>
          <p:cNvSpPr/>
          <p:nvPr/>
        </p:nvSpPr>
        <p:spPr>
          <a:xfrm>
            <a:off x="8045291" y="4808601"/>
            <a:ext cx="2649474" cy="412623"/>
          </a:xfrm>
          <a:prstGeom prst="roundRect">
            <a:avLst>
              <a:gd name="adj" fmla="val 18000"/>
            </a:avLst>
          </a:prstGeom>
          <a:noFill/>
          <a:ln w="28575">
            <a:solidFill>
              <a:srgbClr val="E8590C"/>
            </a:solidFill>
          </a:ln>
        </p:spPr>
      </p:sp>
      <p:sp>
        <p:nvSpPr>
          <p:cNvPr id="29" name="Badge 03"/>
          <p:cNvSpPr/>
          <p:nvPr/>
        </p:nvSpPr>
        <p:spPr>
          <a:xfrm>
            <a:off x="7670387" y="4859464"/>
            <a:ext cx="310896" cy="310896"/>
          </a:xfrm>
          <a:prstGeom prst="ellipse">
            <a:avLst/>
          </a:prstGeom>
          <a:solidFill>
            <a:srgbClr val="FFD733"/>
          </a:solidFill>
          <a:ln w="9525">
            <a:solidFill>
              <a:srgbClr val="0D0D0A"/>
            </a:solidFill>
          </a:ln>
        </p:spPr>
        <p:txBody>
          <a:bodyPr wrap="none" lIns="0" tIns="0" rIns="0" bIns="0" anchor="ctr"/>
          <a:lstStyle/>
          <a:p>
            <a:pPr algn="ctr"/>
            <a:r>
              <a:rPr lang="en-US" sz="900" b="1">
                <a:solidFill>
                  <a:srgbClr val="0D0D0A"/>
                </a:solidFill>
                <a:latin typeface="Malgun Gothic"/>
                <a:ea typeface="Malgun Gothic"/>
              </a:rPr>
              <a:t>03</a:t>
            </a:r>
          </a:p>
        </p:txBody>
      </p:sp>
      <p:sp>
        <p:nvSpPr>
          <p:cNvPr id="30" name="Model Note"/>
          <p:cNvSpPr/>
          <p:nvPr/>
        </p:nvSpPr>
        <p:spPr>
          <a:xfrm>
            <a:off x="822960" y="5962519"/>
            <a:ext cx="6263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Opus는 Sonnet보다 사용 한도를 많이 씀 (Claude Academy 안내) — 비교 후에는 Sonnet 5.5로 진행한 B 대화로 돌아가 이어서 진행</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62179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 결과</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490470" y="598932"/>
            <a:ext cx="8878265"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같은 한 줄 </a:t>
            </a:r>
            <a:r>
              <a:rPr kumimoji="0" lang="en-US" sz="25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요청</a:t>
            </a: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이지만</a:t>
            </a: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grill </a:t>
            </a:r>
            <a:r>
              <a:rPr kumimoji="0" lang="en-US" sz="25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유무가</a:t>
            </a: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en-US" sz="2500" b="1" i="0" u="none" strike="noStrike" kern="1200" cap="none" spc="0" normalizeH="0" baseline="0" noProof="0" dirty="0" err="1">
                <a:ln>
                  <a:noFill/>
                </a:ln>
                <a:solidFill>
                  <a:srgbClr val="FFDF57"/>
                </a:solidFill>
                <a:effectLst/>
                <a:uLnTx/>
                <a:uFillTx/>
                <a:latin typeface="Malgun Gothic" pitchFamily="34" charset="0"/>
                <a:ea typeface="Malgun Gothic" pitchFamily="34" charset="-122"/>
                <a:cs typeface="Malgun Gothic" pitchFamily="34" charset="-120"/>
              </a:rPr>
              <a:t>결과</a:t>
            </a: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퀄리티에 큰 영향</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783080"/>
            <a:ext cx="5148072" cy="3566160"/>
          </a:xfrm>
          <a:prstGeom prst="rect">
            <a:avLst/>
          </a:prstGeom>
          <a:solidFill>
            <a:srgbClr val="1A1810"/>
          </a:solidFill>
          <a:ln w="12700">
            <a:solidFill>
              <a:srgbClr val="4A4430"/>
            </a:solidFill>
            <a:prstDash val="solid"/>
          </a:ln>
        </p:spPr>
      </p:sp>
      <p:sp>
        <p:nvSpPr>
          <p:cNvPr id="6" name="Text 4"/>
          <p:cNvSpPr/>
          <p:nvPr/>
        </p:nvSpPr>
        <p:spPr>
          <a:xfrm>
            <a:off x="1042416" y="194767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GRILL 없이</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42416" y="2350008"/>
            <a:ext cx="4709160" cy="2834640"/>
          </a:xfrm>
          <a:prstGeom prst="rect">
            <a:avLst/>
          </a:prstGeom>
          <a:noFill/>
          <a:ln/>
        </p:spPr>
        <p:txBody>
          <a:bodyPr wrap="square" lIns="0" tIns="0" rIns="0" bIns="0" rtlCol="0" anchor="t"/>
          <a:lstStyle/>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보도자료 작성법(제목·리드문·본문 구성·인용문) 일반론 위주 답변</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공개된 사실은 찾지 않음 — 제목 예시에 '6호기', '연산 성능 OO배'처럼 추측과 빈칸만 남김</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시스템 사양·활용 계획·원장 코멘트 방향을 알려 달라고 요청 — 추천답 없이 사용자가 모두 채워야 함</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배포 주체·발표 단계·핵심 메시지 같은 결정은 묻지 않음</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217920" y="1783080"/>
            <a:ext cx="5148072" cy="3566160"/>
          </a:xfrm>
          <a:prstGeom prst="rect">
            <a:avLst/>
          </a:prstGeom>
          <a:solidFill>
            <a:srgbClr val="1A1810"/>
          </a:solidFill>
          <a:ln w="12700">
            <a:solidFill>
              <a:srgbClr val="4A4430"/>
            </a:solidFill>
            <a:prstDash val="solid"/>
          </a:ln>
        </p:spPr>
      </p:sp>
      <p:sp>
        <p:nvSpPr>
          <p:cNvPr id="9" name="Text 7"/>
          <p:cNvSpPr/>
          <p:nvPr/>
        </p:nvSpPr>
        <p:spPr>
          <a:xfrm>
            <a:off x="6437376" y="1947672"/>
            <a:ext cx="47091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GRILL 켜고</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6437376" y="2350008"/>
            <a:ext cx="4709160" cy="2834640"/>
          </a:xfrm>
          <a:prstGeom prst="rect">
            <a:avLst/>
          </a:prstGeom>
          <a:noFill/>
          <a:ln/>
        </p:spPr>
        <p:txBody>
          <a:bodyPr wrap="square" lIns="0" tIns="0" rIns="0" bIns="0" rtlCol="0" anchor="t"/>
          <a:lstStyle/>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먼저 웹 검색으로 공개 사실 확인 — 6호기 이름('한강')·구축사·목표 성능 등을 출처와 함께 정리</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배포 주체·발표 단계·핵심 메시지·성능 표기 기준·주 독자·인용문 6개를 첫 라운드에 묶어서 질문, 각각 추천답 제시</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“Q1 예, Q2 시범 운영”처럼 짧게 답해도 된다고 안내</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답하면 다음 라운드(엠바고·5호기 퇴역 계획·이용 신청·문서 형식)로 넘어가겠다고 안내 — 확정 전에는 초안을 쓰지 않음</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sult Note"/>
          <p:cNvSpPr/>
          <p:nvPr/>
        </p:nvSpPr>
        <p:spPr>
          <a:xfrm>
            <a:off x="822960" y="5468112"/>
            <a:ext cx="105430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2026. 10. 25. Sonnet 5.5(노력: 중간)로 첫 응답까지 실행한 결과 기준 — 모델과 시점에 따라 응답은 달라질 수 있음</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grill로 찾아온 사실도 검증 필요 — B가 쓴 'GPU 8,694장'은 보도(8,496장·8,500여 장)와 다름. 출처가 붙어도 확인은 사용자 몫</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최종안을 먼저 받고 싶을 때</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783080"/>
            <a:ext cx="10545775" cy="1097280"/>
          </a:xfrm>
          <a:prstGeom prst="rect">
            <a:avLst/>
          </a:prstGeom>
          <a:noFill/>
          <a:ln/>
        </p:spPr>
        <p:txBody>
          <a:bodyPr wrap="square" lIns="0" tIns="0" rIns="0" bIns="0" rtlCol="0" anchor="t"/>
          <a:lstStyle/>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더 물어볼 질문이 남지 않으면 Grilling이 이해가 일치하는지 확인한 뒤 최종안 작성을 제안</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03200" marR="0" lvl="0" indent="-203200" algn="l" defTabSz="914400" rtl="0" eaLnBrk="1" fontAlgn="auto" latinLnBrk="0" hangingPunct="1">
              <a:lnSpc>
                <a:spcPct val="130000"/>
              </a:lnSpc>
              <a:spcBef>
                <a:spcPts val="0"/>
              </a:spcBef>
              <a:spcAft>
                <a:spcPts val="1000"/>
              </a:spcAft>
              <a:buClrTx/>
              <a:buSzPct val="100000"/>
              <a:buFontTx/>
              <a:buChar char="▪"/>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그 전에 최종안을 받고 싶으면 아래 프롬프트 입력</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822960" y="3017520"/>
            <a:ext cx="10545775" cy="960120"/>
          </a:xfrm>
          <a:prstGeom prst="rect">
            <a:avLst/>
          </a:prstGeom>
          <a:solidFill>
            <a:srgbClr val="1A1810"/>
          </a:solidFill>
          <a:ln w="12700">
            <a:solidFill>
              <a:srgbClr val="4A4430"/>
            </a:solidFill>
            <a:prstDash val="solid"/>
          </a:ln>
        </p:spPr>
      </p:sp>
      <p:sp>
        <p:nvSpPr>
          <p:cNvPr id="7" name="Shape 5"/>
          <p:cNvSpPr/>
          <p:nvPr/>
        </p:nvSpPr>
        <p:spPr>
          <a:xfrm>
            <a:off x="822960" y="3017520"/>
            <a:ext cx="50292" cy="960120"/>
          </a:xfrm>
          <a:prstGeom prst="rect">
            <a:avLst/>
          </a:prstGeom>
          <a:solidFill>
            <a:srgbClr val="FFD733"/>
          </a:solidFill>
          <a:ln/>
        </p:spPr>
      </p:sp>
      <p:sp>
        <p:nvSpPr>
          <p:cNvPr id="8" name="Text 6"/>
          <p:cNvSpPr/>
          <p:nvPr/>
        </p:nvSpPr>
        <p:spPr>
          <a:xfrm>
            <a:off x="1097280" y="314553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프롬프트 예시</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97280" y="3438144"/>
            <a:ext cx="9997135" cy="411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“지금까지 너와 대화한 것을 바탕으로 보도자료를 작성해줘. 아직 답하지 않은 질문은 추천답대로 반영해줘”</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06 · 실습</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재사용 프롬프트 만들기 — </a:t>
            </a: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다음 보도자료 작업 시에 </a:t>
            </a: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grilling </a:t>
            </a: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없이 지시</a:t>
            </a: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 </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1783080"/>
            <a:ext cx="10545775" cy="1097280"/>
          </a:xfrm>
          <a:prstGeom prst="rect">
            <a:avLst/>
          </a:prstGeom>
          <a:noFill/>
          <a:ln/>
        </p:spPr>
        <p:txBody>
          <a:bodyPr wrap="square" lIns="0" tIns="0" rIns="0" bIns="0" rtlCol="0" anchor="t"/>
          <a:lstStyle/>
          <a:p>
            <a:pPr marL="203200" marR="0" lvl="0" indent="-203200" algn="l" defTabSz="914400" rtl="0" eaLnBrk="1" fontAlgn="auto" latinLnBrk="0" hangingPunct="1">
              <a:lnSpc>
                <a:spcPct val="130000"/>
              </a:lnSpc>
              <a:spcBef>
                <a:spcPts val="0"/>
              </a:spcBef>
              <a:spcAft>
                <a:spcPts val="800"/>
              </a:spcAft>
              <a:buClrTx/>
              <a:buSzPct val="100000"/>
              <a:buFontTx/>
              <a:buChar char="▪"/>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Grilling을 끝까지 진행하는 데 상당한 시간이 걸림 — 비슷한 업무마다 Grilling을 새로 하면 비효율적</a:t>
            </a:r>
            <a:endParaRPr kumimoji="0" 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endParaRPr>
          </a:p>
          <a:p>
            <a:pPr marL="203200" marR="0" lvl="0" indent="-203200" algn="l" defTabSz="914400" rtl="0" eaLnBrk="1" fontAlgn="auto" latinLnBrk="0" hangingPunct="1">
              <a:lnSpc>
                <a:spcPct val="130000"/>
              </a:lnSpc>
              <a:spcBef>
                <a:spcPts val="0"/>
              </a:spcBef>
              <a:spcAft>
                <a:spcPts val="800"/>
              </a:spcAft>
              <a:buClrTx/>
              <a:buSzPct val="100000"/>
              <a:buFontTx/>
              <a:buChar char="▪"/>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다음부터는 Grilling 과정 없이 바로 보도자료를 작성할 수 있도록, 대화 내용을 프롬프트로 정리해 달라고 요청</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822960" y="2743200"/>
            <a:ext cx="10545775" cy="1188720"/>
          </a:xfrm>
          <a:prstGeom prst="rect">
            <a:avLst/>
          </a:prstGeom>
          <a:solidFill>
            <a:srgbClr val="1A1810"/>
          </a:solidFill>
          <a:ln w="12700">
            <a:solidFill>
              <a:srgbClr val="4A4430"/>
            </a:solidFill>
            <a:prstDash val="solid"/>
          </a:ln>
        </p:spPr>
      </p:sp>
      <p:sp>
        <p:nvSpPr>
          <p:cNvPr id="7" name="Shape 5"/>
          <p:cNvSpPr/>
          <p:nvPr/>
        </p:nvSpPr>
        <p:spPr>
          <a:xfrm>
            <a:off x="822960" y="2743200"/>
            <a:ext cx="50292" cy="1188720"/>
          </a:xfrm>
          <a:prstGeom prst="rect">
            <a:avLst/>
          </a:prstGeom>
          <a:solidFill>
            <a:srgbClr val="FFD733"/>
          </a:solidFill>
          <a:ln/>
        </p:spPr>
      </p:sp>
      <p:sp>
        <p:nvSpPr>
          <p:cNvPr id="8" name="Text 6"/>
          <p:cNvSpPr/>
          <p:nvPr/>
        </p:nvSpPr>
        <p:spPr>
          <a:xfrm>
            <a:off x="1097280" y="2871216"/>
            <a:ext cx="9997135"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프롬프트 예시</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97280" y="3163824"/>
            <a:ext cx="9997135" cy="6400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“지금까지 대화한 내용을 바탕으로, 다음 보도자료에도 쓸 수 있는 프롬프트를 만들어줘. 매번 바뀌는 내용은 [빈칸]으로 표시해줘”</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5385"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07 · 확장</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4065" y="598932"/>
            <a:ext cx="932467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완성된 프롬프트는 부서 공통 자산으로 관리</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737360"/>
            <a:ext cx="3088538" cy="1005840"/>
          </a:xfrm>
          <a:prstGeom prst="rect">
            <a:avLst/>
          </a:prstGeom>
          <a:solidFill>
            <a:srgbClr val="1A1810"/>
          </a:solidFill>
          <a:ln w="12700">
            <a:solidFill>
              <a:srgbClr val="4A4430"/>
            </a:solidFill>
            <a:prstDash val="solid"/>
          </a:ln>
        </p:spPr>
      </p:sp>
      <p:sp>
        <p:nvSpPr>
          <p:cNvPr id="6" name="Shape 4"/>
          <p:cNvSpPr/>
          <p:nvPr/>
        </p:nvSpPr>
        <p:spPr>
          <a:xfrm>
            <a:off x="822960" y="1737360"/>
            <a:ext cx="3088538" cy="41148"/>
          </a:xfrm>
          <a:prstGeom prst="rect">
            <a:avLst/>
          </a:prstGeom>
          <a:solidFill>
            <a:srgbClr val="FFD733"/>
          </a:solidFill>
          <a:ln/>
        </p:spPr>
      </p:sp>
      <p:sp>
        <p:nvSpPr>
          <p:cNvPr id="7" name="Text 5"/>
          <p:cNvSpPr/>
          <p:nvPr/>
        </p:nvSpPr>
        <p:spPr>
          <a:xfrm>
            <a:off x="932688" y="1764792"/>
            <a:ext cx="2869082" cy="95097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Grill</a:t>
            </a:r>
            <a:r>
              <a:rPr kumimoji="0" lang="en-US" sz="1300" b="1" i="0" u="none" strike="noStrike" kern="1200" cap="none" spc="0" normalizeH="0" baseline="0" noProof="0" err="1">
                <a:ln>
                  <a:noFill/>
                </a:ln>
                <a:solidFill>
                  <a:srgbClr val="FFFFFF"/>
                </a:solidFill>
                <a:effectLst/>
                <a:uLnTx/>
                <a:uFillTx/>
                <a:latin typeface="Malgun Gothic" pitchFamily="34" charset="0"/>
                <a:ea typeface="Malgun Gothic" pitchFamily="34" charset="-122"/>
                <a:cs typeface="Malgun Gothic" pitchFamily="34" charset="-120"/>
              </a:rPr>
              <a:t>로</a:t>
            </a:r>
            <a:r>
              <a:rPr kumimoji="0" lang="en-US" sz="13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3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프롬프트</a:t>
            </a:r>
            <a:r>
              <a:rPr kumimoji="0" lang="en-US" sz="1300" b="1" i="0" u="none" strike="noStrike" kern="1200" cap="none" spc="0" normalizeH="0" baseline="0" noProof="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고도화</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한 번</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948074" y="1737360"/>
            <a:ext cx="566928" cy="10058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551578" y="1737360"/>
            <a:ext cx="3088538" cy="1005840"/>
          </a:xfrm>
          <a:prstGeom prst="rect">
            <a:avLst/>
          </a:prstGeom>
          <a:solidFill>
            <a:srgbClr val="1A1810"/>
          </a:solidFill>
          <a:ln w="12700">
            <a:solidFill>
              <a:srgbClr val="4A4430"/>
            </a:solidFill>
            <a:prstDash val="solid"/>
          </a:ln>
        </p:spPr>
      </p:sp>
      <p:sp>
        <p:nvSpPr>
          <p:cNvPr id="10" name="Shape 8"/>
          <p:cNvSpPr/>
          <p:nvPr/>
        </p:nvSpPr>
        <p:spPr>
          <a:xfrm>
            <a:off x="4551578" y="1737360"/>
            <a:ext cx="3088538" cy="41148"/>
          </a:xfrm>
          <a:prstGeom prst="rect">
            <a:avLst/>
          </a:prstGeom>
          <a:solidFill>
            <a:srgbClr val="FFD733"/>
          </a:solidFill>
          <a:ln/>
        </p:spPr>
      </p:sp>
      <p:sp>
        <p:nvSpPr>
          <p:cNvPr id="11" name="Text 9"/>
          <p:cNvSpPr/>
          <p:nvPr/>
        </p:nvSpPr>
        <p:spPr>
          <a:xfrm>
            <a:off x="4661306" y="1764792"/>
            <a:ext cx="2869082" cy="95097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공통 프롬프트·스킬로 등록</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내부 공유</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676693" y="1737360"/>
            <a:ext cx="566928" cy="10058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8280197" y="1737360"/>
            <a:ext cx="3088538" cy="1005840"/>
          </a:xfrm>
          <a:prstGeom prst="rect">
            <a:avLst/>
          </a:prstGeom>
          <a:solidFill>
            <a:srgbClr val="1A1810"/>
          </a:solidFill>
          <a:ln w="12700">
            <a:solidFill>
              <a:srgbClr val="4A4430"/>
            </a:solidFill>
            <a:prstDash val="solid"/>
          </a:ln>
        </p:spPr>
      </p:sp>
      <p:sp>
        <p:nvSpPr>
          <p:cNvPr id="14" name="Shape 12"/>
          <p:cNvSpPr/>
          <p:nvPr/>
        </p:nvSpPr>
        <p:spPr>
          <a:xfrm>
            <a:off x="8280197" y="1737360"/>
            <a:ext cx="3088538" cy="41148"/>
          </a:xfrm>
          <a:prstGeom prst="rect">
            <a:avLst/>
          </a:prstGeom>
          <a:solidFill>
            <a:srgbClr val="FFD733"/>
          </a:solidFill>
          <a:ln/>
        </p:spPr>
      </p:sp>
      <p:sp>
        <p:nvSpPr>
          <p:cNvPr id="15" name="Text 13"/>
          <p:cNvSpPr/>
          <p:nvPr/>
        </p:nvSpPr>
        <p:spPr>
          <a:xfrm>
            <a:off x="8389925" y="1764792"/>
            <a:ext cx="2869082" cy="950976"/>
          </a:xfrm>
          <a:prstGeom prst="rect">
            <a:avLst/>
          </a:prstGeom>
          <a:noFill/>
          <a:ln/>
        </p:spPr>
        <p:txBody>
          <a:bodyPr wrap="square" lIns="0" tIns="0" rIns="0" bIns="0" rtlCol="0" anchor="ctr"/>
          <a:lstStyle/>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팀 전체가 재사용</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25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계속</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822960" y="3063240"/>
            <a:ext cx="3271418" cy="1920240"/>
          </a:xfrm>
          <a:prstGeom prst="rect">
            <a:avLst/>
          </a:prstGeom>
          <a:solidFill>
            <a:srgbClr val="1A1810"/>
          </a:solidFill>
          <a:ln w="12700">
            <a:solidFill>
              <a:srgbClr val="4A4430"/>
            </a:solidFill>
            <a:prstDash val="solid"/>
          </a:ln>
        </p:spPr>
      </p:sp>
      <p:sp>
        <p:nvSpPr>
          <p:cNvPr id="17" name="Text 15"/>
          <p:cNvSpPr/>
          <p:nvPr/>
        </p:nvSpPr>
        <p:spPr>
          <a:xfrm>
            <a:off x="1042416" y="322783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효과 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042416" y="353872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일관된 품질</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042416" y="3922776"/>
            <a:ext cx="2832506" cy="9144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누가 작성해도 같은 기준의 결과물.</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460138" y="3063240"/>
            <a:ext cx="3271418" cy="1920240"/>
          </a:xfrm>
          <a:prstGeom prst="rect">
            <a:avLst/>
          </a:prstGeom>
          <a:solidFill>
            <a:srgbClr val="1A1810"/>
          </a:solidFill>
          <a:ln w="12700">
            <a:solidFill>
              <a:srgbClr val="4A4430"/>
            </a:solidFill>
            <a:prstDash val="solid"/>
          </a:ln>
        </p:spPr>
      </p:sp>
      <p:sp>
        <p:nvSpPr>
          <p:cNvPr id="21" name="Text 19"/>
          <p:cNvSpPr/>
          <p:nvPr/>
        </p:nvSpPr>
        <p:spPr>
          <a:xfrm>
            <a:off x="4679594" y="322783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효과 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79594" y="353872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노하우 축적</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79594" y="3922776"/>
            <a:ext cx="2832506" cy="9144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잘 끌어낸 질문과 구조가 부서 자산으로 축적.</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097317" y="3063240"/>
            <a:ext cx="3271418" cy="1920240"/>
          </a:xfrm>
          <a:prstGeom prst="rect">
            <a:avLst/>
          </a:prstGeom>
          <a:solidFill>
            <a:srgbClr val="1A1810"/>
          </a:solidFill>
          <a:ln w="12700">
            <a:solidFill>
              <a:srgbClr val="4A4430"/>
            </a:solidFill>
            <a:prstDash val="solid"/>
          </a:ln>
        </p:spPr>
      </p:sp>
      <p:sp>
        <p:nvSpPr>
          <p:cNvPr id="25" name="Text 23"/>
          <p:cNvSpPr/>
          <p:nvPr/>
        </p:nvSpPr>
        <p:spPr>
          <a:xfrm>
            <a:off x="8316773" y="3227832"/>
            <a:ext cx="2832506"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효과 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316773" y="3538728"/>
            <a:ext cx="2832506" cy="31089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빠른 온보딩</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8316773" y="3922776"/>
            <a:ext cx="2832506" cy="9144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신규 구성원도 빈칸만 바꿔 바로 활용.</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179576"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07 · 확장</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048256" y="598932"/>
            <a:ext cx="9326880"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프롬프트를 스킬로 등록 — 요청만 하면 자동 적용</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822960" y="4672584"/>
            <a:ext cx="10545775"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1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효과 — ‘보도자료 써줘’처럼 요청 내용이 스킬 설명과 맞으면 자동 적용</a:t>
            </a:r>
            <a:endParaRPr kumimoji="0" lang="en-US" sz="1100" b="0" i="0" u="none" strike="noStrike" kern="1200" cap="none" spc="0" normalizeH="0" baseline="0" noProof="0" dirty="0">
              <a:ln>
                <a:noFill/>
              </a:ln>
              <a:solidFill>
                <a:srgbClr val="FFD733"/>
              </a:solidFill>
              <a:effectLst/>
              <a:uLnTx/>
              <a:uFillTx/>
              <a:latin typeface="Calibri" panose="020F0502020204030204"/>
              <a:ea typeface="+mn-ea"/>
              <a:cs typeface="+mn-cs"/>
            </a:endParaRPr>
          </a:p>
        </p:txBody>
      </p:sp>
      <p:sp>
        <p:nvSpPr>
          <p:cNvPr id="19" name="Text 17"/>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g Box"/>
          <p:cNvSpPr/>
          <p:nvPr/>
        </p:nvSpPr>
        <p:spPr>
          <a:xfrm>
            <a:off x="822960" y="1783080"/>
            <a:ext cx="10543032" cy="2706624"/>
          </a:xfrm>
          <a:prstGeom prst="rect">
            <a:avLst/>
          </a:prstGeom>
          <a:solidFill>
            <a:srgbClr val="1A1810"/>
          </a:solidFill>
          <a:ln w="12700">
            <a:solidFill>
              <a:srgbClr val="4A4430"/>
            </a:solidFill>
            <a:prstDash val="solid"/>
          </a:ln>
        </p:spPr>
      </p:sp>
      <p:sp>
        <p:nvSpPr>
          <p:cNvPr id="21" name="Reg Num0"/>
          <p:cNvSpPr/>
          <p:nvPr/>
        </p:nvSpPr>
        <p:spPr>
          <a:xfrm>
            <a:off x="1060704" y="1783080"/>
            <a:ext cx="502920"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Reg Txt0"/>
          <p:cNvSpPr/>
          <p:nvPr/>
        </p:nvSpPr>
        <p:spPr>
          <a:xfrm>
            <a:off x="1563624" y="1783080"/>
            <a:ext cx="9582912" cy="67665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Grilling을 마친 대화에서 요청 — “지금까지 대화한 내용을 바탕으로 보도자료 작성 스킬을 만들어줘”</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g Num1"/>
          <p:cNvSpPr/>
          <p:nvPr/>
        </p:nvSpPr>
        <p:spPr>
          <a:xfrm>
            <a:off x="1060704" y="2459736"/>
            <a:ext cx="502920"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Reg Txt1"/>
          <p:cNvSpPr/>
          <p:nvPr/>
        </p:nvSpPr>
        <p:spPr>
          <a:xfrm>
            <a:off x="1563624" y="2459736"/>
            <a:ext cx="9582912" cy="67665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Claude가 만든 스킬 파일(SKILL.md) 저장 — 저장 버튼이 없으면 파일을 내려받아 다음 단계에서 업로드</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g Line1"/>
          <p:cNvSpPr/>
          <p:nvPr/>
        </p:nvSpPr>
        <p:spPr>
          <a:xfrm>
            <a:off x="1005840" y="2459736"/>
            <a:ext cx="10177272" cy="0"/>
          </a:xfrm>
          <a:prstGeom prst="line">
            <a:avLst/>
          </a:prstGeom>
          <a:noFill/>
          <a:ln w="9525">
            <a:solidFill>
              <a:srgbClr val="4A4430"/>
            </a:solidFill>
            <a:prstDash val="dash"/>
          </a:ln>
        </p:spPr>
      </p:sp>
      <p:sp>
        <p:nvSpPr>
          <p:cNvPr id="26" name="Reg Num2"/>
          <p:cNvSpPr/>
          <p:nvPr/>
        </p:nvSpPr>
        <p:spPr>
          <a:xfrm>
            <a:off x="1060704" y="3136392"/>
            <a:ext cx="502920"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g Txt2"/>
          <p:cNvSpPr/>
          <p:nvPr/>
        </p:nvSpPr>
        <p:spPr>
          <a:xfrm>
            <a:off x="1563624" y="3136392"/>
            <a:ext cx="9582912" cy="67665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사용자 지정 → Skills → '내 항목'에서 확인 — 없으면 '+ 추가' → 'Skill 업로드'로 내려받은 파일 추가</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Reg Line2"/>
          <p:cNvSpPr/>
          <p:nvPr/>
        </p:nvSpPr>
        <p:spPr>
          <a:xfrm>
            <a:off x="1005840" y="3136392"/>
            <a:ext cx="10177272" cy="0"/>
          </a:xfrm>
          <a:prstGeom prst="line">
            <a:avLst/>
          </a:prstGeom>
          <a:noFill/>
          <a:ln w="9525">
            <a:solidFill>
              <a:srgbClr val="4A4430"/>
            </a:solidFill>
            <a:prstDash val="dash"/>
          </a:ln>
        </p:spPr>
      </p:sp>
      <p:sp>
        <p:nvSpPr>
          <p:cNvPr id="29" name="Reg Num3"/>
          <p:cNvSpPr/>
          <p:nvPr/>
        </p:nvSpPr>
        <p:spPr>
          <a:xfrm>
            <a:off x="1060704" y="3813048"/>
            <a:ext cx="502920" cy="6766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04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Reg Txt3"/>
          <p:cNvSpPr/>
          <p:nvPr/>
        </p:nvSpPr>
        <p:spPr>
          <a:xfrm>
            <a:off x="1563624" y="3813048"/>
            <a:ext cx="9582912" cy="676656"/>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팀 공유 — 개인 플랜: 내 항목 → 해당 스킬 → ⋮ → '다운로드'로 받은 파일 전달 / Team·Enterprise 플랜: 동료에게 직접 공유하거나 조직 라이브러리에 게시 (조직 설정에 따라 다름)</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Reg Line3"/>
          <p:cNvSpPr/>
          <p:nvPr/>
        </p:nvSpPr>
        <p:spPr>
          <a:xfrm>
            <a:off x="1005840" y="3813048"/>
            <a:ext cx="10177272" cy="0"/>
          </a:xfrm>
          <a:prstGeom prst="line">
            <a:avLst/>
          </a:prstGeom>
          <a:noFill/>
          <a:ln w="9525">
            <a:solidFill>
              <a:srgbClr val="4A4430"/>
            </a:solidFill>
            <a:prstDash val="dash"/>
          </a:ln>
        </p:spPr>
      </p:sp>
      <p:sp>
        <p:nvSpPr>
          <p:cNvPr id="32" name="Reg Notes"/>
          <p:cNvSpPr/>
          <p:nvPr/>
        </p:nvSpPr>
        <p:spPr>
          <a:xfrm>
            <a:off x="822960" y="5111496"/>
            <a:ext cx="1054303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처음부터 새 스킬을 만들 때는 사용자 지정 → Skills → '+ 추가' → 'Claude로 만들기'</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수정은 내 항목 → 해당 스킬 → ⋮ → 'Claude로 편집'(대화로 수정) 또는 '교체'(파일로 교체)</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457200"/>
            <a:ext cx="15570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다음 수업 준비</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2425700" y="598932"/>
            <a:ext cx="8943035" cy="0"/>
          </a:xfrm>
          <a:prstGeom prst="line">
            <a:avLst/>
          </a:prstGeom>
          <a:noFill/>
          <a:ln w="12700">
            <a:solidFill>
              <a:srgbClr val="4A4430"/>
            </a:solidFill>
            <a:prstDash val="solid"/>
          </a:ln>
        </p:spPr>
      </p:sp>
      <p:sp>
        <p:nvSpPr>
          <p:cNvPr id="4" name="Text 2"/>
          <p:cNvSpPr/>
          <p:nvPr/>
        </p:nvSpPr>
        <p:spPr>
          <a:xfrm>
            <a:off x="822960" y="841248"/>
            <a:ext cx="10545775" cy="566928"/>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F57"/>
                </a:solidFill>
                <a:effectLst/>
                <a:uLnTx/>
                <a:uFillTx/>
                <a:latin typeface="Malgun Gothic" pitchFamily="34" charset="0"/>
                <a:ea typeface="Malgun Gothic" pitchFamily="34" charset="-122"/>
                <a:cs typeface="Malgun Gothic" pitchFamily="34" charset="-120"/>
              </a:rPr>
              <a:t>Visual Studio Code 설치</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920240"/>
            <a:ext cx="10545775" cy="1280160"/>
          </a:xfrm>
          <a:prstGeom prst="rect">
            <a:avLst/>
          </a:prstGeom>
          <a:solidFill>
            <a:srgbClr val="1A1810"/>
          </a:solidFill>
          <a:ln w="12700">
            <a:solidFill>
              <a:srgbClr val="4A4430"/>
            </a:solidFill>
            <a:prstDash val="solid"/>
          </a:ln>
        </p:spPr>
      </p:sp>
      <p:sp>
        <p:nvSpPr>
          <p:cNvPr id="6" name="Shape 4"/>
          <p:cNvSpPr/>
          <p:nvPr/>
        </p:nvSpPr>
        <p:spPr>
          <a:xfrm>
            <a:off x="1078992" y="2157984"/>
            <a:ext cx="164592" cy="164592"/>
          </a:xfrm>
          <a:prstGeom prst="rect">
            <a:avLst/>
          </a:prstGeom>
          <a:solidFill>
            <a:srgbClr val="1A1810"/>
          </a:solidFill>
          <a:ln w="19050">
            <a:solidFill>
              <a:srgbClr val="FFD733"/>
            </a:solidFill>
            <a:prstDash val="solid"/>
          </a:ln>
        </p:spPr>
      </p:sp>
      <p:sp>
        <p:nvSpPr>
          <p:cNvPr id="7" name="Text 5"/>
          <p:cNvSpPr/>
          <p:nvPr/>
        </p:nvSpPr>
        <p:spPr>
          <a:xfrm>
            <a:off x="1389888" y="1920240"/>
            <a:ext cx="9722815" cy="6400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ko-KR" alt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다음 수업 전까지 code.visualstudio.com에서 Visual Studio Code 다운로드 및 설치 완료</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2560320"/>
            <a:ext cx="10180015" cy="0"/>
          </a:xfrm>
          <a:prstGeom prst="line">
            <a:avLst/>
          </a:prstGeom>
          <a:noFill/>
          <a:ln w="9525">
            <a:solidFill>
              <a:srgbClr val="4A4430"/>
            </a:solidFill>
            <a:prstDash val="dash"/>
          </a:ln>
        </p:spPr>
      </p:sp>
      <p:sp>
        <p:nvSpPr>
          <p:cNvPr id="9" name="Shape 7"/>
          <p:cNvSpPr/>
          <p:nvPr/>
        </p:nvSpPr>
        <p:spPr>
          <a:xfrm>
            <a:off x="1078992" y="2798064"/>
            <a:ext cx="164592" cy="164592"/>
          </a:xfrm>
          <a:prstGeom prst="rect">
            <a:avLst/>
          </a:prstGeom>
          <a:solidFill>
            <a:srgbClr val="1A1810"/>
          </a:solidFill>
          <a:ln w="19050">
            <a:solidFill>
              <a:srgbClr val="FFD733"/>
            </a:solidFill>
            <a:prstDash val="solid"/>
          </a:ln>
        </p:spPr>
      </p:sp>
      <p:sp>
        <p:nvSpPr>
          <p:cNvPr id="10" name="Text 8"/>
          <p:cNvSpPr/>
          <p:nvPr/>
        </p:nvSpPr>
        <p:spPr>
          <a:xfrm>
            <a:off x="1389888" y="2560320"/>
            <a:ext cx="9722815" cy="64008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설치 후 실행 확인</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271455" y="644652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A8A090"/>
                </a:solidFill>
                <a:effectLst/>
                <a:uLnTx/>
                <a:uFillTx/>
                <a:latin typeface="Malgun Gothic" pitchFamily="34" charset="0"/>
                <a:ea typeface="Malgun Gothic" pitchFamily="34" charset="-122"/>
                <a:cs typeface="Malgun Gothic"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2155</Words>
  <Application>Microsoft Office PowerPoint</Application>
  <PresentationFormat>와이드스크린</PresentationFormat>
  <Paragraphs>248</Paragraphs>
  <Slides>18</Slides>
  <Notes>16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18</vt:i4>
      </vt:variant>
    </vt:vector>
  </HeadingPairs>
  <TitlesOfParts>
    <vt:vector size="23" baseType="lpstr">
      <vt:lpstr>Malgun Gothic</vt:lpstr>
      <vt:lpstr>Malgun Gothic</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think</dc:creator>
  <cp:lastModifiedBy>think</cp:lastModifiedBy>
  <cp:revision>1</cp:revision>
  <dcterms:created xsi:type="dcterms:W3CDTF">2026-08-27T12:30:33Z</dcterms:created>
  <dcterms:modified xsi:type="dcterms:W3CDTF">2026-10-27T06:04:06Z</dcterms:modified>
</cp:coreProperties>
</file>