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ART 0 · 미리 생성" id="{9c64ef47-de8a-f7f4-1eb3-bcab9ab1c18c}">
          <p14:sldIdLst>
            <p14:sldId id="256"/>
            <p14:sldId id="257"/>
          </p14:sldIdLst>
        </p14:section>
        <p14:section name="표지" id="{b7bec4a9-4c51-4475-8f62-ce8ebd096603}">
          <p14:sldIdLst>
            <p14:sldId id="258"/>
          </p14:sldIdLst>
        </p14:section>
        <p14:section name="PART 1 · 강의 개요" id="{09ad8f79-ea8a-0cb2-a5dd-a60091552dc3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PART 2 · 내용 구성" id="{d3a4a96b-ac19-8fec-c8b1-2a506623aa33}">
          <p14:sldIdLst>
            <p14:sldId id="266"/>
            <p14:sldId id="267"/>
            <p14:sldId id="268"/>
            <p14:sldId id="269"/>
          </p14:sldIdLst>
        </p14:section>
        <p14:section name="PART 3 · 슬라이드 생성" id="{795a123e-d0fd-dc5d-8a8f-34b6fe2318ec}">
          <p14:sldIdLst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PART 4 · 편집 · 내보내기" id="{c91da102-ec6a-2100-c111-a327d0b89d2e}">
          <p14:sldIdLst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PART 5 · 디자인 시스템" id="{434b501b-e956-b04a-71fd-65157f9c7c2d}">
          <p14:sldIdLst>
            <p14:sldId id="289"/>
            <p14:sldId id="290"/>
            <p14:sldId id="291"/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강의 시작 전에 생성을 걸어 두는 단계. 화면 위치는 2026-10-23 claude.ai 기준: 사이드바 '아티팩트' → '새로운 무언가 만들기' → '슬라이드'. 디자인 시스템이 없는 수강생은 선택 없이 진행.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Claude 릴리스 노트 2026-09-16 'Create designs, decks, and docs in any conversation' (https://support.claude.com/en/articles/12138966-release-notes), 지원 문서 'Migrate from standalone Claude Design to Claude' — 별도 화면 2026-12-14 종료 (https://support.claude.com/en/articles/17440474). 기본 프리셋 부재는 2026-10-23 화면 확인 + 마이그레이션 문서(기본 스타터 테마 기반 디자인 시스템은 이동 대상 아님). Tweaks: 2026-10-23 화면 확인 — '디자인' 캔버스는 아트보드 이름 줄의 슬라이더 아이콘('Show this artboard's tweaks') → 오른쪽 패널 Tweaks 탭, '슬라이드' 편집 화면에는 Tweaks 버튼·탭 없음.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'What are artifacts and how do I use them?' (https://support.claude.com/en/articles/17153992). 대시보드는 베타·유료 플랜. Motion(베타)은 Team·Enterprise 전용이라 생략. 화면 표기는 2026-10-23 기준 '문서·슬라이드·디자인·대시보드'.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'Get started with Claude Design'(Free 포함 전 플랜, 채팅과 같은 사용 한도), 'Manage usage credits for paid Claude plans'(Pro·Max, 설정 &gt; 사용량), 'What are artifacts'(아티팩트는 코드 실행·파일 생성 필요, Enterprise는 2026-10-15 기본 활성). 설정 화면 표기는 2026-10-23 기준: 설정 &gt; 기능 &gt; '클라우드에서 코드 실행', '아티팩트'. 한도 안내 배너 버튼 표기: '사용량 추가 구매'.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줄 수정: '지금은 디자인 말고' → '지금은 슬라이드는 만들지 말고'. 2026-09-16 이후 일반 채팅에서도 슬라이드가 바로 만들어지므로, 내용 구조만 텍스트로 받도록 명시.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화면은 2026-10-23 claude.ai 기준. '다른 방법' 근거: 릴리스 노트 2026-09-16 — 모든 대화에서 디자인·덱·문서 요청 가능.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이전 화면의 기본 프리셋 6종(Modernist·Classical·Nocturne·Organic·Broadsheet·Industry)은 새 화면에 없음 — 2026-10-23 확인. 프리셋 기반 디자인 시스템은 마이그레이션 대상도 아님(Migrate 문서). 예시 문구는 이전 강의안의 프리셋 선택 기준(흰 배경·절제된 팔레트·표·차트 친화 서체)을 프롬프트 문장으로 옮긴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공식 가이드의 구분: 구조 변경·새 섹션은 채팅, 요소 단위 수정은 댓글, 시각적 미세 조정은 직접 편집 ('Get started with Claude Design' &gt; Refine your design). Tweaks는 '디자인' 캔버스 전용 기능이라 '슬라이드' 편집 방법에서 빼고 뒤쪽 참고 슬라이드로 분리.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알려진 제한: 댓글이 Claude에게 전달되기 전에 사라지는 경우가 있어 채팅에 붙여넣기 권장 ('Get started with Claude Design' &gt; Known limitations). 화면 표기는 2026-10-23 기준.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2026-10-23 화면 확인: 댓글 모드에서 드래그하면 점선 상자가 그려지고 'Slide 1 (middle) · 1 element' 댓글 창이 열림. 채팅 옆 패널과 전체 화면 모두 동일. '디자인' 캔버스에서도 같은 방식.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'Claude에게 보내기'를 끈 댓글을 채팅 요청으로 일괄 반영하는 방식은 수업 전 한 번 시연해 확인 권장. 확실한 대안은 채팅 한 번에 번호별로 정리해 요청.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2026-10-23 화면 확인: 속성 패널은 요소 도구 막대의 ⋮ 또는 패널 도구 막대 오른쪽 속성 아이콘으로 열림(패널이 좁으면 아래, 넓으면 오른쪽에 표시). 아무것도 선택하지 않으면 Slide — Transition, Appearance — Background 항목.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2026-10-23 확인: '디자인' 캔버스 아트보드 이름 줄의 슬라이더 아이콘(툴팁 'Show this artboard's tweaks') → 오른쪽 패널 Properties·Code·Tweaks 중 Tweaks 탭. 조절 항목은 켜기/끄기·색·숫자·슬라이더·선택형. 새 '슬라이드' 편집 화면에는 Tweaks 없음 — 좌측 상단은 텍스트·이미지·표·도형 추가 도구, 우측 상단은 다운로드·발표·속성 패널, 제목 메뉴·속성 패널에도 없음. Slides 형식이 스크립트·조절값을 지원하지 않음. 이전 화면(claude.ai/design) 2026-10-25 직접 확인: 덱 편집 창 좌측 상단 'Tweaks (T)' 버튼 → 'Describe a tweak…' 입력 상자, 우측 상단 'Comment (A)'·'Edit (E)'·Present·Share. 이전 화면은 2026-12-14 종료. '디자인' 캔버스 내보내기: HTML·PDF·PNG. tweak 추가 요청은 사용량 소모.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내보내기 항목은 2026-10-23 화면 기준. 채팅 옆 패널에서는 '추가 형식 및 앱', 아티팩트 단독 화면에서는 '더 많은 형식'(HTML)으로 표시. Google Slides는 Google Drive에 편집 가능한 사본 생성.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옵션 문구(2026-10-23 화면): 현재 폰트 — 편집 가능, 프레젠테이션의 글꼴 사용 / 기본 글꼴 — 편집 가능, 모든 컴퓨터에 있는 글꼴 / 슬라이드를 이미지로 — 각 슬라이드가 이미지 하나로 저장, 텍스트 편집 불가. 이전 강의안의 'PPTX 줄바꿈 차이 → PDF' 주의를 옵션 선택 기준으로 확장.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'Set up your design system in Claude Design' (https://support.claude.com/en/articles/14604397) — 베타, Pro·Max·Team·Enterprise, Pro·Max·Team은 기본 켜짐, Enterprise는 소유자가 켜야 함. 개인 플랜에서는 공유 대상 없음(Migrate 문서).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위치는 2026-10-23 기준: 설정 &gt; 디자인 시스템 &gt; '+ 새 디자인 시스템' → 'Claude 사용'(브랜드 파일 업로드·디자인 커넥터·직접 설명) / 'Claude Code 사용'(저장소의 토큰·컴포넌트). 시작 화면의 세 가지: GitHub에서 동기화, 커넥터에서 만들기, 브랜드 파일 업로드.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'실제 완성물이 효과적'은 공식 팁과 일치: 스펙만이 아니라 완성된 예시를 넣을 것 ('Set up your design system' &gt; Tips). 안내 페이지 문구(화면): 'Claude reads it before it designs anything.'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'Migrate from standalone Claude Design to Claude' (https://support.claude.com/en/articles/17440474) — 빈 디자인 시스템·기본 스타터 테마 기반은 이동 대상 아님, 채팅·댓글·공개 링크는 이관 안 됨, 12월 중 잔여 채팅·댓글 삭제. 버튼 표기 '팀 디자인 시스템 이동'은 2026-10-23 화면 기준.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24728" y="2743200"/>
            <a:ext cx="54864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3063240"/>
            <a:ext cx="1090879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200" b="1" dirty="0">
                <a:solidFill>
                  <a:schemeClr val="accent2"/>
                </a:solidFill>
              </a:defRPr>
            </a:lvl1pPr>
          </a:lstStyle>
          <a:p>
            <a:pPr algn="ctr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24728" y="2350008"/>
            <a:ext cx="54864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2651760"/>
            <a:ext cx="10908792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400" b="1" dirty="0">
                <a:solidFill>
                  <a:schemeClr val="accent2"/>
                </a:solidFill>
              </a:defRPr>
            </a:lvl1pPr>
          </a:lstStyle>
          <a:p>
            <a:pPr algn="ctr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500" b="1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25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"/>
          <p:cNvSpPr txBox="1"/>
          <p:nvPr/>
        </p:nvSpPr>
        <p:spPr>
          <a:xfrm>
            <a:off x="914400" y="224028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chemeClr val="accent1"/>
                </a:solidFill>
              </a:rPr>
              <a:t>PART 0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3063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PPT 생성 시간이 오래 걸려서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미리 생성 걸어두기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8373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PART 0 · 미리 생성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705989" y="603504"/>
            <a:ext cx="866000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슬라이드 생성부터 실행 — 생성되는 동안 강의 진행</a:t>
            </a:r>
            <a:endParaRPr lang="en-US" sz="2500" dirty="0"/>
          </a:p>
        </p:txBody>
      </p:sp>
      <p:sp>
        <p:nvSpPr>
          <p:cNvPr id="5" name="screenshot-frame"/>
          <p:cNvSpPr/>
          <p:nvPr/>
        </p:nvSpPr>
        <p:spPr>
          <a:xfrm>
            <a:off x="7078028" y="1618488"/>
            <a:ext cx="4315396" cy="3895344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screenshot" descr="슬라이드 시작 화면 — 왼쪽 채팅의 '디자인 시스템 선택…', 오른쪽 빈 슬라이드 패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460" y="1645920"/>
            <a:ext cx="4260533" cy="384048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822960" y="1645920"/>
            <a:ext cx="5962460" cy="3840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step-no"/>
          <p:cNvSpPr txBox="1"/>
          <p:nvPr/>
        </p:nvSpPr>
        <p:spPr>
          <a:xfrm>
            <a:off x="1042416" y="164592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step-text"/>
          <p:cNvSpPr txBox="1"/>
          <p:nvPr/>
        </p:nvSpPr>
        <p:spPr>
          <a:xfrm>
            <a:off x="1554480" y="1645920"/>
            <a:ext cx="50114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왼쪽 사이드바 </a:t>
            </a:r>
            <a:r>
              <a:rPr lang="en-US" sz="1250" b="1" dirty="0">
                <a:solidFill>
                  <a:schemeClr val="tx2"/>
                </a:solidFill>
              </a:rPr>
              <a:t>‘아티팩트’</a:t>
            </a:r>
            <a:r>
              <a:rPr lang="en-US" sz="1250" dirty="0">
                <a:solidFill>
                  <a:schemeClr val="tx1"/>
                </a:solidFill>
              </a:rPr>
              <a:t> → ‘새로운 무언가 만들기’에서 </a:t>
            </a:r>
            <a:r>
              <a:rPr lang="en-US" sz="1250" b="1" dirty="0">
                <a:solidFill>
                  <a:schemeClr val="tx2"/>
                </a:solidFill>
              </a:rPr>
              <a:t>‘슬라이드’</a:t>
            </a:r>
            <a:r>
              <a:rPr lang="en-US" sz="1250" dirty="0">
                <a:solidFill>
                  <a:schemeClr val="tx1"/>
                </a:solidFill>
              </a:rPr>
              <a:t> 클릭</a:t>
            </a:r>
            <a:endParaRPr lang="en-US" sz="1250" dirty="0"/>
          </a:p>
        </p:txBody>
      </p:sp>
      <p:sp>
        <p:nvSpPr>
          <p:cNvPr id="10" name="divider"/>
          <p:cNvSpPr/>
          <p:nvPr/>
        </p:nvSpPr>
        <p:spPr>
          <a:xfrm>
            <a:off x="1005840" y="2606040"/>
            <a:ext cx="559670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11" name="step-no"/>
          <p:cNvSpPr txBox="1"/>
          <p:nvPr/>
        </p:nvSpPr>
        <p:spPr>
          <a:xfrm>
            <a:off x="1042416" y="260604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step-text"/>
          <p:cNvSpPr txBox="1"/>
          <p:nvPr/>
        </p:nvSpPr>
        <p:spPr>
          <a:xfrm>
            <a:off x="1554480" y="2606040"/>
            <a:ext cx="50114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chemeClr val="tx2"/>
                </a:solidFill>
              </a:rPr>
              <a:t>‘디자인 시스템 선택…’</a:t>
            </a:r>
            <a:r>
              <a:rPr lang="en-US" sz="1250" dirty="0">
                <a:solidFill>
                  <a:schemeClr val="tx1"/>
                </a:solidFill>
              </a:rPr>
              <a:t>은 건너뛰기 — 기관 디자인 시스템이 있을 때만 선택</a:t>
            </a:r>
            <a:endParaRPr lang="en-US" sz="1250" dirty="0"/>
          </a:p>
        </p:txBody>
      </p:sp>
      <p:sp>
        <p:nvSpPr>
          <p:cNvPr id="13" name="divider"/>
          <p:cNvSpPr/>
          <p:nvPr/>
        </p:nvSpPr>
        <p:spPr>
          <a:xfrm>
            <a:off x="1005840" y="3566160"/>
            <a:ext cx="559670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14" name="step-no"/>
          <p:cNvSpPr txBox="1"/>
          <p:nvPr/>
        </p:nvSpPr>
        <p:spPr>
          <a:xfrm>
            <a:off x="1042416" y="356616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03</a:t>
            </a:r>
            <a:endParaRPr lang="en-US" sz="1000" dirty="0"/>
          </a:p>
        </p:txBody>
      </p:sp>
      <p:sp>
        <p:nvSpPr>
          <p:cNvPr id="15" name="step-text"/>
          <p:cNvSpPr txBox="1"/>
          <p:nvPr/>
        </p:nvSpPr>
        <p:spPr>
          <a:xfrm>
            <a:off x="1554480" y="3566160"/>
            <a:ext cx="50114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입력창 </a:t>
            </a:r>
            <a:r>
              <a:rPr lang="en-US" sz="1250" b="1" dirty="0">
                <a:solidFill>
                  <a:schemeClr val="tx2"/>
                </a:solidFill>
              </a:rPr>
              <a:t>+</a:t>
            </a:r>
            <a:r>
              <a:rPr lang="en-US" sz="1250" dirty="0">
                <a:solidFill>
                  <a:schemeClr val="tx1"/>
                </a:solidFill>
              </a:rPr>
              <a:t> → </a:t>
            </a:r>
            <a:r>
              <a:rPr lang="en-US" sz="1250" b="1" dirty="0">
                <a:solidFill>
                  <a:schemeClr val="tx2"/>
                </a:solidFill>
              </a:rPr>
              <a:t>‘파일 업로드 또는 추가’</a:t>
            </a:r>
            <a:r>
              <a:rPr lang="en-US" sz="1250" dirty="0">
                <a:solidFill>
                  <a:schemeClr val="tx1"/>
                </a:solidFill>
              </a:rPr>
              <a:t>로 강의자료 PDF 첨부</a:t>
            </a:r>
            <a:endParaRPr lang="en-US" sz="1250" dirty="0"/>
          </a:p>
        </p:txBody>
      </p:sp>
      <p:sp>
        <p:nvSpPr>
          <p:cNvPr id="16" name="divider"/>
          <p:cNvSpPr/>
          <p:nvPr/>
        </p:nvSpPr>
        <p:spPr>
          <a:xfrm>
            <a:off x="1005840" y="4526280"/>
            <a:ext cx="559670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17" name="step-no"/>
          <p:cNvSpPr txBox="1"/>
          <p:nvPr/>
        </p:nvSpPr>
        <p:spPr>
          <a:xfrm>
            <a:off x="1042416" y="4526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04</a:t>
            </a:r>
            <a:endParaRPr lang="en-US" sz="1000" dirty="0"/>
          </a:p>
        </p:txBody>
      </p:sp>
      <p:sp>
        <p:nvSpPr>
          <p:cNvPr id="18" name="step-text"/>
          <p:cNvSpPr txBox="1"/>
          <p:nvPr/>
        </p:nvSpPr>
        <p:spPr>
          <a:xfrm>
            <a:off x="1554480" y="4526280"/>
            <a:ext cx="50114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chemeClr val="tx2"/>
                </a:solidFill>
              </a:rPr>
              <a:t>‘ppt 생성 설계도 프롬프트.txt’</a:t>
            </a:r>
            <a:r>
              <a:rPr lang="en-US" sz="1250" dirty="0">
                <a:solidFill>
                  <a:schemeClr val="tx1"/>
                </a:solidFill>
              </a:rPr>
              <a:t> 내용 복사 → 입력창에 붙여넣기 → 전송</a:t>
            </a:r>
            <a:endParaRPr lang="en-US" sz="1250" dirty="0"/>
          </a:p>
        </p:txBody>
      </p:sp>
      <p:sp>
        <p:nvSpPr>
          <p:cNvPr id="19" name="text"/>
          <p:cNvSpPr txBox="1"/>
          <p:nvPr/>
        </p:nvSpPr>
        <p:spPr>
          <a:xfrm>
            <a:off x="822960" y="568756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chemeClr val="accent3"/>
                </a:solidFill>
              </a:rPr>
              <a:t>생성이 시작되면 화면을 그대로 두고 강의 진행 — 각 단계의 자세한 설명은 PART 3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2651760"/>
            <a:ext cx="109087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Claude Slides로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보고서를 PPT로 만들고 편집하기</a:t>
            </a:r>
            <a:endParaRPr lang="en-US" sz="3400" dirty="0"/>
          </a:p>
        </p:txBody>
      </p:sp>
      <p:sp>
        <p:nvSpPr>
          <p:cNvPr id="3" name="text"/>
          <p:cNvSpPr txBox="1"/>
          <p:nvPr/>
        </p:nvSpPr>
        <p:spPr>
          <a:xfrm>
            <a:off x="640080" y="44348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chemeClr val="accent3"/>
                </a:solidFill>
              </a:rPr>
              <a:t>보고서 → 내용 구조화 → 슬라이드 생성 → 편집 · 내보내기</a:t>
            </a:r>
            <a:endParaRPr lang="en-US" sz="1600" dirty="0"/>
          </a:p>
        </p:txBody>
      </p:sp>
      <p:sp>
        <p:nvSpPr>
          <p:cNvPr id="4" name="text"/>
          <p:cNvSpPr txBox="1"/>
          <p:nvPr/>
        </p:nvSpPr>
        <p:spPr>
          <a:xfrm>
            <a:off x="640080" y="498348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5"/>
                </a:solidFill>
              </a:rPr>
              <a:t>2026. 10. 기준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"/>
          <p:cNvSpPr txBox="1"/>
          <p:nvPr/>
        </p:nvSpPr>
        <p:spPr>
          <a:xfrm>
            <a:off x="914400" y="224028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chemeClr val="accent1"/>
                </a:solidFill>
              </a:rPr>
              <a:t>PART 1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3063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강의 개요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9069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강의 개요 · 최신 변경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775585" y="603504"/>
            <a:ext cx="8590407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accent2"/>
                </a:solidFill>
              </a:rPr>
              <a:t>Claude Design이 일반 채팅 안으로 — 2026. 9. 16. 업데이트</a:t>
            </a:r>
            <a:endParaRPr lang="en-US" sz="25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91640"/>
          <a:ext cx="91440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886200"/>
                <a:gridCol w="473659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이전 — 별도 화면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현재 — 일반 채팅 안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사용 위치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claude.ai/design 별도 화면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일반 채팅 · 사이드바 ‘아티팩트’·‘Design’ 메뉴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발표자료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Design 안의 Slides 템플릿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발표자료 전용 ‘슬라이드’(Claude Slides)로 시작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사용 플랜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유료 플랜 전용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무료 플랜 포함 모든 플랜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디자인 시스템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기본 프리셋 6종 + 직접 생성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기본 프리셋 없음 — 직접 만들어 등록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Tweaks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슬라이드 편집 창 좌측 상단 버튼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‘디자인’ 캔버스에서만 — 새 ‘슬라이드’에는 없음</a:t>
                      </a:r>
                      <a:endParaRPr lang="en-US" sz="12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822960" y="4800600"/>
            <a:ext cx="10543032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label"/>
          <p:cNvSpPr txBox="1"/>
          <p:nvPr/>
        </p:nvSpPr>
        <p:spPr>
          <a:xfrm>
            <a:off x="1042416" y="494690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주의 — 이전 화면 종료</a:t>
            </a:r>
            <a:endParaRPr lang="en-US" sz="950" dirty="0"/>
          </a:p>
        </p:txBody>
      </p:sp>
      <p:sp>
        <p:nvSpPr>
          <p:cNvPr id="8" name="card-text"/>
          <p:cNvSpPr txBox="1"/>
          <p:nvPr/>
        </p:nvSpPr>
        <p:spPr>
          <a:xfrm>
            <a:off x="1042416" y="5257800"/>
            <a:ext cx="10104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claude.ai/design 별도 화면은 2026. 12. 14. 종료 — 이후 접속하면 Claude 화면으로 이동. 이 강의는 새 방식(일반 채팅 안) 기준.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674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강의 개요 · 결과물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543175" y="603504"/>
            <a:ext cx="8822817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accent2"/>
                </a:solidFill>
              </a:rPr>
              <a:t>만들 수 있는 결과물 — 발표자료는 ‘슬라이드’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737360"/>
            <a:ext cx="5148072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label"/>
          <p:cNvSpPr txBox="1"/>
          <p:nvPr/>
        </p:nvSpPr>
        <p:spPr>
          <a:xfrm>
            <a:off x="1042416" y="19019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CLAUDE DOCS</a:t>
            </a:r>
            <a:endParaRPr lang="en-US" sz="950" dirty="0"/>
          </a:p>
        </p:txBody>
      </p:sp>
      <p:sp>
        <p:nvSpPr>
          <p:cNvPr id="7" name="text"/>
          <p:cNvSpPr txBox="1"/>
          <p:nvPr/>
        </p:nvSpPr>
        <p:spPr>
          <a:xfrm>
            <a:off x="1042416" y="219456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문서</a:t>
            </a:r>
            <a:endParaRPr lang="en-US" sz="1500" dirty="0"/>
          </a:p>
        </p:txBody>
      </p:sp>
      <p:sp>
        <p:nvSpPr>
          <p:cNvPr id="8" name="card-text"/>
          <p:cNvSpPr txBox="1"/>
          <p:nvPr/>
        </p:nvSpPr>
        <p:spPr>
          <a:xfrm>
            <a:off x="1042416" y="261518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팀과 함께 쓰고 고치는 문서 — 보고서·기획안·회의록 등.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6217920" y="1737360"/>
            <a:ext cx="5148072" cy="1463040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0" name="label"/>
          <p:cNvSpPr txBox="1"/>
          <p:nvPr/>
        </p:nvSpPr>
        <p:spPr>
          <a:xfrm>
            <a:off x="6437376" y="19019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CLAUDE SLIDES · 이번 강의</a:t>
            </a:r>
            <a:endParaRPr lang="en-US" sz="950" dirty="0"/>
          </a:p>
        </p:txBody>
      </p:sp>
      <p:sp>
        <p:nvSpPr>
          <p:cNvPr id="11" name="text"/>
          <p:cNvSpPr txBox="1"/>
          <p:nvPr/>
        </p:nvSpPr>
        <p:spPr>
          <a:xfrm>
            <a:off x="6437376" y="219456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슬라이드</a:t>
            </a:r>
            <a:endParaRPr lang="en-US" sz="1500" dirty="0"/>
          </a:p>
        </p:txBody>
      </p:sp>
      <p:sp>
        <p:nvSpPr>
          <p:cNvPr id="12" name="card-text"/>
          <p:cNvSpPr txBox="1"/>
          <p:nvPr/>
        </p:nvSpPr>
        <p:spPr>
          <a:xfrm>
            <a:off x="6437376" y="261518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발표자료 — 바로 편집·발표, PowerPoint·PDF로 내보내기.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822960" y="3383280"/>
            <a:ext cx="5148072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label"/>
          <p:cNvSpPr txBox="1"/>
          <p:nvPr/>
        </p:nvSpPr>
        <p:spPr>
          <a:xfrm>
            <a:off x="1042416" y="35478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CLAUDE DESIGN</a:t>
            </a:r>
            <a:endParaRPr lang="en-US" sz="950" dirty="0"/>
          </a:p>
        </p:txBody>
      </p:sp>
      <p:sp>
        <p:nvSpPr>
          <p:cNvPr id="15" name="text"/>
          <p:cNvSpPr txBox="1"/>
          <p:nvPr/>
        </p:nvSpPr>
        <p:spPr>
          <a:xfrm>
            <a:off x="1042416" y="384048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디자인</a:t>
            </a:r>
            <a:endParaRPr lang="en-US" sz="1500" dirty="0"/>
          </a:p>
        </p:txBody>
      </p:sp>
      <p:sp>
        <p:nvSpPr>
          <p:cNvPr id="16" name="card-text"/>
          <p:cNvSpPr txBox="1"/>
          <p:nvPr/>
        </p:nvSpPr>
        <p:spPr>
          <a:xfrm>
            <a:off x="1042416" y="426110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화면 시안·프로토타입·한 장짜리 홍보물·랜딩페이지 등 시각물.</a:t>
            </a:r>
            <a:endParaRPr lang="en-US" sz="1200" dirty="0"/>
          </a:p>
        </p:txBody>
      </p:sp>
      <p:sp>
        <p:nvSpPr>
          <p:cNvPr id="17" name="card"/>
          <p:cNvSpPr/>
          <p:nvPr/>
        </p:nvSpPr>
        <p:spPr>
          <a:xfrm>
            <a:off x="6217920" y="3383280"/>
            <a:ext cx="5148072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label"/>
          <p:cNvSpPr txBox="1"/>
          <p:nvPr/>
        </p:nvSpPr>
        <p:spPr>
          <a:xfrm>
            <a:off x="6437376" y="35478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CLAUDE DASHBOARDS · 베타</a:t>
            </a:r>
            <a:endParaRPr lang="en-US" sz="950" dirty="0"/>
          </a:p>
        </p:txBody>
      </p:sp>
      <p:sp>
        <p:nvSpPr>
          <p:cNvPr id="19" name="text"/>
          <p:cNvSpPr txBox="1"/>
          <p:nvPr/>
        </p:nvSpPr>
        <p:spPr>
          <a:xfrm>
            <a:off x="6437376" y="384048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대시보드</a:t>
            </a:r>
            <a:endParaRPr lang="en-US" sz="1500" dirty="0"/>
          </a:p>
        </p:txBody>
      </p:sp>
      <p:sp>
        <p:nvSpPr>
          <p:cNvPr id="20" name="card-text"/>
          <p:cNvSpPr txBox="1"/>
          <p:nvPr/>
        </p:nvSpPr>
        <p:spPr>
          <a:xfrm>
            <a:off x="6437376" y="426110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연결한 데이터로 만드는 차트·지표 화면 — 유료 플랜.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822960" y="5120640"/>
            <a:ext cx="10543032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text"/>
          <p:cNvSpPr txBox="1"/>
          <p:nvPr/>
        </p:nvSpPr>
        <p:spPr>
          <a:xfrm>
            <a:off x="1042416" y="5120640"/>
            <a:ext cx="10104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3"/>
                </a:solidFill>
              </a:rPr>
              <a:t>위치 — 왼쪽 사이드바 ‘아티팩트’ → ‘새로운 무언가 만들기’에 네 가지가 나란히 표시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9069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강의 개요 · 전체 흐름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775585" y="603504"/>
            <a:ext cx="8590407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전체 흐름 — 세 단계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737360"/>
            <a:ext cx="3090672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accent"/>
          <p:cNvSpPr/>
          <p:nvPr/>
        </p:nvSpPr>
        <p:spPr>
          <a:xfrm>
            <a:off x="822960" y="1737360"/>
            <a:ext cx="3090672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flow-step"/>
          <p:cNvSpPr txBox="1"/>
          <p:nvPr/>
        </p:nvSpPr>
        <p:spPr>
          <a:xfrm>
            <a:off x="932688" y="178308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chemeClr val="tx2"/>
                </a:solidFill>
              </a:rPr>
              <a:t>1단계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chemeClr val="accent3"/>
                </a:solidFill>
              </a:rPr>
              <a:t>Claude 채팅으로 내용 구조화</a:t>
            </a:r>
            <a:endParaRPr lang="en-US" sz="1300" dirty="0"/>
          </a:p>
        </p:txBody>
      </p:sp>
      <p:sp>
        <p:nvSpPr>
          <p:cNvPr id="8" name="arrow"/>
          <p:cNvSpPr txBox="1"/>
          <p:nvPr/>
        </p:nvSpPr>
        <p:spPr>
          <a:xfrm>
            <a:off x="3950208" y="1737360"/>
            <a:ext cx="566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→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4553712" y="1737360"/>
            <a:ext cx="3090672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accent"/>
          <p:cNvSpPr/>
          <p:nvPr/>
        </p:nvSpPr>
        <p:spPr>
          <a:xfrm>
            <a:off x="4553712" y="1737360"/>
            <a:ext cx="3090672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flow-step"/>
          <p:cNvSpPr txBox="1"/>
          <p:nvPr/>
        </p:nvSpPr>
        <p:spPr>
          <a:xfrm>
            <a:off x="4663440" y="178308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chemeClr val="tx2"/>
                </a:solidFill>
              </a:rPr>
              <a:t>2단계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chemeClr val="accent3"/>
                </a:solidFill>
              </a:rPr>
              <a:t>Claude Slides로 슬라이드 생성</a:t>
            </a:r>
            <a:endParaRPr lang="en-US" sz="1300" dirty="0"/>
          </a:p>
        </p:txBody>
      </p:sp>
      <p:sp>
        <p:nvSpPr>
          <p:cNvPr id="12" name="arrow"/>
          <p:cNvSpPr txBox="1"/>
          <p:nvPr/>
        </p:nvSpPr>
        <p:spPr>
          <a:xfrm>
            <a:off x="7680960" y="1737360"/>
            <a:ext cx="566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→</a:t>
            </a:r>
            <a:endParaRPr lang="en-US" sz="1700" dirty="0"/>
          </a:p>
        </p:txBody>
      </p:sp>
      <p:sp>
        <p:nvSpPr>
          <p:cNvPr id="13" name="card"/>
          <p:cNvSpPr/>
          <p:nvPr/>
        </p:nvSpPr>
        <p:spPr>
          <a:xfrm>
            <a:off x="8284464" y="1737360"/>
            <a:ext cx="3090672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accent"/>
          <p:cNvSpPr/>
          <p:nvPr/>
        </p:nvSpPr>
        <p:spPr>
          <a:xfrm>
            <a:off x="8284464" y="1737360"/>
            <a:ext cx="3090672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flow-step"/>
          <p:cNvSpPr txBox="1"/>
          <p:nvPr/>
        </p:nvSpPr>
        <p:spPr>
          <a:xfrm>
            <a:off x="8394192" y="178308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chemeClr val="tx2"/>
                </a:solidFill>
              </a:rPr>
              <a:t>3단계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chemeClr val="accent3"/>
                </a:solidFill>
              </a:rPr>
              <a:t>편집 &amp; 내보내기</a:t>
            </a:r>
            <a:endParaRPr 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822960" y="3063240"/>
            <a:ext cx="3273552" cy="1783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label"/>
          <p:cNvSpPr txBox="1"/>
          <p:nvPr/>
        </p:nvSpPr>
        <p:spPr>
          <a:xfrm>
            <a:off x="1042416" y="320954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1단계</a:t>
            </a:r>
            <a:endParaRPr lang="en-US" sz="950" dirty="0"/>
          </a:p>
        </p:txBody>
      </p:sp>
      <p:sp>
        <p:nvSpPr>
          <p:cNvPr id="18" name="card-text"/>
          <p:cNvSpPr txBox="1"/>
          <p:nvPr/>
        </p:nvSpPr>
        <p:spPr>
          <a:xfrm>
            <a:off x="1042416" y="3520440"/>
            <a:ext cx="28346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보고서를 슬라이드 콘텐츠로 구조화. 목차와 슬라이드별 핵심 메시지 확정.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4462272" y="3063240"/>
            <a:ext cx="3273552" cy="1783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label"/>
          <p:cNvSpPr txBox="1"/>
          <p:nvPr/>
        </p:nvSpPr>
        <p:spPr>
          <a:xfrm>
            <a:off x="4681728" y="320954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2단계</a:t>
            </a:r>
            <a:endParaRPr lang="en-US" sz="950" dirty="0"/>
          </a:p>
        </p:txBody>
      </p:sp>
      <p:sp>
        <p:nvSpPr>
          <p:cNvPr id="21" name="card-text"/>
          <p:cNvSpPr txBox="1"/>
          <p:nvPr/>
        </p:nvSpPr>
        <p:spPr>
          <a:xfrm>
            <a:off x="4681728" y="3520440"/>
            <a:ext cx="28346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설계도 프롬프트 붙여넣기 + 원본 PDF 첨부. 오른쪽 패널에 슬라이드 초안 생성.</a:t>
            </a:r>
            <a:endParaRPr lang="en-US" sz="1200" dirty="0"/>
          </a:p>
        </p:txBody>
      </p:sp>
      <p:sp>
        <p:nvSpPr>
          <p:cNvPr id="22" name="card"/>
          <p:cNvSpPr/>
          <p:nvPr/>
        </p:nvSpPr>
        <p:spPr>
          <a:xfrm>
            <a:off x="8101584" y="3063240"/>
            <a:ext cx="3273552" cy="1783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label"/>
          <p:cNvSpPr txBox="1"/>
          <p:nvPr/>
        </p:nvSpPr>
        <p:spPr>
          <a:xfrm>
            <a:off x="8321040" y="320954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3단계</a:t>
            </a:r>
            <a:endParaRPr lang="en-US" sz="950" dirty="0"/>
          </a:p>
        </p:txBody>
      </p:sp>
      <p:sp>
        <p:nvSpPr>
          <p:cNvPr id="24" name="card-text"/>
          <p:cNvSpPr txBox="1"/>
          <p:nvPr/>
        </p:nvSpPr>
        <p:spPr>
          <a:xfrm>
            <a:off x="8321040" y="3520440"/>
            <a:ext cx="28346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채팅·댓글·직접 편집으로 다듬기. PowerPoint / PDF / Google Slides로 내보내기.</a:t>
            </a:r>
            <a:endParaRPr lang="en-US" sz="1200" dirty="0"/>
          </a:p>
        </p:txBody>
      </p:sp>
      <p:sp>
        <p:nvSpPr>
          <p:cNvPr id="25" name="text"/>
          <p:cNvSpPr txBox="1"/>
          <p:nvPr/>
        </p:nvSpPr>
        <p:spPr>
          <a:xfrm>
            <a:off x="822960" y="51206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chemeClr val="accent3"/>
                </a:solidFill>
              </a:rPr>
              <a:t>채팅은 내용 설계에, Slides는 시각화·레이아웃에 강점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9069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강의 개요 · 작업 분리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775585" y="603504"/>
            <a:ext cx="8590407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accent2"/>
                </a:solidFill>
              </a:rPr>
              <a:t>내용 설계와 디자인 작업 분리하는 것이 효율적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737360"/>
            <a:ext cx="5148072" cy="2286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label"/>
          <p:cNvSpPr txBox="1"/>
          <p:nvPr/>
        </p:nvSpPr>
        <p:spPr>
          <a:xfrm>
            <a:off x="1042416" y="19019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CLAUDE 채팅 — 무엇을 담을지</a:t>
            </a:r>
            <a:endParaRPr lang="en-US" sz="950" dirty="0"/>
          </a:p>
        </p:txBody>
      </p:sp>
      <p:sp>
        <p:nvSpPr>
          <p:cNvPr id="7" name="list"/>
          <p:cNvSpPr txBox="1"/>
          <p:nvPr/>
        </p:nvSpPr>
        <p:spPr>
          <a:xfrm>
            <a:off x="1042416" y="228600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슬라이드에 담을 핵심 메시지·구조 정리</a:t>
            </a:r>
            <a:endParaRPr lang="en-US" sz="1200" dirty="0"/>
          </a:p>
          <a:p>
            <a:pPr marL="190500" indent="-1905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장수·흐름·메시지 위계를 먼저 확정</a:t>
            </a:r>
            <a:endParaRPr lang="en-US" sz="1200" dirty="0"/>
          </a:p>
          <a:p>
            <a:pPr marL="190500" indent="-1905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텍스트 중심의 빠른 반복 수정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6217920" y="1737360"/>
            <a:ext cx="5148072" cy="2286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label"/>
          <p:cNvSpPr txBox="1"/>
          <p:nvPr/>
        </p:nvSpPr>
        <p:spPr>
          <a:xfrm>
            <a:off x="6437376" y="19019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CLAUDE SLIDES — 어떻게 보일지</a:t>
            </a:r>
            <a:endParaRPr lang="en-US" sz="950" dirty="0"/>
          </a:p>
        </p:txBody>
      </p:sp>
      <p:sp>
        <p:nvSpPr>
          <p:cNvPr id="10" name="list"/>
          <p:cNvSpPr txBox="1"/>
          <p:nvPr/>
        </p:nvSpPr>
        <p:spPr>
          <a:xfrm>
            <a:off x="6437376" y="228600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확정된 내용을 디자인된 슬라이드로 생성</a:t>
            </a:r>
            <a:endParaRPr lang="en-US" sz="1200" dirty="0"/>
          </a:p>
          <a:p>
            <a:pPr marL="190500" indent="-1905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차트·아이콘·레이아웃으로 시각화</a:t>
            </a:r>
            <a:endParaRPr lang="en-US" sz="1200" dirty="0"/>
          </a:p>
          <a:p>
            <a:pPr marL="190500" indent="-1905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오른쪽 패널에서 바로 편집·발표</a:t>
            </a:r>
            <a:endParaRPr lang="en-US" sz="1200" dirty="0"/>
          </a:p>
        </p:txBody>
      </p:sp>
      <p:sp>
        <p:nvSpPr>
          <p:cNvPr id="11" name="text"/>
          <p:cNvSpPr txBox="1"/>
          <p:nvPr/>
        </p:nvSpPr>
        <p:spPr>
          <a:xfrm>
            <a:off x="822960" y="434340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chemeClr val="accent3"/>
                </a:solidFill>
              </a:rPr>
              <a:t>내용을 먼저 완료하고 디자인은 마지막에 작업하면 효율적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5093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사전 준비 · 접속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378075" y="603504"/>
            <a:ext cx="8987917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접속 방법 — 웹·데스크톱 같은 화면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737360"/>
            <a:ext cx="5148072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label"/>
          <p:cNvSpPr txBox="1"/>
          <p:nvPr/>
        </p:nvSpPr>
        <p:spPr>
          <a:xfrm>
            <a:off x="1042416" y="19019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①</a:t>
            </a:r>
            <a:endParaRPr lang="en-US" sz="950" dirty="0"/>
          </a:p>
        </p:txBody>
      </p:sp>
      <p:sp>
        <p:nvSpPr>
          <p:cNvPr id="7" name="text"/>
          <p:cNvSpPr txBox="1"/>
          <p:nvPr/>
        </p:nvSpPr>
        <p:spPr>
          <a:xfrm>
            <a:off x="1042416" y="219456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브라우저</a:t>
            </a:r>
            <a:endParaRPr lang="en-US" sz="1500" dirty="0"/>
          </a:p>
        </p:txBody>
      </p:sp>
      <p:sp>
        <p:nvSpPr>
          <p:cNvPr id="8" name="card-text"/>
          <p:cNvSpPr txBox="1"/>
          <p:nvPr/>
        </p:nvSpPr>
        <p:spPr>
          <a:xfrm>
            <a:off x="1042416" y="2615184"/>
            <a:ext cx="4709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claude.ai 로그인 → 왼쪽 사이드바 </a:t>
            </a:r>
            <a:r>
              <a:rPr lang="en-US" sz="1200" b="1" dirty="0">
                <a:solidFill>
                  <a:schemeClr val="tx2"/>
                </a:solidFill>
              </a:rPr>
              <a:t>‘아티팩트’</a:t>
            </a:r>
            <a:r>
              <a:rPr lang="en-US" sz="1200" dirty="0">
                <a:solidFill>
                  <a:schemeClr val="tx1"/>
                </a:solidFill>
              </a:rPr>
              <a:t> 또는 </a:t>
            </a:r>
            <a:r>
              <a:rPr lang="en-US" sz="1200" b="1" dirty="0">
                <a:solidFill>
                  <a:schemeClr val="tx2"/>
                </a:solidFill>
              </a:rPr>
              <a:t>‘Design’</a:t>
            </a:r>
            <a:r>
              <a:rPr lang="en-US" sz="1200" dirty="0">
                <a:solidFill>
                  <a:schemeClr val="tx1"/>
                </a:solidFill>
              </a:rPr>
              <a:t> 메뉴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6217920" y="1737360"/>
            <a:ext cx="5148072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label"/>
          <p:cNvSpPr txBox="1"/>
          <p:nvPr/>
        </p:nvSpPr>
        <p:spPr>
          <a:xfrm>
            <a:off x="6437376" y="19019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②</a:t>
            </a:r>
            <a:endParaRPr lang="en-US" sz="950" dirty="0"/>
          </a:p>
        </p:txBody>
      </p:sp>
      <p:sp>
        <p:nvSpPr>
          <p:cNvPr id="11" name="text"/>
          <p:cNvSpPr txBox="1"/>
          <p:nvPr/>
        </p:nvSpPr>
        <p:spPr>
          <a:xfrm>
            <a:off x="6437376" y="219456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Claude Desktop</a:t>
            </a:r>
            <a:endParaRPr lang="en-US" sz="1500" dirty="0"/>
          </a:p>
        </p:txBody>
      </p:sp>
      <p:sp>
        <p:nvSpPr>
          <p:cNvPr id="12" name="card-text"/>
          <p:cNvSpPr txBox="1"/>
          <p:nvPr/>
        </p:nvSpPr>
        <p:spPr>
          <a:xfrm>
            <a:off x="6437376" y="2615184"/>
            <a:ext cx="4709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앱 실행 → 같은 위치의 사이드바 메뉴. 화면 구성은 웹과 동일.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822960" y="3429000"/>
            <a:ext cx="10543032" cy="731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"/>
          <p:cNvSpPr txBox="1"/>
          <p:nvPr/>
        </p:nvSpPr>
        <p:spPr>
          <a:xfrm>
            <a:off x="1042416" y="3429000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3"/>
                </a:solidFill>
              </a:rPr>
              <a:t>실습은 Claude Desktop에서 진행 — 메뉴 이름·위치는 수시로 바뀌므로 기능 기준으로 확인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9069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사전 준비 · 사용 조건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775585" y="603504"/>
            <a:ext cx="8590407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사용 조건 — 무료 플랜 포함 모든 플랜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737360"/>
            <a:ext cx="188915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accent"/>
          <p:cNvSpPr/>
          <p:nvPr/>
        </p:nvSpPr>
        <p:spPr>
          <a:xfrm>
            <a:off x="822960" y="1737360"/>
            <a:ext cx="188915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"/>
          <p:cNvSpPr txBox="1"/>
          <p:nvPr/>
        </p:nvSpPr>
        <p:spPr>
          <a:xfrm>
            <a:off x="822960" y="1773936"/>
            <a:ext cx="18891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tx2"/>
                </a:solidFill>
              </a:rPr>
              <a:t>Free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2986430" y="1737360"/>
            <a:ext cx="188915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accent"/>
          <p:cNvSpPr/>
          <p:nvPr/>
        </p:nvSpPr>
        <p:spPr>
          <a:xfrm>
            <a:off x="2986430" y="1737360"/>
            <a:ext cx="188915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"/>
          <p:cNvSpPr txBox="1"/>
          <p:nvPr/>
        </p:nvSpPr>
        <p:spPr>
          <a:xfrm>
            <a:off x="2986430" y="1773936"/>
            <a:ext cx="18891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tx2"/>
                </a:solidFill>
              </a:rPr>
              <a:t>Pro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5149901" y="1737360"/>
            <a:ext cx="188915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accent"/>
          <p:cNvSpPr/>
          <p:nvPr/>
        </p:nvSpPr>
        <p:spPr>
          <a:xfrm>
            <a:off x="5149901" y="1737360"/>
            <a:ext cx="188915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"/>
          <p:cNvSpPr txBox="1"/>
          <p:nvPr/>
        </p:nvSpPr>
        <p:spPr>
          <a:xfrm>
            <a:off x="5149901" y="1773936"/>
            <a:ext cx="18891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tx2"/>
                </a:solidFill>
              </a:rPr>
              <a:t>Max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7313371" y="1737360"/>
            <a:ext cx="188915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accent"/>
          <p:cNvSpPr/>
          <p:nvPr/>
        </p:nvSpPr>
        <p:spPr>
          <a:xfrm>
            <a:off x="7313371" y="1737360"/>
            <a:ext cx="188915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"/>
          <p:cNvSpPr txBox="1"/>
          <p:nvPr/>
        </p:nvSpPr>
        <p:spPr>
          <a:xfrm>
            <a:off x="7313371" y="1773936"/>
            <a:ext cx="18891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tx2"/>
                </a:solidFill>
              </a:rPr>
              <a:t>Team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9476842" y="1737360"/>
            <a:ext cx="188915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accent"/>
          <p:cNvSpPr/>
          <p:nvPr/>
        </p:nvSpPr>
        <p:spPr>
          <a:xfrm>
            <a:off x="9476842" y="1737360"/>
            <a:ext cx="1889150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"/>
          <p:cNvSpPr txBox="1"/>
          <p:nvPr/>
        </p:nvSpPr>
        <p:spPr>
          <a:xfrm>
            <a:off x="9476842" y="1773936"/>
            <a:ext cx="18891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tx2"/>
                </a:solidFill>
              </a:rPr>
              <a:t>Enterprise</a:t>
            </a:r>
            <a:endParaRPr lang="en-US" sz="1400" dirty="0"/>
          </a:p>
        </p:txBody>
      </p:sp>
      <p:sp>
        <p:nvSpPr>
          <p:cNvPr id="20" name="list"/>
          <p:cNvSpPr txBox="1"/>
          <p:nvPr/>
        </p:nvSpPr>
        <p:spPr>
          <a:xfrm>
            <a:off x="822960" y="2606040"/>
            <a:ext cx="1054303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30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chemeClr val="tx1"/>
                </a:solidFill>
              </a:rPr>
              <a:t>무료 플랜 포함 모든 플랜에서 사용 — 별도 요금제 없이 일반 채팅과 같은 사용 한도 공유</a:t>
            </a:r>
            <a:endParaRPr lang="en-US" sz="1300" dirty="0"/>
          </a:p>
          <a:p>
            <a:pPr marL="190500" indent="-190500">
              <a:lnSpc>
                <a:spcPct val="130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chemeClr val="tx1"/>
                </a:solidFill>
              </a:rPr>
              <a:t>한도에 도달하면 초기화 시점까지 대기 — Pro·Max는 ‘사용량 추가 구매’로 계속 사용 가능 (Team은 조직 소유자가 Organization settings &gt; Usage에서 켬)</a:t>
            </a:r>
            <a:endParaRPr lang="en-US" sz="1300" dirty="0"/>
          </a:p>
          <a:p>
            <a:pPr marL="190500" indent="-190500">
              <a:lnSpc>
                <a:spcPct val="130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chemeClr val="tx1"/>
                </a:solidFill>
              </a:rPr>
              <a:t>슬라이드가 만들어지지 않으면 — 설정 &gt; 기능에서 ‘클라우드에서 코드 실행’과 ‘아티팩트’ 켜짐 확인</a:t>
            </a:r>
            <a:endParaRPr lang="en-US" sz="1300" dirty="0"/>
          </a:p>
          <a:p>
            <a:pPr marL="190500" indent="-190500">
              <a:lnSpc>
                <a:spcPct val="130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chemeClr val="tx1"/>
                </a:solidFill>
              </a:rPr>
              <a:t>Enterprise는 2026. 10. 15.부터 기본 사용 가능 — 안 보이면 관리자에게 Organization settings &gt; Artifacts 활성화 요청</a:t>
            </a:r>
            <a:endParaRPr lang="en-US" sz="1300" dirty="0"/>
          </a:p>
          <a:p>
            <a:pPr marL="190500" indent="-190500">
              <a:lnSpc>
                <a:spcPct val="130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b="1" dirty="0">
                <a:solidFill>
                  <a:schemeClr val="accent1"/>
                </a:solidFill>
              </a:rPr>
              <a:t>화면·메뉴 이름은 계속 변경 중</a:t>
            </a:r>
            <a:r>
              <a:rPr lang="en-US" sz="1300" dirty="0">
                <a:solidFill>
                  <a:schemeClr val="accent3"/>
                </a:solidFill>
              </a:rPr>
              <a:t> — 2026. 10. 기준 내용. 기능 기준으로 확인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"/>
          <p:cNvSpPr txBox="1"/>
          <p:nvPr/>
        </p:nvSpPr>
        <p:spPr>
          <a:xfrm>
            <a:off x="914400" y="224028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chemeClr val="accent1"/>
                </a:solidFill>
              </a:rPr>
              <a:t>PART 2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3063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Claude 채팅으로 슬라이드 내용 구성</a:t>
            </a:r>
            <a:endParaRPr lang="en-US" sz="3200" dirty="0"/>
          </a:p>
        </p:txBody>
      </p:sp>
      <p:sp>
        <p:nvSpPr>
          <p:cNvPr id="4" name="subtitle"/>
          <p:cNvSpPr txBox="1"/>
          <p:nvPr/>
        </p:nvSpPr>
        <p:spPr>
          <a:xfrm>
            <a:off x="640080" y="39776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chemeClr val="accent3"/>
                </a:solidFill>
              </a:rPr>
              <a:t>STEP 1 · 내용 설계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8373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STEP 1 · 내용 구성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705989" y="603504"/>
            <a:ext cx="866000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일반 채팅에서 보고서를 ‘슬라이드 내용’으로 구조화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481328"/>
            <a:ext cx="10543032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0704" y="148132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563624" y="1481328"/>
            <a:ext cx="9564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새 채팅 시작</a:t>
            </a:r>
            <a:r>
              <a:rPr lang="en-US" sz="1250" dirty="0">
                <a:solidFill>
                  <a:schemeClr val="tx1"/>
                </a:solidFill>
              </a:rPr>
              <a:t> — 왼쪽 사이드바 ‘새로 만들기’</a:t>
            </a:r>
            <a:endParaRPr lang="en-US" sz="1250" dirty="0"/>
          </a:p>
        </p:txBody>
      </p:sp>
      <p:sp>
        <p:nvSpPr>
          <p:cNvPr id="8" name="divider"/>
          <p:cNvSpPr/>
          <p:nvPr/>
        </p:nvSpPr>
        <p:spPr>
          <a:xfrm>
            <a:off x="1005840" y="2048256"/>
            <a:ext cx="10177272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1060704" y="204825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563624" y="2048256"/>
            <a:ext cx="9564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보고서 업로드</a:t>
            </a:r>
            <a:r>
              <a:rPr lang="en-US" sz="1250" dirty="0">
                <a:solidFill>
                  <a:schemeClr val="tx1"/>
                </a:solidFill>
              </a:rPr>
              <a:t> — 입력창 + → ‘파일 업로드 또는 추가’로 강의자료 PDF 업로드</a:t>
            </a:r>
            <a:endParaRPr lang="en-US" sz="1250" dirty="0"/>
          </a:p>
        </p:txBody>
      </p:sp>
      <p:sp>
        <p:nvSpPr>
          <p:cNvPr id="11" name="divider"/>
          <p:cNvSpPr/>
          <p:nvPr/>
        </p:nvSpPr>
        <p:spPr>
          <a:xfrm>
            <a:off x="1005840" y="2615184"/>
            <a:ext cx="10177272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1060704" y="261518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03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563624" y="2615184"/>
            <a:ext cx="9564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구조화 요청</a:t>
            </a:r>
            <a:r>
              <a:rPr lang="en-US" sz="1250" dirty="0">
                <a:solidFill>
                  <a:schemeClr val="tx1"/>
                </a:solidFill>
              </a:rPr>
              <a:t> — 아래 프롬프트 입력</a:t>
            </a:r>
            <a:endParaRPr lang="en-US" sz="1250" dirty="0"/>
          </a:p>
        </p:txBody>
      </p:sp>
      <p:sp>
        <p:nvSpPr>
          <p:cNvPr id="14" name="card"/>
          <p:cNvSpPr/>
          <p:nvPr/>
        </p:nvSpPr>
        <p:spPr>
          <a:xfrm>
            <a:off x="822960" y="3310128"/>
            <a:ext cx="10543032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accent"/>
          <p:cNvSpPr/>
          <p:nvPr/>
        </p:nvSpPr>
        <p:spPr>
          <a:xfrm>
            <a:off x="822960" y="3310128"/>
            <a:ext cx="54864" cy="3383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prompt"/>
          <p:cNvSpPr txBox="1"/>
          <p:nvPr/>
        </p:nvSpPr>
        <p:spPr>
          <a:xfrm>
            <a:off x="1097280" y="3474720"/>
            <a:ext cx="1004011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첨부한 보고서를 발표용 슬라이드로 만들 거야. 지금은 슬라이드는 만들지 말고 '내용 구조'만 잡아줘.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- 발표 대상: 정책 및 R&amp;D 실무자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- 목적: 한국 고령화의 속도·구조·취약성을 데이터로 설명하고, R&amp;D 관점의 대응 필요성을 전달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- 분량: 슬라이드 10장 내외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요청 사항: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1) 전체 슬라이드 목차(흐름)를 먼저 제시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2) 슬라이드별로 다음을 작성: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   - 슬라이드 제목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   - 핵심 메시지 1줄 (그 장에서 청중이 기억할 단 하나)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   - 본문 불릿 2~4개 (간결하게)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   - 필요한 시각자료 제안 (차트/표/다이어그램 종류와 데이터)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3) 한 슬라이드에 글이 너무 많지 않게, 발표용으로 압축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4) 수치·고유명사는 첨부 파일의 원본을 정확히 따를 것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   (첨부에 본문이 있는 내용만 사용하고, 목차에만 보이는 장은 제외)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604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STEP 1 · 다듬기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473579" y="603504"/>
            <a:ext cx="889241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초안을 대화로 조정 — 작게, 자주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737360"/>
            <a:ext cx="10543032" cy="2286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accent"/>
          <p:cNvSpPr/>
          <p:nvPr/>
        </p:nvSpPr>
        <p:spPr>
          <a:xfrm>
            <a:off x="822960" y="1737360"/>
            <a:ext cx="54864" cy="2286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label"/>
          <p:cNvSpPr txBox="1"/>
          <p:nvPr/>
        </p:nvSpPr>
        <p:spPr>
          <a:xfrm>
            <a:off x="1097280" y="1865376"/>
            <a:ext cx="9994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수정 요청 예시</a:t>
            </a:r>
            <a:endParaRPr lang="en-US" sz="900" dirty="0"/>
          </a:p>
        </p:txBody>
      </p:sp>
      <p:sp>
        <p:nvSpPr>
          <p:cNvPr id="8" name="text"/>
          <p:cNvSpPr txBox="1"/>
          <p:nvPr/>
        </p:nvSpPr>
        <p:spPr>
          <a:xfrm>
            <a:off x="1097280" y="2157984"/>
            <a:ext cx="99943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“3번 슬라이드는 두 장으로 나눠줘. 내용이 너무 많아.”</a:t>
            </a:r>
            <a:endParaRPr lang="en-US" sz="1300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“결론 슬라이드에 'R&amp;D 관점 시사점' 3가지를 넣어줘.”</a:t>
            </a:r>
            <a:endParaRPr lang="en-US" sz="1300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“5번 슬라이드 불릿을 더 간결하게 줄여줘.”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822960" y="4343400"/>
            <a:ext cx="10543032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label"/>
          <p:cNvSpPr txBox="1"/>
          <p:nvPr/>
        </p:nvSpPr>
        <p:spPr>
          <a:xfrm>
            <a:off x="1042416" y="448970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원칙</a:t>
            </a:r>
            <a:endParaRPr lang="en-US" sz="950" dirty="0"/>
          </a:p>
        </p:txBody>
      </p:sp>
      <p:sp>
        <p:nvSpPr>
          <p:cNvPr id="11" name="card-text"/>
          <p:cNvSpPr txBox="1"/>
          <p:nvPr/>
        </p:nvSpPr>
        <p:spPr>
          <a:xfrm>
            <a:off x="1042416" y="4800600"/>
            <a:ext cx="10104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텍스트 단계에서 분량·메시지를 먼저 확정 — 이후 디자인이 흔들리지 않는 구조. 슬라이드 번호를 분명히 지목할수록 정확한 수정.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8373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STEP 1 · 결과 예시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705989" y="603504"/>
            <a:ext cx="866000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accent2"/>
                </a:solidFill>
              </a:rPr>
              <a:t>내용 확정 후 슬라이드 생성 단계로 이동</a:t>
            </a:r>
            <a:endParaRPr lang="en-US" sz="2500" dirty="0"/>
          </a:p>
        </p:txBody>
      </p:sp>
      <p:sp>
        <p:nvSpPr>
          <p:cNvPr id="5" name="list"/>
          <p:cNvSpPr txBox="1"/>
          <p:nvPr/>
        </p:nvSpPr>
        <p:spPr>
          <a:xfrm>
            <a:off x="822960" y="173736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b="1" dirty="0">
                <a:solidFill>
                  <a:schemeClr val="accent1"/>
                </a:solidFill>
              </a:rPr>
              <a:t>‘ppt슬라이드 내용 프롬프트.txt’</a:t>
            </a:r>
            <a:r>
              <a:rPr lang="en-US" sz="1300" dirty="0">
                <a:solidFill>
                  <a:schemeClr val="tx1"/>
                </a:solidFill>
              </a:rPr>
              <a:t> — 강사가 미리 생성한 결과 예시(10장 설계도)</a:t>
            </a:r>
            <a:endParaRPr lang="en-US" sz="1300" dirty="0"/>
          </a:p>
        </p:txBody>
      </p:sp>
      <p:sp>
        <p:nvSpPr>
          <p:cNvPr id="6" name="label"/>
          <p:cNvSpPr txBox="1"/>
          <p:nvPr/>
        </p:nvSpPr>
        <p:spPr>
          <a:xfrm>
            <a:off x="822960" y="2468880"/>
            <a:ext cx="10543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설계도에 담긴 내용 — 슬라이드마다</a:t>
            </a:r>
            <a:endParaRPr lang="en-US" sz="950" dirty="0"/>
          </a:p>
        </p:txBody>
      </p:sp>
      <p:sp>
        <p:nvSpPr>
          <p:cNvPr id="7" name="card"/>
          <p:cNvSpPr/>
          <p:nvPr/>
        </p:nvSpPr>
        <p:spPr>
          <a:xfrm>
            <a:off x="822960" y="2788920"/>
            <a:ext cx="2430018" cy="685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"/>
          <p:cNvSpPr txBox="1"/>
          <p:nvPr/>
        </p:nvSpPr>
        <p:spPr>
          <a:xfrm>
            <a:off x="822960" y="2788920"/>
            <a:ext cx="2430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chemeClr val="tx2"/>
                </a:solidFill>
              </a:rPr>
              <a:t>슬라이드 제목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3527298" y="2788920"/>
            <a:ext cx="2430018" cy="685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"/>
          <p:cNvSpPr txBox="1"/>
          <p:nvPr/>
        </p:nvSpPr>
        <p:spPr>
          <a:xfrm>
            <a:off x="3527298" y="2788920"/>
            <a:ext cx="2430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chemeClr val="tx2"/>
                </a:solidFill>
              </a:rPr>
              <a:t>핵심 메시지 1줄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6231636" y="2788920"/>
            <a:ext cx="2430018" cy="685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"/>
          <p:cNvSpPr txBox="1"/>
          <p:nvPr/>
        </p:nvSpPr>
        <p:spPr>
          <a:xfrm>
            <a:off x="6231636" y="2788920"/>
            <a:ext cx="2430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chemeClr val="tx2"/>
                </a:solidFill>
              </a:rPr>
              <a:t>본문 불릿 2~4개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8935974" y="2788920"/>
            <a:ext cx="2430018" cy="685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"/>
          <p:cNvSpPr txBox="1"/>
          <p:nvPr/>
        </p:nvSpPr>
        <p:spPr>
          <a:xfrm>
            <a:off x="8935974" y="2788920"/>
            <a:ext cx="2430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chemeClr val="tx2"/>
                </a:solidFill>
              </a:rPr>
              <a:t>시각자료 제안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822960" y="3886200"/>
            <a:ext cx="10543032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label"/>
          <p:cNvSpPr txBox="1"/>
          <p:nvPr/>
        </p:nvSpPr>
        <p:spPr>
          <a:xfrm>
            <a:off x="1042416" y="403250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체크포인트</a:t>
            </a:r>
            <a:endParaRPr lang="en-US" sz="950" dirty="0"/>
          </a:p>
        </p:txBody>
      </p:sp>
      <p:sp>
        <p:nvSpPr>
          <p:cNvPr id="17" name="card-text"/>
          <p:cNvSpPr txBox="1"/>
          <p:nvPr/>
        </p:nvSpPr>
        <p:spPr>
          <a:xfrm>
            <a:off x="1042416" y="4343400"/>
            <a:ext cx="10104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슬라이드 장수 · 흐름 · 각 장의 핵심 메시지 확정 여부 — 디자인 전에 ‘내용’을 먼저 확정하는 것이 핵심.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"/>
          <p:cNvSpPr txBox="1"/>
          <p:nvPr/>
        </p:nvSpPr>
        <p:spPr>
          <a:xfrm>
            <a:off x="914400" y="224028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chemeClr val="accent1"/>
                </a:solidFill>
              </a:rPr>
              <a:t>PART 3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3063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Claude Slides로 PPT 만들기</a:t>
            </a:r>
            <a:endParaRPr lang="en-US" sz="3200" dirty="0"/>
          </a:p>
        </p:txBody>
      </p:sp>
      <p:sp>
        <p:nvSpPr>
          <p:cNvPr id="4" name="subtitle"/>
          <p:cNvSpPr txBox="1"/>
          <p:nvPr/>
        </p:nvSpPr>
        <p:spPr>
          <a:xfrm>
            <a:off x="640080" y="39776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chemeClr val="accent3"/>
                </a:solidFill>
              </a:rPr>
              <a:t>STEP 2 · 슬라이드 생성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439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STEP 2 · 시작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308479" y="603504"/>
            <a:ext cx="905751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슬라이드 시작 — 사이드바 ‘아티팩트’ → ‘슬라이드’</a:t>
            </a:r>
            <a:endParaRPr lang="en-US" sz="2500" dirty="0"/>
          </a:p>
        </p:txBody>
      </p:sp>
      <p:sp>
        <p:nvSpPr>
          <p:cNvPr id="5" name="screenshot-frame"/>
          <p:cNvSpPr/>
          <p:nvPr/>
        </p:nvSpPr>
        <p:spPr>
          <a:xfrm>
            <a:off x="6309360" y="1618488"/>
            <a:ext cx="5084064" cy="3273552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screenshot" descr="아티팩트 화면 — 상단 안내 'Claude Design이 이제 여기에 있습니다'와 '새로운 무언가 만들기'의 문서·슬라이드·디자인·대시보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2" y="1645920"/>
            <a:ext cx="5029200" cy="3218688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822960" y="1645920"/>
            <a:ext cx="5193792" cy="3218688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step-no"/>
          <p:cNvSpPr txBox="1"/>
          <p:nvPr/>
        </p:nvSpPr>
        <p:spPr>
          <a:xfrm>
            <a:off x="1042416" y="1645920"/>
            <a:ext cx="45720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step-text"/>
          <p:cNvSpPr txBox="1"/>
          <p:nvPr/>
        </p:nvSpPr>
        <p:spPr>
          <a:xfrm>
            <a:off x="1554480" y="1645920"/>
            <a:ext cx="4242816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왼쪽 사이드바 </a:t>
            </a:r>
            <a:r>
              <a:rPr lang="en-US" sz="1250" b="1" dirty="0">
                <a:solidFill>
                  <a:schemeClr val="tx2"/>
                </a:solidFill>
              </a:rPr>
              <a:t>‘아티팩트’</a:t>
            </a:r>
            <a:r>
              <a:rPr lang="en-US" sz="1250" dirty="0">
                <a:solidFill>
                  <a:schemeClr val="tx1"/>
                </a:solidFill>
              </a:rPr>
              <a:t> 클릭 — ‘Design’ 메뉴에서도 같은 ‘슬라이드’ 선택 가능</a:t>
            </a:r>
            <a:endParaRPr lang="en-US" sz="1250" dirty="0"/>
          </a:p>
        </p:txBody>
      </p:sp>
      <p:sp>
        <p:nvSpPr>
          <p:cNvPr id="10" name="divider"/>
          <p:cNvSpPr/>
          <p:nvPr/>
        </p:nvSpPr>
        <p:spPr>
          <a:xfrm>
            <a:off x="1005840" y="2718816"/>
            <a:ext cx="4828032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11" name="step-no"/>
          <p:cNvSpPr txBox="1"/>
          <p:nvPr/>
        </p:nvSpPr>
        <p:spPr>
          <a:xfrm>
            <a:off x="1042416" y="2718816"/>
            <a:ext cx="45720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step-text"/>
          <p:cNvSpPr txBox="1"/>
          <p:nvPr/>
        </p:nvSpPr>
        <p:spPr>
          <a:xfrm>
            <a:off x="1554480" y="2718816"/>
            <a:ext cx="4242816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chemeClr val="tx2"/>
                </a:solidFill>
              </a:rPr>
              <a:t>‘새로운 무언가 만들기’</a:t>
            </a:r>
            <a:r>
              <a:rPr lang="en-US" sz="1250" dirty="0">
                <a:solidFill>
                  <a:schemeClr val="tx1"/>
                </a:solidFill>
              </a:rPr>
              <a:t>에서 </a:t>
            </a:r>
            <a:r>
              <a:rPr lang="en-US" sz="1250" b="1" dirty="0">
                <a:solidFill>
                  <a:schemeClr val="tx2"/>
                </a:solidFill>
              </a:rPr>
              <a:t>‘슬라이드’</a:t>
            </a:r>
            <a:r>
              <a:rPr lang="en-US" sz="1250" dirty="0">
                <a:solidFill>
                  <a:schemeClr val="tx1"/>
                </a:solidFill>
              </a:rPr>
              <a:t> 클릭 → 슬라이드 전용 채팅 시작</a:t>
            </a:r>
            <a:endParaRPr lang="en-US" sz="1250" dirty="0"/>
          </a:p>
        </p:txBody>
      </p:sp>
      <p:sp>
        <p:nvSpPr>
          <p:cNvPr id="13" name="divider"/>
          <p:cNvSpPr/>
          <p:nvPr/>
        </p:nvSpPr>
        <p:spPr>
          <a:xfrm>
            <a:off x="1005840" y="3791712"/>
            <a:ext cx="4828032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14" name="step-no"/>
          <p:cNvSpPr txBox="1"/>
          <p:nvPr/>
        </p:nvSpPr>
        <p:spPr>
          <a:xfrm>
            <a:off x="1042416" y="3791712"/>
            <a:ext cx="45720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03</a:t>
            </a:r>
            <a:endParaRPr lang="en-US" sz="1000" dirty="0"/>
          </a:p>
        </p:txBody>
      </p:sp>
      <p:sp>
        <p:nvSpPr>
          <p:cNvPr id="15" name="step-text"/>
          <p:cNvSpPr txBox="1"/>
          <p:nvPr/>
        </p:nvSpPr>
        <p:spPr>
          <a:xfrm>
            <a:off x="1554480" y="3791712"/>
            <a:ext cx="4242816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chemeClr val="tx2"/>
                </a:solidFill>
              </a:rPr>
              <a:t>다른 방법</a:t>
            </a:r>
            <a:r>
              <a:rPr lang="en-US" sz="1250" dirty="0">
                <a:solidFill>
                  <a:schemeClr val="tx1"/>
                </a:solidFill>
              </a:rPr>
              <a:t> — 1단계 채팅에서 “이 설계도대로 슬라이드 만들어줘” 요청해도 생성</a:t>
            </a:r>
            <a:endParaRPr lang="en-US" sz="1250" dirty="0"/>
          </a:p>
        </p:txBody>
      </p:sp>
      <p:sp>
        <p:nvSpPr>
          <p:cNvPr id="16" name="text"/>
          <p:cNvSpPr txBox="1"/>
          <p:nvPr/>
        </p:nvSpPr>
        <p:spPr>
          <a:xfrm>
            <a:off x="822960" y="51389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chemeClr val="accent3"/>
                </a:solidFill>
              </a:rPr>
              <a:t>UI 명칭·위치는 수시로 변경 — 기능 기준으로 확인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2167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STEP 2 · 디자인 시스템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3036189" y="603504"/>
            <a:ext cx="832980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accent2"/>
                </a:solidFill>
              </a:rPr>
              <a:t>디자인 시스템이란 — 덱 전체에 적용되는 스타일 규칙 세트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737360"/>
            <a:ext cx="5148072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label"/>
          <p:cNvSpPr txBox="1"/>
          <p:nvPr/>
        </p:nvSpPr>
        <p:spPr>
          <a:xfrm>
            <a:off x="1042416" y="19019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①</a:t>
            </a:r>
            <a:endParaRPr lang="en-US" sz="950" dirty="0"/>
          </a:p>
        </p:txBody>
      </p:sp>
      <p:sp>
        <p:nvSpPr>
          <p:cNvPr id="7" name="text"/>
          <p:cNvSpPr txBox="1"/>
          <p:nvPr/>
        </p:nvSpPr>
        <p:spPr>
          <a:xfrm>
            <a:off x="1042416" y="219456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색상 팔레트</a:t>
            </a:r>
            <a:endParaRPr lang="en-US" sz="1500" dirty="0"/>
          </a:p>
        </p:txBody>
      </p:sp>
      <p:sp>
        <p:nvSpPr>
          <p:cNvPr id="8" name="card-text"/>
          <p:cNvSpPr txBox="1"/>
          <p:nvPr/>
        </p:nvSpPr>
        <p:spPr>
          <a:xfrm>
            <a:off x="1042416" y="261518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주색·보조색·강조색 — 배경·표·차트 색까지 일괄 결정.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6217920" y="1737360"/>
            <a:ext cx="5148072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label"/>
          <p:cNvSpPr txBox="1"/>
          <p:nvPr/>
        </p:nvSpPr>
        <p:spPr>
          <a:xfrm>
            <a:off x="6437376" y="19019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②</a:t>
            </a:r>
            <a:endParaRPr lang="en-US" sz="950" dirty="0"/>
          </a:p>
        </p:txBody>
      </p:sp>
      <p:sp>
        <p:nvSpPr>
          <p:cNvPr id="11" name="text"/>
          <p:cNvSpPr txBox="1"/>
          <p:nvPr/>
        </p:nvSpPr>
        <p:spPr>
          <a:xfrm>
            <a:off x="6437376" y="219456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타이포그래피</a:t>
            </a:r>
            <a:endParaRPr lang="en-US" sz="1500" dirty="0"/>
          </a:p>
        </p:txBody>
      </p:sp>
      <p:sp>
        <p:nvSpPr>
          <p:cNvPr id="12" name="card-text"/>
          <p:cNvSpPr txBox="1"/>
          <p:nvPr/>
        </p:nvSpPr>
        <p:spPr>
          <a:xfrm>
            <a:off x="6437376" y="261518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글꼴 종류·크기·굵기 — 제목과 본문의 위계 고정.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822960" y="3383280"/>
            <a:ext cx="5148072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label"/>
          <p:cNvSpPr txBox="1"/>
          <p:nvPr/>
        </p:nvSpPr>
        <p:spPr>
          <a:xfrm>
            <a:off x="1042416" y="35478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③</a:t>
            </a:r>
            <a:endParaRPr lang="en-US" sz="950" dirty="0"/>
          </a:p>
        </p:txBody>
      </p:sp>
      <p:sp>
        <p:nvSpPr>
          <p:cNvPr id="15" name="text"/>
          <p:cNvSpPr txBox="1"/>
          <p:nvPr/>
        </p:nvSpPr>
        <p:spPr>
          <a:xfrm>
            <a:off x="1042416" y="384048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컴포넌트</a:t>
            </a:r>
            <a:endParaRPr lang="en-US" sz="1500" dirty="0"/>
          </a:p>
        </p:txBody>
      </p:sp>
      <p:sp>
        <p:nvSpPr>
          <p:cNvPr id="16" name="card-text"/>
          <p:cNvSpPr txBox="1"/>
          <p:nvPr/>
        </p:nvSpPr>
        <p:spPr>
          <a:xfrm>
            <a:off x="1042416" y="426110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카드·버튼·표·차트 등 반복 사용하는 요소의 형태.</a:t>
            </a:r>
            <a:endParaRPr lang="en-US" sz="1200" dirty="0"/>
          </a:p>
        </p:txBody>
      </p:sp>
      <p:sp>
        <p:nvSpPr>
          <p:cNvPr id="17" name="card"/>
          <p:cNvSpPr/>
          <p:nvPr/>
        </p:nvSpPr>
        <p:spPr>
          <a:xfrm>
            <a:off x="6217920" y="3383280"/>
            <a:ext cx="5148072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label"/>
          <p:cNvSpPr txBox="1"/>
          <p:nvPr/>
        </p:nvSpPr>
        <p:spPr>
          <a:xfrm>
            <a:off x="6437376" y="35478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④</a:t>
            </a:r>
            <a:endParaRPr lang="en-US" sz="950" dirty="0"/>
          </a:p>
        </p:txBody>
      </p:sp>
      <p:sp>
        <p:nvSpPr>
          <p:cNvPr id="19" name="text"/>
          <p:cNvSpPr txBox="1"/>
          <p:nvPr/>
        </p:nvSpPr>
        <p:spPr>
          <a:xfrm>
            <a:off x="6437376" y="384048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레이아웃 패턴</a:t>
            </a:r>
            <a:endParaRPr lang="en-US" sz="1500" dirty="0"/>
          </a:p>
        </p:txBody>
      </p:sp>
      <p:sp>
        <p:nvSpPr>
          <p:cNvPr id="20" name="card-text"/>
          <p:cNvSpPr txBox="1"/>
          <p:nvPr/>
        </p:nvSpPr>
        <p:spPr>
          <a:xfrm>
            <a:off x="6437376" y="426110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여백·그리드·슬라이드 구조 — 장마다 동일한 배치 규칙.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822960" y="5120640"/>
            <a:ext cx="10543032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text"/>
          <p:cNvSpPr txBox="1"/>
          <p:nvPr/>
        </p:nvSpPr>
        <p:spPr>
          <a:xfrm>
            <a:off x="1042416" y="5120640"/>
            <a:ext cx="10104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accent3"/>
                </a:solidFill>
              </a:rPr>
              <a:t>선택한 디자인 시스템은 모든 슬라이드에 자동 적용 — 프롬프트마다 색·글꼴을 지시할 필요 없음. 조직에 기본 디자인 시스템이 있으면 새 덱에 자동 적용.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2167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STEP 2 · 디자인 시스템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3036189" y="603504"/>
            <a:ext cx="832980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accent2"/>
                </a:solidFill>
              </a:rPr>
              <a:t>디자인 시스템 선택 — 없으면 프롬프트로 방향 지정</a:t>
            </a:r>
            <a:endParaRPr lang="en-US" sz="2500" dirty="0"/>
          </a:p>
        </p:txBody>
      </p:sp>
      <p:sp>
        <p:nvSpPr>
          <p:cNvPr id="5" name="screenshot-frame"/>
          <p:cNvSpPr/>
          <p:nvPr/>
        </p:nvSpPr>
        <p:spPr>
          <a:xfrm>
            <a:off x="7734945" y="1618488"/>
            <a:ext cx="3658479" cy="3209544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screenshot" descr="슬라이드 시작 화면의 '디자인 시스템 선택…' 드롭다운 — 등록된 디자인 시스템이 없으면 '디자인 시스템 관리'만 표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2377" y="1645920"/>
            <a:ext cx="3603615" cy="315468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822960" y="1645920"/>
            <a:ext cx="6619377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label"/>
          <p:cNvSpPr txBox="1"/>
          <p:nvPr/>
        </p:nvSpPr>
        <p:spPr>
          <a:xfrm>
            <a:off x="1042416" y="1792224"/>
            <a:ext cx="61804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디자인 시스템이 있을 때</a:t>
            </a:r>
            <a:endParaRPr lang="en-US" sz="950" dirty="0"/>
          </a:p>
        </p:txBody>
      </p:sp>
      <p:sp>
        <p:nvSpPr>
          <p:cNvPr id="9" name="list"/>
          <p:cNvSpPr txBox="1"/>
          <p:nvPr/>
        </p:nvSpPr>
        <p:spPr>
          <a:xfrm>
            <a:off x="1042416" y="2121408"/>
            <a:ext cx="618046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300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슬라이드 시작 화면의 </a:t>
            </a:r>
            <a:r>
              <a:rPr lang="en-US" sz="1200" b="1" dirty="0">
                <a:solidFill>
                  <a:schemeClr val="tx2"/>
                </a:solidFill>
              </a:rPr>
              <a:t>‘디자인 시스템 선택…’</a:t>
            </a:r>
            <a:r>
              <a:rPr lang="en-US" sz="1200" dirty="0">
                <a:solidFill>
                  <a:schemeClr val="tx1"/>
                </a:solidFill>
              </a:rPr>
              <a:t> → 목록에서 선택</a:t>
            </a:r>
            <a:endParaRPr lang="en-US" sz="1200" dirty="0"/>
          </a:p>
          <a:p>
            <a:pPr marL="190500" indent="-190500">
              <a:lnSpc>
                <a:spcPct val="1300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일반 채팅에서 요청할 때는 설정 &gt; 디자인 시스템의 기본값이 자동 적용 — 입력창 </a:t>
            </a:r>
            <a:r>
              <a:rPr lang="en-US" sz="1200" b="1" dirty="0">
                <a:solidFill>
                  <a:schemeClr val="tx2"/>
                </a:solidFill>
              </a:rPr>
              <a:t>+</a:t>
            </a:r>
            <a:r>
              <a:rPr lang="en-US" sz="1200" dirty="0">
                <a:solidFill>
                  <a:schemeClr val="tx1"/>
                </a:solidFill>
              </a:rPr>
              <a:t> → </a:t>
            </a:r>
            <a:r>
              <a:rPr lang="en-US" sz="1200" b="1" dirty="0">
                <a:solidFill>
                  <a:schemeClr val="tx2"/>
                </a:solidFill>
              </a:rPr>
              <a:t>‘디자인 시스템’</a:t>
            </a:r>
            <a:r>
              <a:rPr lang="en-US" sz="1200" dirty="0">
                <a:solidFill>
                  <a:schemeClr val="tx1"/>
                </a:solidFill>
              </a:rPr>
              <a:t>은 관리·새로 만들기 메뉴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822960" y="3108960"/>
            <a:ext cx="6619377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label"/>
          <p:cNvSpPr txBox="1"/>
          <p:nvPr/>
        </p:nvSpPr>
        <p:spPr>
          <a:xfrm>
            <a:off x="1042416" y="3255264"/>
            <a:ext cx="61804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없을 때 — 처음 쓰는 경우</a:t>
            </a:r>
            <a:endParaRPr lang="en-US" sz="950" dirty="0"/>
          </a:p>
        </p:txBody>
      </p:sp>
      <p:sp>
        <p:nvSpPr>
          <p:cNvPr id="12" name="list"/>
          <p:cNvSpPr txBox="1"/>
          <p:nvPr/>
        </p:nvSpPr>
        <p:spPr>
          <a:xfrm>
            <a:off x="1042416" y="3584448"/>
            <a:ext cx="618046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300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선택 없이 진행 — Claude가 내용에 맞춰 스타일 결정</a:t>
            </a:r>
            <a:endParaRPr lang="en-US" sz="1200" dirty="0"/>
          </a:p>
          <a:p>
            <a:pPr marL="190500" indent="-190500">
              <a:lnSpc>
                <a:spcPct val="1300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원하는 방향은 설계도 프롬프트에 한 줄로 추가</a:t>
            </a:r>
            <a:endParaRPr lang="en-US" sz="1200" dirty="0"/>
          </a:p>
        </p:txBody>
      </p:sp>
      <p:sp>
        <p:nvSpPr>
          <p:cNvPr id="13" name="text"/>
          <p:cNvSpPr txBox="1"/>
          <p:nvPr/>
        </p:nvSpPr>
        <p:spPr>
          <a:xfrm>
            <a:off x="1042416" y="4279392"/>
            <a:ext cx="61804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chemeClr val="tx2"/>
                </a:solidFill>
              </a:rPr>
              <a:t>예) “흰 배경 · 남색 주색 1개와 강조색 1개 · 표·차트가 잘 읽히는 고딕 서체 · 장식 최소화”</a:t>
            </a:r>
            <a:endParaRPr lang="en-US" sz="1150" dirty="0"/>
          </a:p>
        </p:txBody>
      </p:sp>
      <p:sp>
        <p:nvSpPr>
          <p:cNvPr id="14" name="card"/>
          <p:cNvSpPr/>
          <p:nvPr/>
        </p:nvSpPr>
        <p:spPr>
          <a:xfrm>
            <a:off x="822960" y="4983480"/>
            <a:ext cx="10543032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label"/>
          <p:cNvSpPr txBox="1"/>
          <p:nvPr/>
        </p:nvSpPr>
        <p:spPr>
          <a:xfrm>
            <a:off x="1042416" y="512978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주의 — 디자인 시스템과 프롬프트 지시 충돌</a:t>
            </a:r>
            <a:endParaRPr lang="en-US" sz="950" dirty="0"/>
          </a:p>
        </p:txBody>
      </p:sp>
      <p:sp>
        <p:nvSpPr>
          <p:cNvPr id="16" name="card-text"/>
          <p:cNvSpPr txBox="1"/>
          <p:nvPr/>
        </p:nvSpPr>
        <p:spPr>
          <a:xfrm>
            <a:off x="1042416" y="5440680"/>
            <a:ext cx="1010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디자인 시스템을 선택했다면 프롬프트의 색·서체 지시는 빼기 — 두 지시가 충돌해 결과가 의도와 달라질 가능성.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439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STEP 2 · 생성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308479" y="603504"/>
            <a:ext cx="905751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원본 PDF 첨부 + 설계도 붙여넣기로 생성</a:t>
            </a:r>
            <a:endParaRPr lang="en-US" sz="2500" dirty="0"/>
          </a:p>
        </p:txBody>
      </p:sp>
      <p:sp>
        <p:nvSpPr>
          <p:cNvPr id="5" name="screenshot-frame"/>
          <p:cNvSpPr/>
          <p:nvPr/>
        </p:nvSpPr>
        <p:spPr>
          <a:xfrm>
            <a:off x="6583680" y="1618488"/>
            <a:ext cx="4809744" cy="3259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screenshot" descr="입력창 + 메뉴 — 파일 업로드 또는 추가, Skills, 커넥터, 디자인 시스템, 플러그인 추가, 기기, 리서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1112" y="1645920"/>
            <a:ext cx="4754880" cy="3204376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822960" y="1645920"/>
            <a:ext cx="5468112" cy="3204376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step-no"/>
          <p:cNvSpPr txBox="1"/>
          <p:nvPr/>
        </p:nvSpPr>
        <p:spPr>
          <a:xfrm>
            <a:off x="1042416" y="1645920"/>
            <a:ext cx="457200" cy="106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step-text"/>
          <p:cNvSpPr txBox="1"/>
          <p:nvPr/>
        </p:nvSpPr>
        <p:spPr>
          <a:xfrm>
            <a:off x="1554480" y="1645920"/>
            <a:ext cx="4517136" cy="106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chemeClr val="tx2"/>
                </a:solidFill>
              </a:rPr>
              <a:t>원본 PDF 첨부</a:t>
            </a:r>
            <a:r>
              <a:rPr lang="en-US" sz="1250" dirty="0">
                <a:solidFill>
                  <a:schemeClr val="tx1"/>
                </a:solidFill>
              </a:rPr>
              <a:t> — 입력창 + → ‘파일 업로드 또는 추가’. 정확한 수치의 출발점(텍스트만 붙여넣으면 세부 수치 누락·각색 가능성)</a:t>
            </a:r>
            <a:endParaRPr lang="en-US" sz="1250" dirty="0"/>
          </a:p>
        </p:txBody>
      </p:sp>
      <p:sp>
        <p:nvSpPr>
          <p:cNvPr id="10" name="divider"/>
          <p:cNvSpPr/>
          <p:nvPr/>
        </p:nvSpPr>
        <p:spPr>
          <a:xfrm>
            <a:off x="1005840" y="2714045"/>
            <a:ext cx="5102352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11" name="step-no"/>
          <p:cNvSpPr txBox="1"/>
          <p:nvPr/>
        </p:nvSpPr>
        <p:spPr>
          <a:xfrm>
            <a:off x="1042416" y="2714045"/>
            <a:ext cx="457200" cy="106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step-text"/>
          <p:cNvSpPr txBox="1"/>
          <p:nvPr/>
        </p:nvSpPr>
        <p:spPr>
          <a:xfrm>
            <a:off x="1554480" y="2714045"/>
            <a:ext cx="4517136" cy="106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chemeClr val="tx2"/>
                </a:solidFill>
              </a:rPr>
              <a:t>설계도 붙여넣기</a:t>
            </a:r>
            <a:r>
              <a:rPr lang="en-US" sz="1250" dirty="0">
                <a:solidFill>
                  <a:schemeClr val="tx1"/>
                </a:solidFill>
              </a:rPr>
              <a:t> — ‘ppt 생성 설계도 프롬프트.txt’ 복사 → 붙여넣기 → 전송 (PART 0에서 미리 생성)</a:t>
            </a:r>
            <a:endParaRPr lang="en-US" sz="1250" dirty="0"/>
          </a:p>
        </p:txBody>
      </p:sp>
      <p:sp>
        <p:nvSpPr>
          <p:cNvPr id="13" name="divider"/>
          <p:cNvSpPr/>
          <p:nvPr/>
        </p:nvSpPr>
        <p:spPr>
          <a:xfrm>
            <a:off x="1005840" y="3782170"/>
            <a:ext cx="5102352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14" name="step-no"/>
          <p:cNvSpPr txBox="1"/>
          <p:nvPr/>
        </p:nvSpPr>
        <p:spPr>
          <a:xfrm>
            <a:off x="1042416" y="3782170"/>
            <a:ext cx="457200" cy="106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03</a:t>
            </a:r>
            <a:endParaRPr lang="en-US" sz="1000" dirty="0"/>
          </a:p>
        </p:txBody>
      </p:sp>
      <p:sp>
        <p:nvSpPr>
          <p:cNvPr id="15" name="step-text"/>
          <p:cNvSpPr txBox="1"/>
          <p:nvPr/>
        </p:nvSpPr>
        <p:spPr>
          <a:xfrm>
            <a:off x="1554480" y="3782170"/>
            <a:ext cx="4517136" cy="106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chemeClr val="tx2"/>
                </a:solidFill>
              </a:rPr>
              <a:t>(선택) 로고·브랜드 이미지</a:t>
            </a:r>
            <a:r>
              <a:rPr lang="en-US" sz="1250" dirty="0">
                <a:solidFill>
                  <a:schemeClr val="tx1"/>
                </a:solidFill>
              </a:rPr>
              <a:t>도 함께 첨부</a:t>
            </a:r>
            <a:endParaRPr lang="en-US" sz="1250" dirty="0"/>
          </a:p>
        </p:txBody>
      </p:sp>
      <p:sp>
        <p:nvSpPr>
          <p:cNvPr id="16" name="text"/>
          <p:cNvSpPr txBox="1"/>
          <p:nvPr/>
        </p:nvSpPr>
        <p:spPr>
          <a:xfrm>
            <a:off x="822960" y="5124616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chemeClr val="accent3"/>
                </a:solidFill>
              </a:rPr>
              <a:t>1단계와 같은 채팅에서 요청하면 이미 올린 PDF를 그대로 사용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20024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STEP 2 · 프롬프트 팁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871089" y="603504"/>
            <a:ext cx="849490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accent2"/>
                </a:solidFill>
              </a:rPr>
              <a:t>구체적일수록, 분량을 명시할수록 좋은 결과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737360"/>
            <a:ext cx="5148072" cy="1645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label"/>
          <p:cNvSpPr txBox="1"/>
          <p:nvPr/>
        </p:nvSpPr>
        <p:spPr>
          <a:xfrm>
            <a:off x="1042416" y="1883664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구체적으로</a:t>
            </a:r>
            <a:endParaRPr lang="en-US" sz="950" dirty="0"/>
          </a:p>
        </p:txBody>
      </p:sp>
      <p:sp>
        <p:nvSpPr>
          <p:cNvPr id="7" name="text"/>
          <p:cNvSpPr txBox="1"/>
          <p:nvPr/>
        </p:nvSpPr>
        <p:spPr>
          <a:xfrm>
            <a:off x="1042416" y="2212848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chemeClr val="tx2"/>
                </a:solidFill>
              </a:rPr>
              <a:t>대상·핵심 메시지·맥락 명시</a:t>
            </a:r>
            <a:endParaRPr lang="en-US" sz="1300" dirty="0"/>
          </a:p>
        </p:txBody>
      </p:sp>
      <p:sp>
        <p:nvSpPr>
          <p:cNvPr id="8" name="text"/>
          <p:cNvSpPr txBox="1"/>
          <p:nvPr/>
        </p:nvSpPr>
        <p:spPr>
          <a:xfrm>
            <a:off x="1042416" y="263347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예) “Q1 실적 관련 10장 덱 — 매출 / 제품 업데이트 / 팀 하이라이트 포함”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6217920" y="1737360"/>
            <a:ext cx="5148072" cy="1645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label"/>
          <p:cNvSpPr txBox="1"/>
          <p:nvPr/>
        </p:nvSpPr>
        <p:spPr>
          <a:xfrm>
            <a:off x="6437376" y="1883664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분량 명시</a:t>
            </a:r>
            <a:endParaRPr lang="en-US" sz="950" dirty="0"/>
          </a:p>
        </p:txBody>
      </p:sp>
      <p:sp>
        <p:nvSpPr>
          <p:cNvPr id="11" name="text"/>
          <p:cNvSpPr txBox="1"/>
          <p:nvPr/>
        </p:nvSpPr>
        <p:spPr>
          <a:xfrm>
            <a:off x="6437376" y="2212848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chemeClr val="tx2"/>
                </a:solidFill>
              </a:rPr>
              <a:t>장수를 숫자로 지정</a:t>
            </a:r>
            <a:endParaRPr lang="en-US" sz="1300" dirty="0"/>
          </a:p>
        </p:txBody>
      </p:sp>
      <p:sp>
        <p:nvSpPr>
          <p:cNvPr id="12" name="text"/>
          <p:cNvSpPr txBox="1"/>
          <p:nvPr/>
        </p:nvSpPr>
        <p:spPr>
          <a:xfrm>
            <a:off x="6437376" y="263347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예) “이사회용 제품 로드맵 15장 임원 개요를 만들어줘”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822960" y="3657600"/>
            <a:ext cx="10543032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label"/>
          <p:cNvSpPr txBox="1"/>
          <p:nvPr/>
        </p:nvSpPr>
        <p:spPr>
          <a:xfrm>
            <a:off x="1042416" y="380390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체크포인트 — 첫 덱이 나오면 한 장씩 점검</a:t>
            </a:r>
            <a:endParaRPr lang="en-US" sz="950" dirty="0"/>
          </a:p>
        </p:txBody>
      </p:sp>
      <p:sp>
        <p:nvSpPr>
          <p:cNvPr id="15" name="card-text"/>
          <p:cNvSpPr txBox="1"/>
          <p:nvPr/>
        </p:nvSpPr>
        <p:spPr>
          <a:xfrm>
            <a:off x="1042416" y="4114800"/>
            <a:ext cx="10104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① 구조  ② 슬라이드당 글 양  ③ 핵심 메시지의 명확성  ④ 수치와 원본의 일치 여부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8373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STEP 2 · 화면 구성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705989" y="603504"/>
            <a:ext cx="866000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왼쪽 채팅 · 오른쪽 슬라이드 패널</a:t>
            </a:r>
            <a:endParaRPr lang="en-US" sz="2500" dirty="0"/>
          </a:p>
        </p:txBody>
      </p:sp>
      <p:sp>
        <p:nvSpPr>
          <p:cNvPr id="5" name="screenshot-frame"/>
          <p:cNvSpPr/>
          <p:nvPr/>
        </p:nvSpPr>
        <p:spPr>
          <a:xfrm>
            <a:off x="795528" y="1618488"/>
            <a:ext cx="4416838" cy="3986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screenshot" descr="슬라이드 작업 화면 — 왼쪽 채팅, 오른쪽 슬라이드 패널과 도구 막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4361974" cy="3931920"/>
          </a:xfrm>
          <a:prstGeom prst="rect">
            <a:avLst/>
          </a:prstGeom>
        </p:spPr>
      </p:pic>
      <p:sp>
        <p:nvSpPr>
          <p:cNvPr id="7" name="callout-head"/>
          <p:cNvSpPr txBox="1"/>
          <p:nvPr/>
        </p:nvSpPr>
        <p:spPr>
          <a:xfrm>
            <a:off x="5642134" y="1691640"/>
            <a:ext cx="57238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① </a:t>
            </a:r>
            <a:r>
              <a:rPr lang="en-US" sz="1300" b="1" dirty="0">
                <a:solidFill>
                  <a:schemeClr val="tx2"/>
                </a:solidFill>
              </a:rPr>
              <a:t>왼쪽 = 채팅</a:t>
            </a:r>
            <a:endParaRPr lang="en-US" sz="1300" dirty="0"/>
          </a:p>
        </p:txBody>
      </p:sp>
      <p:sp>
        <p:nvSpPr>
          <p:cNvPr id="8" name="text"/>
          <p:cNvSpPr txBox="1"/>
          <p:nvPr/>
        </p:nvSpPr>
        <p:spPr>
          <a:xfrm>
            <a:off x="5642134" y="2039112"/>
            <a:ext cx="57238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설계도·수정 지시를 입력하는 곳</a:t>
            </a:r>
            <a:endParaRPr lang="en-US" sz="1200" dirty="0"/>
          </a:p>
        </p:txBody>
      </p:sp>
      <p:sp>
        <p:nvSpPr>
          <p:cNvPr id="9" name="callout-head"/>
          <p:cNvSpPr txBox="1"/>
          <p:nvPr/>
        </p:nvSpPr>
        <p:spPr>
          <a:xfrm>
            <a:off x="5642134" y="2560320"/>
            <a:ext cx="57238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② </a:t>
            </a:r>
            <a:r>
              <a:rPr lang="en-US" sz="1300" b="1" dirty="0">
                <a:solidFill>
                  <a:schemeClr val="tx2"/>
                </a:solidFill>
              </a:rPr>
              <a:t>오른쪽 = 슬라이드 패널</a:t>
            </a:r>
            <a:endParaRPr lang="en-US" sz="1300" dirty="0"/>
          </a:p>
        </p:txBody>
      </p:sp>
      <p:sp>
        <p:nvSpPr>
          <p:cNvPr id="10" name="text"/>
          <p:cNvSpPr txBox="1"/>
          <p:nvPr/>
        </p:nvSpPr>
        <p:spPr>
          <a:xfrm>
            <a:off x="5642134" y="2907792"/>
            <a:ext cx="57238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생성된 슬라이드를 보고 바로 편집하는 곳</a:t>
            </a:r>
            <a:endParaRPr lang="en-US" sz="1200" dirty="0"/>
          </a:p>
        </p:txBody>
      </p:sp>
      <p:sp>
        <p:nvSpPr>
          <p:cNvPr id="11" name="callout-head"/>
          <p:cNvSpPr txBox="1"/>
          <p:nvPr/>
        </p:nvSpPr>
        <p:spPr>
          <a:xfrm>
            <a:off x="5642134" y="3429000"/>
            <a:ext cx="57238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③ </a:t>
            </a:r>
            <a:r>
              <a:rPr lang="en-US" sz="1300" b="1" dirty="0">
                <a:solidFill>
                  <a:schemeClr val="tx2"/>
                </a:solidFill>
              </a:rPr>
              <a:t>패널 위 아이콘</a:t>
            </a:r>
            <a:endParaRPr lang="en-US" sz="1300" dirty="0"/>
          </a:p>
        </p:txBody>
      </p:sp>
      <p:sp>
        <p:nvSpPr>
          <p:cNvPr id="12" name="text"/>
          <p:cNvSpPr txBox="1"/>
          <p:nvPr/>
        </p:nvSpPr>
        <p:spPr>
          <a:xfrm>
            <a:off x="5642134" y="3776472"/>
            <a:ext cx="57238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공유(내보내기 포함) · 댓글 · 펼치기 · 닫기</a:t>
            </a:r>
            <a:endParaRPr lang="en-US" sz="1200" dirty="0"/>
          </a:p>
        </p:txBody>
      </p:sp>
      <p:sp>
        <p:nvSpPr>
          <p:cNvPr id="13" name="callout-head"/>
          <p:cNvSpPr txBox="1"/>
          <p:nvPr/>
        </p:nvSpPr>
        <p:spPr>
          <a:xfrm>
            <a:off x="5642134" y="4297680"/>
            <a:ext cx="57238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④ </a:t>
            </a:r>
            <a:r>
              <a:rPr lang="en-US" sz="1300" b="1" dirty="0">
                <a:solidFill>
                  <a:schemeClr val="tx2"/>
                </a:solidFill>
              </a:rPr>
              <a:t>패널 도구 막대</a:t>
            </a:r>
            <a:endParaRPr lang="en-US" sz="1300" dirty="0"/>
          </a:p>
        </p:txBody>
      </p:sp>
      <p:sp>
        <p:nvSpPr>
          <p:cNvPr id="14" name="text"/>
          <p:cNvSpPr txBox="1"/>
          <p:nvPr/>
        </p:nvSpPr>
        <p:spPr>
          <a:xfrm>
            <a:off x="5642134" y="4645152"/>
            <a:ext cx="57238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텍스트·이미지·표·도형 넣기 / 다운로드 · ▶ 발표 · 속성 패널</a:t>
            </a:r>
            <a:endParaRPr lang="en-US" sz="1200" dirty="0"/>
          </a:p>
        </p:txBody>
      </p:sp>
      <p:sp>
        <p:nvSpPr>
          <p:cNvPr id="15" name="text"/>
          <p:cNvSpPr txBox="1"/>
          <p:nvPr/>
        </p:nvSpPr>
        <p:spPr>
          <a:xfrm>
            <a:off x="5642134" y="5212080"/>
            <a:ext cx="5723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accent3"/>
                </a:solidFill>
              </a:rPr>
              <a:t>펼치기로 패널을 크게, ‘채팅하기’로 원래 화면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accent3"/>
                </a:solidFill>
              </a:rPr>
              <a:t>UI는 계속 변경 — 실제 아이콘 위치는 다를 수 있음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"/>
          <p:cNvSpPr txBox="1"/>
          <p:nvPr/>
        </p:nvSpPr>
        <p:spPr>
          <a:xfrm>
            <a:off x="914400" y="224028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chemeClr val="accent1"/>
                </a:solidFill>
              </a:rPr>
              <a:t>PART 4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3063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Claude Slides에서 편집하고 내보내기</a:t>
            </a:r>
            <a:endParaRPr lang="en-US" sz="3200" dirty="0"/>
          </a:p>
        </p:txBody>
      </p:sp>
      <p:sp>
        <p:nvSpPr>
          <p:cNvPr id="4" name="subtitle"/>
          <p:cNvSpPr txBox="1"/>
          <p:nvPr/>
        </p:nvSpPr>
        <p:spPr>
          <a:xfrm>
            <a:off x="640080" y="39776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chemeClr val="accent3"/>
                </a:solidFill>
              </a:rPr>
              <a:t>STEP 3 · 편집 &amp; 내보내기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8373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STEP 3 · 편집 개요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705989" y="603504"/>
            <a:ext cx="866000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accent2"/>
                </a:solidFill>
              </a:rPr>
              <a:t>편집은 세 가지 방법 중 선택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737360"/>
            <a:ext cx="3331464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label"/>
          <p:cNvSpPr txBox="1"/>
          <p:nvPr/>
        </p:nvSpPr>
        <p:spPr>
          <a:xfrm>
            <a:off x="1042416" y="1901952"/>
            <a:ext cx="2892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①</a:t>
            </a:r>
            <a:endParaRPr lang="en-US" sz="950" dirty="0"/>
          </a:p>
        </p:txBody>
      </p:sp>
      <p:sp>
        <p:nvSpPr>
          <p:cNvPr id="7" name="text"/>
          <p:cNvSpPr txBox="1"/>
          <p:nvPr/>
        </p:nvSpPr>
        <p:spPr>
          <a:xfrm>
            <a:off x="1042416" y="2194560"/>
            <a:ext cx="2892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채팅으로 수정</a:t>
            </a:r>
            <a:endParaRPr lang="en-US" sz="1500" dirty="0"/>
          </a:p>
        </p:txBody>
      </p:sp>
      <p:sp>
        <p:nvSpPr>
          <p:cNvPr id="8" name="card-text"/>
          <p:cNvSpPr txBox="1"/>
          <p:nvPr/>
        </p:nvSpPr>
        <p:spPr>
          <a:xfrm>
            <a:off x="1042416" y="2615184"/>
            <a:ext cx="2892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큰 구조 변경 · 가장 많이 사용.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4428744" y="1737360"/>
            <a:ext cx="3331464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label"/>
          <p:cNvSpPr txBox="1"/>
          <p:nvPr/>
        </p:nvSpPr>
        <p:spPr>
          <a:xfrm>
            <a:off x="4648200" y="1901952"/>
            <a:ext cx="2892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②</a:t>
            </a:r>
            <a:endParaRPr lang="en-US" sz="950" dirty="0"/>
          </a:p>
        </p:txBody>
      </p:sp>
      <p:sp>
        <p:nvSpPr>
          <p:cNvPr id="11" name="text"/>
          <p:cNvSpPr txBox="1"/>
          <p:nvPr/>
        </p:nvSpPr>
        <p:spPr>
          <a:xfrm>
            <a:off x="4648200" y="2194560"/>
            <a:ext cx="2892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댓글</a:t>
            </a:r>
            <a:endParaRPr lang="en-US" sz="1500" dirty="0"/>
          </a:p>
        </p:txBody>
      </p:sp>
      <p:sp>
        <p:nvSpPr>
          <p:cNvPr id="12" name="card-text"/>
          <p:cNvSpPr txBox="1"/>
          <p:nvPr/>
        </p:nvSpPr>
        <p:spPr>
          <a:xfrm>
            <a:off x="4648200" y="2615184"/>
            <a:ext cx="2892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특정 요소·영역만 정밀 수정.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8034528" y="1737360"/>
            <a:ext cx="3331464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label"/>
          <p:cNvSpPr txBox="1"/>
          <p:nvPr/>
        </p:nvSpPr>
        <p:spPr>
          <a:xfrm>
            <a:off x="8253984" y="1901952"/>
            <a:ext cx="2892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③</a:t>
            </a:r>
            <a:endParaRPr lang="en-US" sz="950" dirty="0"/>
          </a:p>
        </p:txBody>
      </p:sp>
      <p:sp>
        <p:nvSpPr>
          <p:cNvPr id="15" name="text"/>
          <p:cNvSpPr txBox="1"/>
          <p:nvPr/>
        </p:nvSpPr>
        <p:spPr>
          <a:xfrm>
            <a:off x="8253984" y="2194560"/>
            <a:ext cx="2892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직접 편집</a:t>
            </a:r>
            <a:endParaRPr lang="en-US" sz="1500" dirty="0"/>
          </a:p>
        </p:txBody>
      </p:sp>
      <p:sp>
        <p:nvSpPr>
          <p:cNvPr id="16" name="card-text"/>
          <p:cNvSpPr txBox="1"/>
          <p:nvPr/>
        </p:nvSpPr>
        <p:spPr>
          <a:xfrm>
            <a:off x="8253984" y="2615184"/>
            <a:ext cx="2892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오타·숫자, 위치·크기·색 조정. 요청 없이 바로 반영.</a:t>
            </a:r>
            <a:endParaRPr lang="en-US" sz="1200" dirty="0"/>
          </a:p>
        </p:txBody>
      </p:sp>
      <p:sp>
        <p:nvSpPr>
          <p:cNvPr id="17" name="card"/>
          <p:cNvSpPr/>
          <p:nvPr/>
        </p:nvSpPr>
        <p:spPr>
          <a:xfrm>
            <a:off x="822960" y="3749040"/>
            <a:ext cx="10543032" cy="731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"/>
          <p:cNvSpPr txBox="1"/>
          <p:nvPr/>
        </p:nvSpPr>
        <p:spPr>
          <a:xfrm>
            <a:off x="1042416" y="3749040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3"/>
                </a:solidFill>
              </a:rPr>
              <a:t>구조는 채팅, 요소 하나는 댓글, 눈으로 보며 맞출 것은 직접 편집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23999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STEP 3 · ① 채팅으로 수정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3268599" y="603504"/>
            <a:ext cx="809739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accent2"/>
                </a:solidFill>
              </a:rPr>
              <a:t>큰 구조 변경은 채팅이 가장 강력한 방법</a:t>
            </a:r>
            <a:endParaRPr lang="en-US" sz="2500" dirty="0"/>
          </a:p>
        </p:txBody>
      </p:sp>
      <p:sp>
        <p:nvSpPr>
          <p:cNvPr id="5" name="list"/>
          <p:cNvSpPr txBox="1"/>
          <p:nvPr/>
        </p:nvSpPr>
        <p:spPr>
          <a:xfrm>
            <a:off x="822960" y="1737360"/>
            <a:ext cx="1054303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30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b="1" dirty="0">
                <a:solidFill>
                  <a:schemeClr val="accent1"/>
                </a:solidFill>
              </a:rPr>
              <a:t>슬라이드 지목 변경</a:t>
            </a:r>
            <a:r>
              <a:rPr lang="en-US" sz="1300" dirty="0">
                <a:solidFill>
                  <a:schemeClr val="tx1"/>
                </a:solidFill>
              </a:rPr>
              <a:t> — “○번 슬라이드 제목을 □로 바꾸고, 불릿을 △ 중심으로 다시 써줘.”</a:t>
            </a:r>
            <a:endParaRPr lang="en-US" sz="1300" dirty="0"/>
          </a:p>
          <a:p>
            <a:pPr marL="190500" indent="-190500">
              <a:lnSpc>
                <a:spcPct val="130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b="1" dirty="0">
                <a:solidFill>
                  <a:schemeClr val="accent1"/>
                </a:solidFill>
              </a:rPr>
              <a:t>추가 · 펼치기</a:t>
            </a:r>
            <a:r>
              <a:rPr lang="en-US" sz="1300" dirty="0">
                <a:solidFill>
                  <a:schemeClr val="tx1"/>
                </a:solidFill>
              </a:rPr>
              <a:t> — “○번과 □번 사이에 한 장 추가” · “이 섹션을 두 장으로 펼쳐 흐름을 천천히”</a:t>
            </a:r>
            <a:endParaRPr lang="en-US" sz="1300" dirty="0"/>
          </a:p>
          <a:p>
            <a:pPr marL="190500" indent="-190500">
              <a:lnSpc>
                <a:spcPct val="130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b="1" dirty="0">
                <a:solidFill>
                  <a:schemeClr val="accent1"/>
                </a:solidFill>
              </a:rPr>
              <a:t>차트 생성</a:t>
            </a:r>
            <a:r>
              <a:rPr lang="en-US" sz="1300" dirty="0">
                <a:solidFill>
                  <a:schemeClr val="tx1"/>
                </a:solidFill>
              </a:rPr>
              <a:t> — 데이터를 말로 설명하면 적절한 차트 생성. “이 표를 막대그래프로”</a:t>
            </a:r>
            <a:endParaRPr lang="en-US" sz="1300" dirty="0"/>
          </a:p>
          <a:p>
            <a:pPr marL="190500" indent="-190500">
              <a:lnSpc>
                <a:spcPct val="130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b="1" dirty="0">
                <a:solidFill>
                  <a:schemeClr val="accent1"/>
                </a:solidFill>
              </a:rPr>
              <a:t>전환 · 등장 효과</a:t>
            </a:r>
            <a:r>
              <a:rPr lang="en-US" sz="1300" dirty="0">
                <a:solidFill>
                  <a:schemeClr val="tx1"/>
                </a:solidFill>
              </a:rPr>
              <a:t> — “슬라이드 전환은 페이드로” · “핵심 수치가 순서대로 나타나게” — ▶ 발표 화면에서 확인</a:t>
            </a:r>
            <a:endParaRPr lang="en-US" sz="1300" dirty="0"/>
          </a:p>
          <a:p>
            <a:pPr marL="190500" indent="-190500">
              <a:lnSpc>
                <a:spcPct val="130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b="1" dirty="0">
                <a:solidFill>
                  <a:schemeClr val="accent1"/>
                </a:solidFill>
              </a:rPr>
              <a:t>발표자 노트</a:t>
            </a:r>
            <a:r>
              <a:rPr lang="en-US" sz="1300" dirty="0">
                <a:solidFill>
                  <a:schemeClr val="tx1"/>
                </a:solidFill>
              </a:rPr>
              <a:t> — “슬라이드마다 발표 멘트를 노트로 넣어줘” — 패널 아래 노트 아이콘으로 확인</a:t>
            </a:r>
            <a:endParaRPr lang="en-US" sz="1300" dirty="0"/>
          </a:p>
        </p:txBody>
      </p:sp>
      <p:sp>
        <p:nvSpPr>
          <p:cNvPr id="6" name="text"/>
          <p:cNvSpPr txBox="1"/>
          <p:nvPr/>
        </p:nvSpPr>
        <p:spPr>
          <a:xfrm>
            <a:off x="822960" y="51206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chemeClr val="accent3"/>
                </a:solidFill>
              </a:rPr>
              <a:t>팁 — 슬라이드 번호를 분명히 지목할수록 의도한 부분만 정확히 수정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6722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STEP 3 · ② 댓글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540889" y="603504"/>
            <a:ext cx="882510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accent2"/>
                </a:solidFill>
              </a:rPr>
              <a:t>특정 요소만 정밀 수정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645920"/>
            <a:ext cx="539496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label"/>
          <p:cNvSpPr txBox="1"/>
          <p:nvPr/>
        </p:nvSpPr>
        <p:spPr>
          <a:xfrm>
            <a:off x="1042416" y="1792224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언제</a:t>
            </a:r>
            <a:endParaRPr lang="en-US" sz="950" dirty="0"/>
          </a:p>
        </p:txBody>
      </p:sp>
      <p:sp>
        <p:nvSpPr>
          <p:cNvPr id="7" name="card-text"/>
          <p:cNvSpPr txBox="1"/>
          <p:nvPr/>
        </p:nvSpPr>
        <p:spPr>
          <a:xfrm>
            <a:off x="1042416" y="2103120"/>
            <a:ext cx="49560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제목·차트·이미지 등 특정 요소만 고칠 때.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822960" y="2834640"/>
            <a:ext cx="53949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label"/>
          <p:cNvSpPr txBox="1"/>
          <p:nvPr/>
        </p:nvSpPr>
        <p:spPr>
          <a:xfrm>
            <a:off x="1042416" y="2980944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어떻게</a:t>
            </a:r>
            <a:endParaRPr lang="en-US" sz="950" dirty="0"/>
          </a:p>
        </p:txBody>
      </p:sp>
      <p:sp>
        <p:nvSpPr>
          <p:cNvPr id="10" name="card-text"/>
          <p:cNvSpPr txBox="1"/>
          <p:nvPr/>
        </p:nvSpPr>
        <p:spPr>
          <a:xfrm>
            <a:off x="1042416" y="3291840"/>
            <a:ext cx="49560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패널 위 </a:t>
            </a:r>
            <a:r>
              <a:rPr lang="en-US" sz="1200" b="1" dirty="0">
                <a:solidFill>
                  <a:schemeClr val="tx2"/>
                </a:solidFill>
              </a:rPr>
              <a:t>말풍선 아이콘(댓글 달기)</a:t>
            </a:r>
            <a:r>
              <a:rPr lang="en-US" sz="1200" dirty="0">
                <a:solidFill>
                  <a:schemeClr val="tx1"/>
                </a:solidFill>
              </a:rPr>
              <a:t> 클릭 → 고칠 요소 클릭 → 내용 입력 → </a:t>
            </a:r>
            <a:r>
              <a:rPr lang="en-US" sz="1200" b="1" dirty="0">
                <a:solidFill>
                  <a:schemeClr val="tx2"/>
                </a:solidFill>
              </a:rPr>
              <a:t>‘Claude에게 보내기’</a:t>
            </a:r>
            <a:r>
              <a:rPr lang="en-US" sz="1200" dirty="0">
                <a:solidFill>
                  <a:schemeClr val="tx1"/>
                </a:solidFill>
              </a:rPr>
              <a:t>가 체크된 상태로 전송.</a:t>
            </a:r>
            <a:endParaRPr lang="en-US" sz="1200" dirty="0"/>
          </a:p>
        </p:txBody>
      </p:sp>
      <p:sp>
        <p:nvSpPr>
          <p:cNvPr id="11" name="screenshot-frame"/>
          <p:cNvSpPr/>
          <p:nvPr/>
        </p:nvSpPr>
        <p:spPr>
          <a:xfrm>
            <a:off x="6464808" y="1618488"/>
            <a:ext cx="4928616" cy="2201335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screenshot" descr="댓글 입력 창 — 선택한 요소 이름, @Claude, 'Claude에게 보내기' 체크박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645920"/>
            <a:ext cx="4873752" cy="2146471"/>
          </a:xfrm>
          <a:prstGeom prst="rect">
            <a:avLst/>
          </a:prstGeom>
        </p:spPr>
      </p:pic>
      <p:sp>
        <p:nvSpPr>
          <p:cNvPr id="13" name="text"/>
          <p:cNvSpPr txBox="1"/>
          <p:nvPr/>
        </p:nvSpPr>
        <p:spPr>
          <a:xfrm>
            <a:off x="6492240" y="3902119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5"/>
                </a:solidFill>
              </a:rPr>
              <a:t>댓글 창 — 선택한 요소 · @Claude · ‘Claude에게 보내기’</a:t>
            </a:r>
            <a:endParaRPr lang="en-US" sz="1050" dirty="0"/>
          </a:p>
        </p:txBody>
      </p:sp>
      <p:sp>
        <p:nvSpPr>
          <p:cNvPr id="14" name="card"/>
          <p:cNvSpPr/>
          <p:nvPr/>
        </p:nvSpPr>
        <p:spPr>
          <a:xfrm>
            <a:off x="822960" y="4617720"/>
            <a:ext cx="10543032" cy="1143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label"/>
          <p:cNvSpPr txBox="1"/>
          <p:nvPr/>
        </p:nvSpPr>
        <p:spPr>
          <a:xfrm>
            <a:off x="1042416" y="476402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팁</a:t>
            </a:r>
            <a:endParaRPr lang="en-US" sz="950" dirty="0"/>
          </a:p>
        </p:txBody>
      </p:sp>
      <p:sp>
        <p:nvSpPr>
          <p:cNvPr id="16" name="card-text"/>
          <p:cNvSpPr txBox="1"/>
          <p:nvPr/>
        </p:nvSpPr>
        <p:spPr>
          <a:xfrm>
            <a:off x="1042416" y="5074920"/>
            <a:ext cx="10104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전체 덱을 다시 만들지 않아 빠르고, 다른 부분은 그대로 유지.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댓글이 반영되지 않으면 같은 내용을 채팅에 붙여넣기.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24672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STEP 3 · ② 영역 지정 댓글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3335909" y="603504"/>
            <a:ext cx="803008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영역을 드래그해 지정 후 수정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645920"/>
            <a:ext cx="539496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label"/>
          <p:cNvSpPr txBox="1"/>
          <p:nvPr/>
        </p:nvSpPr>
        <p:spPr>
          <a:xfrm>
            <a:off x="1042416" y="1792224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언제</a:t>
            </a:r>
            <a:endParaRPr lang="en-US" sz="950" dirty="0"/>
          </a:p>
        </p:txBody>
      </p:sp>
      <p:sp>
        <p:nvSpPr>
          <p:cNvPr id="7" name="card-text"/>
          <p:cNvSpPr txBox="1"/>
          <p:nvPr/>
        </p:nvSpPr>
        <p:spPr>
          <a:xfrm>
            <a:off x="1042416" y="2103120"/>
            <a:ext cx="49560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요소 하나보다 넓은 특정 영역을 지정해 알리고 싶을 때.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822960" y="2834640"/>
            <a:ext cx="53949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label"/>
          <p:cNvSpPr txBox="1"/>
          <p:nvPr/>
        </p:nvSpPr>
        <p:spPr>
          <a:xfrm>
            <a:off x="1042416" y="2980944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어떻게</a:t>
            </a:r>
            <a:endParaRPr lang="en-US" sz="950" dirty="0"/>
          </a:p>
        </p:txBody>
      </p:sp>
      <p:sp>
        <p:nvSpPr>
          <p:cNvPr id="10" name="card-text"/>
          <p:cNvSpPr txBox="1"/>
          <p:nvPr/>
        </p:nvSpPr>
        <p:spPr>
          <a:xfrm>
            <a:off x="1042416" y="3291840"/>
            <a:ext cx="49560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패널 위 </a:t>
            </a:r>
            <a:r>
              <a:rPr lang="en-US" sz="1200" b="1" dirty="0">
                <a:solidFill>
                  <a:schemeClr val="tx2"/>
                </a:solidFill>
              </a:rPr>
              <a:t>말풍선 아이콘(댓글 달기)</a:t>
            </a:r>
            <a:r>
              <a:rPr lang="en-US" sz="1200" dirty="0">
                <a:solidFill>
                  <a:schemeClr val="tx1"/>
                </a:solidFill>
              </a:rPr>
              <a:t> 클릭 → 수정할 영역을 </a:t>
            </a:r>
            <a:r>
              <a:rPr lang="en-US" sz="1200" b="1" dirty="0">
                <a:solidFill>
                  <a:schemeClr val="tx2"/>
                </a:solidFill>
              </a:rPr>
              <a:t>드래그</a:t>
            </a:r>
            <a:r>
              <a:rPr lang="en-US" sz="1200" dirty="0">
                <a:solidFill>
                  <a:schemeClr val="tx1"/>
                </a:solidFill>
              </a:rPr>
              <a:t>(점선 상자 표시) → 내용 입력 → ‘Claude에게 보내기’가 체크된 상태로 전송.</a:t>
            </a:r>
            <a:endParaRPr lang="en-US" sz="1200" dirty="0"/>
          </a:p>
        </p:txBody>
      </p:sp>
      <p:sp>
        <p:nvSpPr>
          <p:cNvPr id="11" name="screenshot-frame"/>
          <p:cNvSpPr/>
          <p:nvPr/>
        </p:nvSpPr>
        <p:spPr>
          <a:xfrm>
            <a:off x="6464808" y="1618488"/>
            <a:ext cx="4928616" cy="2329282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screenshot" descr="댓글 모드에서 영역을 드래그한 상태 — 점선 상자와 'Slide 1 (middle) · 1 element' 댓글 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645920"/>
            <a:ext cx="4873752" cy="2274418"/>
          </a:xfrm>
          <a:prstGeom prst="rect">
            <a:avLst/>
          </a:prstGeom>
        </p:spPr>
      </p:pic>
      <p:sp>
        <p:nvSpPr>
          <p:cNvPr id="13" name="text"/>
          <p:cNvSpPr txBox="1"/>
          <p:nvPr/>
        </p:nvSpPr>
        <p:spPr>
          <a:xfrm>
            <a:off x="6492240" y="4030066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5"/>
                </a:solidFill>
              </a:rPr>
              <a:t>드래그한 범위가 점선 상자로 표시 · 댓글 창 위에 포함된 요소 수</a:t>
            </a:r>
            <a:endParaRPr lang="en-US" sz="1050" dirty="0"/>
          </a:p>
        </p:txBody>
      </p:sp>
      <p:sp>
        <p:nvSpPr>
          <p:cNvPr id="14" name="card"/>
          <p:cNvSpPr/>
          <p:nvPr/>
        </p:nvSpPr>
        <p:spPr>
          <a:xfrm>
            <a:off x="822960" y="4617720"/>
            <a:ext cx="10543032" cy="1143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label"/>
          <p:cNvSpPr txBox="1"/>
          <p:nvPr/>
        </p:nvSpPr>
        <p:spPr>
          <a:xfrm>
            <a:off x="1042416" y="476402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팁</a:t>
            </a:r>
            <a:endParaRPr lang="en-US" sz="950" dirty="0"/>
          </a:p>
        </p:txBody>
      </p:sp>
      <p:sp>
        <p:nvSpPr>
          <p:cNvPr id="16" name="card-text"/>
          <p:cNvSpPr txBox="1"/>
          <p:nvPr/>
        </p:nvSpPr>
        <p:spPr>
          <a:xfrm>
            <a:off x="1042416" y="5074920"/>
            <a:ext cx="10104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댓글 창 위쪽의 범위 표시(예: ‘Slide 1 (middle) · 1 element’)로 어떤 요소가 포함됐는지 확인 후 전송.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전체 덱을 다시 만들지 않아 빠른 방식.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24672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STEP 3 · ② 댓글 모아 반영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3335909" y="603504"/>
            <a:ext cx="803008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여러 곳을 고칠 때는 모아서 한 번에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737360"/>
            <a:ext cx="3090672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accent"/>
          <p:cNvSpPr/>
          <p:nvPr/>
        </p:nvSpPr>
        <p:spPr>
          <a:xfrm>
            <a:off x="822960" y="1737360"/>
            <a:ext cx="3090672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flow-step"/>
          <p:cNvSpPr txBox="1"/>
          <p:nvPr/>
        </p:nvSpPr>
        <p:spPr>
          <a:xfrm>
            <a:off x="932688" y="178308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chemeClr val="tx2"/>
                </a:solidFill>
              </a:rPr>
              <a:t>‘Claude에게 보내기’ 끄기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chemeClr val="accent3"/>
                </a:solidFill>
              </a:rPr>
              <a:t>댓글 창 아래 체크 해제</a:t>
            </a:r>
            <a:endParaRPr lang="en-US" sz="1300" dirty="0"/>
          </a:p>
        </p:txBody>
      </p:sp>
      <p:sp>
        <p:nvSpPr>
          <p:cNvPr id="8" name="arrow"/>
          <p:cNvSpPr txBox="1"/>
          <p:nvPr/>
        </p:nvSpPr>
        <p:spPr>
          <a:xfrm>
            <a:off x="3950208" y="1737360"/>
            <a:ext cx="566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→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4553712" y="1737360"/>
            <a:ext cx="3090672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accent"/>
          <p:cNvSpPr/>
          <p:nvPr/>
        </p:nvSpPr>
        <p:spPr>
          <a:xfrm>
            <a:off x="4553712" y="1737360"/>
            <a:ext cx="3090672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flow-step"/>
          <p:cNvSpPr txBox="1"/>
          <p:nvPr/>
        </p:nvSpPr>
        <p:spPr>
          <a:xfrm>
            <a:off x="4663440" y="178308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chemeClr val="tx2"/>
                </a:solidFill>
              </a:rPr>
              <a:t>고칠 곳마다 댓글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chemeClr val="accent3"/>
                </a:solidFill>
              </a:rPr>
              <a:t>위치 표시만 남김</a:t>
            </a:r>
            <a:endParaRPr lang="en-US" sz="1300" dirty="0"/>
          </a:p>
        </p:txBody>
      </p:sp>
      <p:sp>
        <p:nvSpPr>
          <p:cNvPr id="12" name="arrow"/>
          <p:cNvSpPr txBox="1"/>
          <p:nvPr/>
        </p:nvSpPr>
        <p:spPr>
          <a:xfrm>
            <a:off x="7680960" y="1737360"/>
            <a:ext cx="566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→</a:t>
            </a:r>
            <a:endParaRPr lang="en-US" sz="1700" dirty="0"/>
          </a:p>
        </p:txBody>
      </p:sp>
      <p:sp>
        <p:nvSpPr>
          <p:cNvPr id="13" name="card"/>
          <p:cNvSpPr/>
          <p:nvPr/>
        </p:nvSpPr>
        <p:spPr>
          <a:xfrm>
            <a:off x="8284464" y="1737360"/>
            <a:ext cx="3090672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accent"/>
          <p:cNvSpPr/>
          <p:nvPr/>
        </p:nvSpPr>
        <p:spPr>
          <a:xfrm>
            <a:off x="8284464" y="1737360"/>
            <a:ext cx="3090672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flow-step"/>
          <p:cNvSpPr txBox="1"/>
          <p:nvPr/>
        </p:nvSpPr>
        <p:spPr>
          <a:xfrm>
            <a:off x="8394192" y="178308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chemeClr val="tx2"/>
                </a:solidFill>
              </a:rPr>
              <a:t>채팅으로 한 번에 반영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chemeClr val="accent3"/>
                </a:solidFill>
              </a:rPr>
              <a:t>“남겨 둔 댓글 모두 반영해줘”</a:t>
            </a:r>
            <a:endParaRPr 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822960" y="3063240"/>
            <a:ext cx="3273552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label"/>
          <p:cNvSpPr txBox="1"/>
          <p:nvPr/>
        </p:nvSpPr>
        <p:spPr>
          <a:xfrm>
            <a:off x="1042416" y="320954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1</a:t>
            </a:r>
            <a:endParaRPr lang="en-US" sz="950" dirty="0"/>
          </a:p>
        </p:txBody>
      </p:sp>
      <p:sp>
        <p:nvSpPr>
          <p:cNvPr id="18" name="card-text"/>
          <p:cNvSpPr txBox="1"/>
          <p:nvPr/>
        </p:nvSpPr>
        <p:spPr>
          <a:xfrm>
            <a:off x="1042416" y="3520440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체크를 끄면 Claude에게 바로 전달되지 않고 댓글만 남음.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4462272" y="3063240"/>
            <a:ext cx="3273552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label"/>
          <p:cNvSpPr txBox="1"/>
          <p:nvPr/>
        </p:nvSpPr>
        <p:spPr>
          <a:xfrm>
            <a:off x="4681728" y="320954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2</a:t>
            </a:r>
            <a:endParaRPr lang="en-US" sz="950" dirty="0"/>
          </a:p>
        </p:txBody>
      </p:sp>
      <p:sp>
        <p:nvSpPr>
          <p:cNvPr id="21" name="card-text"/>
          <p:cNvSpPr txBox="1"/>
          <p:nvPr/>
        </p:nvSpPr>
        <p:spPr>
          <a:xfrm>
            <a:off x="4681728" y="3520440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말풍선 옆 작은 화살표 → ‘모든 댓글 보기’로 남긴 댓글 확인.</a:t>
            </a:r>
            <a:endParaRPr lang="en-US" sz="1200" dirty="0"/>
          </a:p>
        </p:txBody>
      </p:sp>
      <p:sp>
        <p:nvSpPr>
          <p:cNvPr id="22" name="card"/>
          <p:cNvSpPr/>
          <p:nvPr/>
        </p:nvSpPr>
        <p:spPr>
          <a:xfrm>
            <a:off x="8101584" y="3063240"/>
            <a:ext cx="3273552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label"/>
          <p:cNvSpPr txBox="1"/>
          <p:nvPr/>
        </p:nvSpPr>
        <p:spPr>
          <a:xfrm>
            <a:off x="8321040" y="320954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3</a:t>
            </a:r>
            <a:endParaRPr lang="en-US" sz="950" dirty="0"/>
          </a:p>
        </p:txBody>
      </p:sp>
      <p:sp>
        <p:nvSpPr>
          <p:cNvPr id="24" name="card-text"/>
          <p:cNvSpPr txBox="1"/>
          <p:nvPr/>
        </p:nvSpPr>
        <p:spPr>
          <a:xfrm>
            <a:off x="8321040" y="3520440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한 번의 요청으로 모두 반영 — 건별 요청보다 빠르고 사용량 절약.</a:t>
            </a:r>
            <a:endParaRPr lang="en-US" sz="1200" dirty="0"/>
          </a:p>
        </p:txBody>
      </p:sp>
      <p:sp>
        <p:nvSpPr>
          <p:cNvPr id="25" name="text"/>
          <p:cNvSpPr txBox="1"/>
          <p:nvPr/>
        </p:nvSpPr>
        <p:spPr>
          <a:xfrm>
            <a:off x="822960" y="484632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chemeClr val="accent3"/>
                </a:solidFill>
              </a:rPr>
              <a:t>댓글 없이 채팅 한 번에 “3번 제목 …, 5번 차트 …”처럼 번호별로 적어도 같은 효과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2069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STEP 3 · ③ 직접 편집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938399" y="603504"/>
            <a:ext cx="842759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사소한 텍스트는 직접 수정이 가장 빠른 방법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645920"/>
            <a:ext cx="539496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label"/>
          <p:cNvSpPr txBox="1"/>
          <p:nvPr/>
        </p:nvSpPr>
        <p:spPr>
          <a:xfrm>
            <a:off x="1042416" y="1792224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언제</a:t>
            </a:r>
            <a:endParaRPr lang="en-US" sz="950" dirty="0"/>
          </a:p>
        </p:txBody>
      </p:sp>
      <p:sp>
        <p:nvSpPr>
          <p:cNvPr id="7" name="card-text"/>
          <p:cNvSpPr txBox="1"/>
          <p:nvPr/>
        </p:nvSpPr>
        <p:spPr>
          <a:xfrm>
            <a:off x="1042416" y="2103120"/>
            <a:ext cx="49560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오타 · 숫자 한 글자 · 짧은 문구 수정.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822960" y="2834640"/>
            <a:ext cx="53949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label"/>
          <p:cNvSpPr txBox="1"/>
          <p:nvPr/>
        </p:nvSpPr>
        <p:spPr>
          <a:xfrm>
            <a:off x="1042416" y="2980944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어떻게</a:t>
            </a:r>
            <a:endParaRPr lang="en-US" sz="950" dirty="0"/>
          </a:p>
        </p:txBody>
      </p:sp>
      <p:sp>
        <p:nvSpPr>
          <p:cNvPr id="10" name="card-text"/>
          <p:cNvSpPr txBox="1"/>
          <p:nvPr/>
        </p:nvSpPr>
        <p:spPr>
          <a:xfrm>
            <a:off x="1042416" y="3291840"/>
            <a:ext cx="49560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고칠 글자를 </a:t>
            </a:r>
            <a:r>
              <a:rPr lang="en-US" sz="1200" b="1" dirty="0">
                <a:solidFill>
                  <a:schemeClr val="tx2"/>
                </a:solidFill>
              </a:rPr>
              <a:t>더블클릭</a:t>
            </a:r>
            <a:r>
              <a:rPr lang="en-US" sz="1200" dirty="0">
                <a:solidFill>
                  <a:schemeClr val="tx1"/>
                </a:solidFill>
              </a:rPr>
              <a:t> → 편집 상태(글자 전체 선택) → 고칠 위치를 한 번 더 클릭해 수정. 위에 뜨는 도구 막대로 글자 스타일·색·굵게·정렬 변경.</a:t>
            </a:r>
            <a:endParaRPr lang="en-US" sz="1200" dirty="0"/>
          </a:p>
        </p:txBody>
      </p:sp>
      <p:sp>
        <p:nvSpPr>
          <p:cNvPr id="11" name="screenshot-frame"/>
          <p:cNvSpPr/>
          <p:nvPr/>
        </p:nvSpPr>
        <p:spPr>
          <a:xfrm>
            <a:off x="6464808" y="1618488"/>
            <a:ext cx="4928616" cy="12363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screenshot" descr="글자를 더블클릭한 상태 — 텍스트 선택과 서식 도구 막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645920"/>
            <a:ext cx="4873752" cy="1181516"/>
          </a:xfrm>
          <a:prstGeom prst="rect">
            <a:avLst/>
          </a:prstGeom>
        </p:spPr>
      </p:pic>
      <p:sp>
        <p:nvSpPr>
          <p:cNvPr id="13" name="card"/>
          <p:cNvSpPr/>
          <p:nvPr/>
        </p:nvSpPr>
        <p:spPr>
          <a:xfrm>
            <a:off x="6492240" y="3056036"/>
            <a:ext cx="4873752" cy="1378804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label"/>
          <p:cNvSpPr txBox="1"/>
          <p:nvPr/>
        </p:nvSpPr>
        <p:spPr>
          <a:xfrm>
            <a:off x="6711696" y="3202340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도구 막대 항목</a:t>
            </a:r>
            <a:endParaRPr lang="en-US" sz="950" dirty="0"/>
          </a:p>
        </p:txBody>
      </p:sp>
      <p:sp>
        <p:nvSpPr>
          <p:cNvPr id="15" name="card-text"/>
          <p:cNvSpPr txBox="1"/>
          <p:nvPr/>
        </p:nvSpPr>
        <p:spPr>
          <a:xfrm>
            <a:off x="6711696" y="3513236"/>
            <a:ext cx="4434840" cy="811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글자 스타일 · 색 · 굵게/기울임/밑줄 · 링크 · 목록 · 정렬 · ⋮ 더 보기</a:t>
            </a:r>
            <a:endParaRPr lang="en-US" sz="1200" dirty="0"/>
          </a:p>
        </p:txBody>
      </p:sp>
      <p:sp>
        <p:nvSpPr>
          <p:cNvPr id="16" name="card"/>
          <p:cNvSpPr/>
          <p:nvPr/>
        </p:nvSpPr>
        <p:spPr>
          <a:xfrm>
            <a:off x="822960" y="4617720"/>
            <a:ext cx="10543032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label"/>
          <p:cNvSpPr txBox="1"/>
          <p:nvPr/>
        </p:nvSpPr>
        <p:spPr>
          <a:xfrm>
            <a:off x="1042416" y="476402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팁</a:t>
            </a:r>
            <a:endParaRPr lang="en-US" sz="950" dirty="0"/>
          </a:p>
        </p:txBody>
      </p:sp>
      <p:sp>
        <p:nvSpPr>
          <p:cNvPr id="18" name="card-text"/>
          <p:cNvSpPr txBox="1"/>
          <p:nvPr/>
        </p:nvSpPr>
        <p:spPr>
          <a:xfrm>
            <a:off x="1042416" y="5074920"/>
            <a:ext cx="1010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Claude에게 요청하지 않아 사용량 소모 없음 — 미세 수정에 최적.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2069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STEP 3 · ③ 직접 편집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938399" y="603504"/>
            <a:ext cx="842759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위치·크기·여백은 직접 조정</a:t>
            </a:r>
            <a:endParaRPr lang="en-US" sz="2500" dirty="0"/>
          </a:p>
        </p:txBody>
      </p:sp>
      <p:sp>
        <p:nvSpPr>
          <p:cNvPr id="5" name="screenshot-frame"/>
          <p:cNvSpPr/>
          <p:nvPr/>
        </p:nvSpPr>
        <p:spPr>
          <a:xfrm>
            <a:off x="7083142" y="1618488"/>
            <a:ext cx="4310282" cy="3621024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screenshot" descr="요소 선택 후 아래에 열린 속성 패널 — 너비·높이·여백·글자 스타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0574" y="1645920"/>
            <a:ext cx="4255418" cy="356616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7110574" y="5321808"/>
            <a:ext cx="4255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5"/>
                </a:solidFill>
              </a:rPr>
              <a:t>도구 막대 ⋮ → 속성 패널 (패널이 좁으면 아래, 넓으면 오른쪽)</a:t>
            </a:r>
            <a:endParaRPr lang="en-US" sz="1050" dirty="0"/>
          </a:p>
        </p:txBody>
      </p:sp>
      <p:sp>
        <p:nvSpPr>
          <p:cNvPr id="8" name="card"/>
          <p:cNvSpPr/>
          <p:nvPr/>
        </p:nvSpPr>
        <p:spPr>
          <a:xfrm>
            <a:off x="822960" y="1645920"/>
            <a:ext cx="5967574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label"/>
          <p:cNvSpPr txBox="1"/>
          <p:nvPr/>
        </p:nvSpPr>
        <p:spPr>
          <a:xfrm>
            <a:off x="1042416" y="1792224"/>
            <a:ext cx="55286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언제</a:t>
            </a:r>
            <a:endParaRPr lang="en-US" sz="950" dirty="0"/>
          </a:p>
        </p:txBody>
      </p:sp>
      <p:sp>
        <p:nvSpPr>
          <p:cNvPr id="10" name="card-text"/>
          <p:cNvSpPr txBox="1"/>
          <p:nvPr/>
        </p:nvSpPr>
        <p:spPr>
          <a:xfrm>
            <a:off x="1042416" y="2103120"/>
            <a:ext cx="552866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여백 · 크기 · 배경 등 디자인을 눈으로 보며 맞출 때.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822960" y="2834640"/>
            <a:ext cx="5967574" cy="1783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label"/>
          <p:cNvSpPr txBox="1"/>
          <p:nvPr/>
        </p:nvSpPr>
        <p:spPr>
          <a:xfrm>
            <a:off x="1042416" y="2980944"/>
            <a:ext cx="55286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어떻게</a:t>
            </a:r>
            <a:endParaRPr lang="en-US" sz="950" dirty="0"/>
          </a:p>
        </p:txBody>
      </p:sp>
      <p:sp>
        <p:nvSpPr>
          <p:cNvPr id="13" name="card-text"/>
          <p:cNvSpPr txBox="1"/>
          <p:nvPr/>
        </p:nvSpPr>
        <p:spPr>
          <a:xfrm>
            <a:off x="1042416" y="3291840"/>
            <a:ext cx="552866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요소 클릭 → 모서리 점을 끌어 크기 조절, 요소를 끌어 이동.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위에 뜨는 도구 막대 오른쪽 끝 ⋮ → 속성 패널에서 너비·높이·여백을 수치로 입력.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822960" y="4754880"/>
            <a:ext cx="5967574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label"/>
          <p:cNvSpPr txBox="1"/>
          <p:nvPr/>
        </p:nvSpPr>
        <p:spPr>
          <a:xfrm>
            <a:off x="1042416" y="4901184"/>
            <a:ext cx="55286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추가</a:t>
            </a:r>
            <a:endParaRPr lang="en-US" sz="950" dirty="0"/>
          </a:p>
        </p:txBody>
      </p:sp>
      <p:sp>
        <p:nvSpPr>
          <p:cNvPr id="16" name="card-text"/>
          <p:cNvSpPr txBox="1"/>
          <p:nvPr/>
        </p:nvSpPr>
        <p:spPr>
          <a:xfrm>
            <a:off x="1042416" y="5212080"/>
            <a:ext cx="552866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아무것도 선택하지 않고 속성 패널을 열면 슬라이드 배경색·전환 효과 설정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패널 위 도구 막대로 텍스트(T)·이미지·표·도형 추가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2385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STEP 3 · 참고 · TWEAKS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3253740" y="603504"/>
            <a:ext cx="8112252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accent2"/>
                </a:solidFill>
              </a:rPr>
              <a:t>Tweaks — ‘디자인’ 캔버스의 조절 패널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645920"/>
            <a:ext cx="539496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label"/>
          <p:cNvSpPr txBox="1"/>
          <p:nvPr/>
        </p:nvSpPr>
        <p:spPr>
          <a:xfrm>
            <a:off x="1042416" y="1792224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언제</a:t>
            </a:r>
            <a:endParaRPr lang="en-US" sz="950" dirty="0"/>
          </a:p>
        </p:txBody>
      </p:sp>
      <p:sp>
        <p:nvSpPr>
          <p:cNvPr id="7" name="card-text"/>
          <p:cNvSpPr txBox="1"/>
          <p:nvPr/>
        </p:nvSpPr>
        <p:spPr>
          <a:xfrm>
            <a:off x="1042416" y="2103120"/>
            <a:ext cx="49560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로고 켜기/끄기, 강조색 바꾸기처럼 디자인 전반에 걸친 값을 버튼 하나로 조절할 때.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822960" y="2834640"/>
            <a:ext cx="53949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label"/>
          <p:cNvSpPr txBox="1"/>
          <p:nvPr/>
        </p:nvSpPr>
        <p:spPr>
          <a:xfrm>
            <a:off x="1042416" y="2980944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어떻게</a:t>
            </a:r>
            <a:endParaRPr lang="en-US" sz="950" dirty="0"/>
          </a:p>
        </p:txBody>
      </p:sp>
      <p:sp>
        <p:nvSpPr>
          <p:cNvPr id="10" name="card-text"/>
          <p:cNvSpPr txBox="1"/>
          <p:nvPr/>
        </p:nvSpPr>
        <p:spPr>
          <a:xfrm>
            <a:off x="1042416" y="3291840"/>
            <a:ext cx="49560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‘디자인’ 캔버스 채팅에서 “로고를 켜고 끌 수 있는 tweak 추가해줘” 요청 → 아트보드 이름 줄 오른쪽 </a:t>
            </a:r>
            <a:r>
              <a:rPr lang="en-US" sz="1200" b="1" dirty="0">
                <a:solidFill>
                  <a:schemeClr val="tx2"/>
                </a:solidFill>
              </a:rPr>
              <a:t>슬라이더 아이콘</a:t>
            </a:r>
            <a:r>
              <a:rPr lang="en-US" sz="1200" dirty="0">
                <a:solidFill>
                  <a:schemeClr val="tx1"/>
                </a:solidFill>
              </a:rPr>
              <a:t> → 오른쪽 패널 </a:t>
            </a:r>
            <a:r>
              <a:rPr lang="en-US" sz="1200" b="1" dirty="0">
                <a:solidFill>
                  <a:schemeClr val="tx2"/>
                </a:solidFill>
              </a:rPr>
              <a:t>‘Tweaks’</a:t>
            </a:r>
            <a:r>
              <a:rPr lang="en-US" sz="1200" dirty="0">
                <a:solidFill>
                  <a:schemeClr val="tx1"/>
                </a:solidFill>
              </a:rPr>
              <a:t> 탭에서 조절.</a:t>
            </a:r>
            <a:endParaRPr lang="en-US" sz="1200" dirty="0"/>
          </a:p>
        </p:txBody>
      </p:sp>
      <p:sp>
        <p:nvSpPr>
          <p:cNvPr id="11" name="screenshot-frame"/>
          <p:cNvSpPr/>
          <p:nvPr/>
        </p:nvSpPr>
        <p:spPr>
          <a:xfrm>
            <a:off x="6464808" y="1618488"/>
            <a:ext cx="4928616" cy="2637953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screenshot" descr="디자인 캔버스 — 아트보드 이름 줄의 슬라이더 아이콘과 오른쪽 패널 Tweaks 탭(showLogo 켜기/끄기, accent 색상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645920"/>
            <a:ext cx="4873752" cy="2583089"/>
          </a:xfrm>
          <a:prstGeom prst="rect">
            <a:avLst/>
          </a:prstGeom>
        </p:spPr>
      </p:pic>
      <p:sp>
        <p:nvSpPr>
          <p:cNvPr id="13" name="text"/>
          <p:cNvSpPr txBox="1"/>
          <p:nvPr/>
        </p:nvSpPr>
        <p:spPr>
          <a:xfrm>
            <a:off x="6492240" y="4338737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5"/>
                </a:solidFill>
              </a:rPr>
              <a:t>아트보드 이름 줄 슬라이더 아이콘 → 오른쪽 패널 ‘Tweaks’ 탭</a:t>
            </a:r>
            <a:endParaRPr lang="en-US" sz="1050" dirty="0"/>
          </a:p>
        </p:txBody>
      </p:sp>
      <p:sp>
        <p:nvSpPr>
          <p:cNvPr id="14" name="card"/>
          <p:cNvSpPr/>
          <p:nvPr/>
        </p:nvSpPr>
        <p:spPr>
          <a:xfrm>
            <a:off x="822960" y="4754880"/>
            <a:ext cx="10543032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label"/>
          <p:cNvSpPr txBox="1"/>
          <p:nvPr/>
        </p:nvSpPr>
        <p:spPr>
          <a:xfrm>
            <a:off x="1042416" y="490118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주의 — 새 ‘슬라이드’에는 없음</a:t>
            </a:r>
            <a:endParaRPr lang="en-US" sz="950" dirty="0"/>
          </a:p>
        </p:txBody>
      </p:sp>
      <p:sp>
        <p:nvSpPr>
          <p:cNvPr id="16" name="card-text"/>
          <p:cNvSpPr txBox="1"/>
          <p:nvPr/>
        </p:nvSpPr>
        <p:spPr>
          <a:xfrm>
            <a:off x="1042416" y="5212080"/>
            <a:ext cx="10104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이전 화면(claude.ai/design)의 덱 편집 창에서는 좌측 상단 Tweaks(T) 버튼 — 채팅 안의 새 ‘슬라이드’로 바뀌며 빠짐 (이전 화면은 12. 14.까지 사용 가능).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덱 전체 변경은 채팅으로 요청(예: “모든 슬라이드에서 로고 빼줘”). ‘디자인’ 캔버스 내보내기는 HTML·PDF·PNG — PowerPoint 없음.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27825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STEP 3 · 참고 · TWEAKS 예시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3651250" y="603504"/>
            <a:ext cx="7714742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accent2"/>
                </a:solidFill>
              </a:rPr>
              <a:t>토글에 따라 로고 On / Off</a:t>
            </a:r>
            <a:endParaRPr lang="en-US" sz="2500" dirty="0"/>
          </a:p>
        </p:txBody>
      </p:sp>
      <p:sp>
        <p:nvSpPr>
          <p:cNvPr id="5" name="label"/>
          <p:cNvSpPr txBox="1"/>
          <p:nvPr/>
        </p:nvSpPr>
        <p:spPr>
          <a:xfrm>
            <a:off x="822960" y="1645920"/>
            <a:ext cx="51343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토글 Off — 로고 없이</a:t>
            </a:r>
            <a:endParaRPr lang="en-US" sz="950" dirty="0"/>
          </a:p>
        </p:txBody>
      </p:sp>
      <p:sp>
        <p:nvSpPr>
          <p:cNvPr id="6" name="label"/>
          <p:cNvSpPr txBox="1"/>
          <p:nvPr/>
        </p:nvSpPr>
        <p:spPr>
          <a:xfrm>
            <a:off x="6231636" y="1645920"/>
            <a:ext cx="51343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토글 On — 로고 표시</a:t>
            </a:r>
            <a:endParaRPr lang="en-US" sz="950" dirty="0"/>
          </a:p>
        </p:txBody>
      </p:sp>
      <p:sp>
        <p:nvSpPr>
          <p:cNvPr id="7" name="screenshot-frame"/>
          <p:cNvSpPr/>
          <p:nvPr/>
        </p:nvSpPr>
        <p:spPr>
          <a:xfrm>
            <a:off x="795528" y="1938528"/>
            <a:ext cx="5189220" cy="3019028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8" name="screenshot" descr="Tweaks의 showLogo를 끈 상태 — 표지 오른쪽 위 로고 자리가 비어 있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5134356" cy="2964164"/>
          </a:xfrm>
          <a:prstGeom prst="rect">
            <a:avLst/>
          </a:prstGeom>
        </p:spPr>
      </p:pic>
      <p:sp>
        <p:nvSpPr>
          <p:cNvPr id="9" name="screenshot-frame"/>
          <p:cNvSpPr/>
          <p:nvPr/>
        </p:nvSpPr>
        <p:spPr>
          <a:xfrm>
            <a:off x="6204204" y="1938528"/>
            <a:ext cx="5189220" cy="3019028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screenshot" descr="Tweaks의 showLogo를 켠 상태 — 표지 오른쪽 위에 LOGO 표시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636" y="1965960"/>
            <a:ext cx="5134356" cy="2964164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822960" y="503985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chemeClr val="accent3"/>
                </a:solidFill>
              </a:rPr>
              <a:t>Tweaks 탭의 showLogo 하나로 표지의 로고 표시 여부 전환 — 아트보드에 바로 반영 (테스트용 캔버스, ‘LOGO’는 자리 표시)</a:t>
            </a:r>
            <a:endParaRPr lang="en-US" sz="1150" dirty="0"/>
          </a:p>
        </p:txBody>
      </p:sp>
      <p:sp>
        <p:nvSpPr>
          <p:cNvPr id="12" name="label"/>
          <p:cNvSpPr txBox="1"/>
          <p:nvPr/>
        </p:nvSpPr>
        <p:spPr>
          <a:xfrm>
            <a:off x="822960" y="5433044"/>
            <a:ext cx="10543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참고 — 이전 화면(claude.ai/design)의 덱 편집 창: 좌측 상단 Tweaks(T) · 우측 상단 Comment(A) · Edit(E)</a:t>
            </a:r>
            <a:endParaRPr lang="en-US" sz="950" dirty="0"/>
          </a:p>
        </p:txBody>
      </p:sp>
      <p:sp>
        <p:nvSpPr>
          <p:cNvPr id="13" name="screenshot-frame"/>
          <p:cNvSpPr/>
          <p:nvPr/>
        </p:nvSpPr>
        <p:spPr>
          <a:xfrm>
            <a:off x="795528" y="5734796"/>
            <a:ext cx="5724144" cy="1016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4" name="screenshot" descr="이전 화면의 덱 편집 창 — 좌측 상단 Tweaks 버튼과 'Describe a tweak…' 입력 상자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762228"/>
            <a:ext cx="5669280" cy="96193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769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STEP 3 · 내보내기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638679" y="603504"/>
            <a:ext cx="872731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완성본 내보내기 — 패널 위 ‘공유’ → ‘내보내기’</a:t>
            </a:r>
            <a:endParaRPr lang="en-US" sz="2500" dirty="0"/>
          </a:p>
        </p:txBody>
      </p:sp>
      <p:graphicFrame>
        <p:nvGraphicFramePr>
          <p:cNvPr id="3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45920"/>
          <a:ext cx="91440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4937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형식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언제 쓰나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PowerPoint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파워포인트에서 추가 편집·발표 (가장 일반적) — 옵션은 다음 장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PDF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그대로 배포·인쇄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PNG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슬라이드를 이미지로 저장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Google Slides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Google Drive에 편집 가능한 사본 생성 (Google 계정 필요)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HTML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웹 페이지 파일 하나로 저장 — ‘추가 형식 및 앱’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다른 앱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Canva·Gamma·Miro 등으로 보내 편집 이어가기 — ‘추가 형식 및 앱’, 계정 연결 필요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screenshot-frame"/>
          <p:cNvSpPr/>
          <p:nvPr/>
        </p:nvSpPr>
        <p:spPr>
          <a:xfrm>
            <a:off x="7653528" y="1618488"/>
            <a:ext cx="3739896" cy="3299411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7" name="screenshot" descr="공유 패널의 내보내기 탭 — PDF, PowerPoint(옵션 3개), PNG, Google Slides, 추가 형식 및 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645920"/>
            <a:ext cx="3685032" cy="3244547"/>
          </a:xfrm>
          <a:prstGeom prst="rect">
            <a:avLst/>
          </a:prstGeom>
        </p:spPr>
      </p:pic>
      <p:sp>
        <p:nvSpPr>
          <p:cNvPr id="8" name="card"/>
          <p:cNvSpPr/>
          <p:nvPr/>
        </p:nvSpPr>
        <p:spPr>
          <a:xfrm>
            <a:off x="822960" y="5166360"/>
            <a:ext cx="10543032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label"/>
          <p:cNvSpPr txBox="1"/>
          <p:nvPr/>
        </p:nvSpPr>
        <p:spPr>
          <a:xfrm>
            <a:off x="1042416" y="531266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바로 발표</a:t>
            </a:r>
            <a:endParaRPr lang="en-US" sz="950" dirty="0"/>
          </a:p>
        </p:txBody>
      </p:sp>
      <p:sp>
        <p:nvSpPr>
          <p:cNvPr id="10" name="card-text"/>
          <p:cNvSpPr txBox="1"/>
          <p:nvPr/>
        </p:nvSpPr>
        <p:spPr>
          <a:xfrm>
            <a:off x="1042416" y="5623560"/>
            <a:ext cx="10104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내보내지 않고 패널 도구 막대의 ▶로 Claude에서 발표 — 발표자 노트는 패널 아래 노트 아이콘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769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STEP 3 · 내보내기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638679" y="603504"/>
            <a:ext cx="872731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accent2"/>
                </a:solidFill>
              </a:rPr>
              <a:t>PowerPoint 내보내기 — 옵션 3가지</a:t>
            </a:r>
            <a:endParaRPr lang="en-US" sz="2500" dirty="0"/>
          </a:p>
        </p:txBody>
      </p:sp>
      <p:graphicFrame>
        <p:nvGraphicFramePr>
          <p:cNvPr id="3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45920"/>
          <a:ext cx="91440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2331720"/>
                <a:gridCol w="24231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옵션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결과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언제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현재 폰트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편집 가능 · 덱에 쓴 글꼴 그대로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받는 PC에도 같은 글꼴이 있을 때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기본 글꼴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편집 가능 · 어느 PC에나 있는 글꼴로 저장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어느 PC에서 열어도 글꼴이 바뀌지 않아야 할 때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슬라이드를 이미지로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모양 그대로 · 텍스트 편집 불가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수정 없이 화면 그대로 보낼 때</a:t>
                      </a:r>
                      <a:endParaRPr lang="en-US" sz="115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screenshot-frame"/>
          <p:cNvSpPr/>
          <p:nvPr/>
        </p:nvSpPr>
        <p:spPr>
          <a:xfrm>
            <a:off x="7653528" y="1618488"/>
            <a:ext cx="3739896" cy="1859778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7" name="screenshot" descr="PowerPoint 내보내기 옵션 — 현재 폰트, 기본 글꼴, 슬라이드를 이미지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645920"/>
            <a:ext cx="3685032" cy="1804914"/>
          </a:xfrm>
          <a:prstGeom prst="rect">
            <a:avLst/>
          </a:prstGeom>
        </p:spPr>
      </p:pic>
      <p:sp>
        <p:nvSpPr>
          <p:cNvPr id="8" name="card"/>
          <p:cNvSpPr/>
          <p:nvPr/>
        </p:nvSpPr>
        <p:spPr>
          <a:xfrm>
            <a:off x="822960" y="4160520"/>
            <a:ext cx="10543032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label"/>
          <p:cNvSpPr txBox="1"/>
          <p:nvPr/>
        </p:nvSpPr>
        <p:spPr>
          <a:xfrm>
            <a:off x="1042416" y="430682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주의 — 줄바꿈이 달라지는 경우</a:t>
            </a:r>
            <a:endParaRPr lang="en-US" sz="950" dirty="0"/>
          </a:p>
        </p:txBody>
      </p:sp>
      <p:sp>
        <p:nvSpPr>
          <p:cNvPr id="10" name="card-text"/>
          <p:cNvSpPr txBox="1"/>
          <p:nvPr/>
        </p:nvSpPr>
        <p:spPr>
          <a:xfrm>
            <a:off x="1042416" y="4617720"/>
            <a:ext cx="10104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PC에 없는 글꼴은 PowerPoint가 다른 글꼴로 바꿔 표시 → 글자 폭이 달라져 줄바꿈 변경.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화면 그대로가 중요하면 PDF 또는 ‘슬라이드를 이미지로’, 편집이 필요하면 ‘기본 글꼴’로 받은 뒤 줄바꿈 점검.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수정은 Claude에서 모두 마친 뒤 내보내기.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"/>
          <p:cNvSpPr txBox="1"/>
          <p:nvPr/>
        </p:nvSpPr>
        <p:spPr>
          <a:xfrm>
            <a:off x="914400" y="224028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chemeClr val="accent1"/>
                </a:solidFill>
              </a:rPr>
              <a:t>PART 5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3063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기관 디자인 시스템 직접 만들기</a:t>
            </a:r>
            <a:endParaRPr lang="en-US" sz="3200" dirty="0"/>
          </a:p>
        </p:txBody>
      </p:sp>
      <p:sp>
        <p:nvSpPr>
          <p:cNvPr id="4" name="subtitle"/>
          <p:cNvSpPr txBox="1"/>
          <p:nvPr/>
        </p:nvSpPr>
        <p:spPr>
          <a:xfrm>
            <a:off x="640080" y="39776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chemeClr val="accent3"/>
                </a:solidFill>
              </a:rPr>
              <a:t>심화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5093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심화 · 왜 만드나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378075" y="603504"/>
            <a:ext cx="8987917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accent2"/>
                </a:solidFill>
              </a:rPr>
              <a:t>기관 디자인 시스템 — 한 번 등록하면 모든 덱에 자동 적용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737360"/>
            <a:ext cx="5148072" cy="2377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label"/>
          <p:cNvSpPr txBox="1"/>
          <p:nvPr/>
        </p:nvSpPr>
        <p:spPr>
          <a:xfrm>
            <a:off x="1042416" y="19019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디자인 시스템 없이 — 매번 지시</a:t>
            </a:r>
            <a:endParaRPr lang="en-US" sz="950" dirty="0"/>
          </a:p>
        </p:txBody>
      </p:sp>
      <p:sp>
        <p:nvSpPr>
          <p:cNvPr id="7" name="list"/>
          <p:cNvSpPr txBox="1"/>
          <p:nvPr/>
        </p:nvSpPr>
        <p:spPr>
          <a:xfrm>
            <a:off x="1042416" y="228600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Claude가 덱마다 내용에 맞춰 스타일 결정</a:t>
            </a:r>
            <a:endParaRPr lang="en-US" sz="1200" dirty="0"/>
          </a:p>
          <a:p>
            <a:pPr marL="190500" indent="-1905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로고·기관색·서체를 프롬프트로 매번 다시 지시</a:t>
            </a:r>
            <a:endParaRPr lang="en-US" sz="1200" dirty="0"/>
          </a:p>
          <a:p>
            <a:pPr marL="190500" indent="-1905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작성자마다 결과물 톤이 달라져 기관 문서 일관성 확보 어려움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6217920" y="1737360"/>
            <a:ext cx="5148072" cy="2377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label"/>
          <p:cNvSpPr txBox="1"/>
          <p:nvPr/>
        </p:nvSpPr>
        <p:spPr>
          <a:xfrm>
            <a:off x="6437376" y="19019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기관 디자인 시스템</a:t>
            </a:r>
            <a:endParaRPr lang="en-US" sz="950" dirty="0"/>
          </a:p>
        </p:txBody>
      </p:sp>
      <p:sp>
        <p:nvSpPr>
          <p:cNvPr id="10" name="list"/>
          <p:cNvSpPr txBox="1"/>
          <p:nvPr/>
        </p:nvSpPr>
        <p:spPr>
          <a:xfrm>
            <a:off x="6437376" y="228600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로고·기관색·서체·레이아웃 규칙을 한 번 등록</a:t>
            </a:r>
            <a:endParaRPr lang="en-US" sz="1200" dirty="0"/>
          </a:p>
          <a:p>
            <a:pPr marL="190500" indent="-1905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팀원 전체에 공유하여 같은 브랜드의 PPT 작성 (Team·Enterprise)</a:t>
            </a:r>
            <a:endParaRPr lang="en-US" sz="1200" dirty="0"/>
          </a:p>
          <a:p>
            <a:pPr marL="190500" indent="-1905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프롬프트에서 디자인 지시 생략 → 내용 설계에 집중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822960" y="4389120"/>
            <a:ext cx="10543032" cy="777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"/>
          <p:cNvSpPr txBox="1"/>
          <p:nvPr/>
        </p:nvSpPr>
        <p:spPr>
          <a:xfrm>
            <a:off x="1042416" y="4389120"/>
            <a:ext cx="10104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chemeClr val="accent3"/>
                </a:solidFill>
              </a:rPr>
              <a:t>디자인 시스템은 베타 · Pro·Max·Team·Enterprise에서 사용 — Enterprise는 관리자가 Organization settings &gt; Artifacts에서 켜야 사용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674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심화 · 만드는 방법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543175" y="603504"/>
            <a:ext cx="8822817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accent2"/>
                </a:solidFill>
              </a:rPr>
              <a:t>만드는 방법 — ‘새 디자인 시스템’에서 브랜드 파일 업로드</a:t>
            </a:r>
            <a:endParaRPr lang="en-US" sz="2500" dirty="0"/>
          </a:p>
        </p:txBody>
      </p:sp>
      <p:sp>
        <p:nvSpPr>
          <p:cNvPr id="5" name="screenshot-frame"/>
          <p:cNvSpPr/>
          <p:nvPr/>
        </p:nvSpPr>
        <p:spPr>
          <a:xfrm>
            <a:off x="8408343" y="1618488"/>
            <a:ext cx="2985081" cy="3986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screenshot" descr="새 디자인 시스템 시작 화면 — GitHub에서 동기화, 커넥터에서 만들기, 브랜드 파일 업로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775" y="1645920"/>
            <a:ext cx="2930217" cy="393192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822960" y="1645920"/>
            <a:ext cx="7292775" cy="3931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step-no"/>
          <p:cNvSpPr txBox="1"/>
          <p:nvPr/>
        </p:nvSpPr>
        <p:spPr>
          <a:xfrm>
            <a:off x="1042416" y="1645920"/>
            <a:ext cx="45720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step-text"/>
          <p:cNvSpPr txBox="1"/>
          <p:nvPr/>
        </p:nvSpPr>
        <p:spPr>
          <a:xfrm>
            <a:off x="1554480" y="1645920"/>
            <a:ext cx="6341799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설정 &gt; 디자인 시스템 &gt; </a:t>
            </a:r>
            <a:r>
              <a:rPr lang="en-US" sz="1250" b="1" dirty="0">
                <a:solidFill>
                  <a:schemeClr val="tx2"/>
                </a:solidFill>
              </a:rPr>
              <a:t>‘+ 새 디자인 시스템’</a:t>
            </a:r>
            <a:r>
              <a:rPr lang="en-US" sz="1250" dirty="0">
                <a:solidFill>
                  <a:schemeClr val="tx1"/>
                </a:solidFill>
              </a:rPr>
              <a:t> → </a:t>
            </a:r>
            <a:r>
              <a:rPr lang="en-US" sz="1250" b="1" dirty="0">
                <a:solidFill>
                  <a:schemeClr val="tx2"/>
                </a:solidFill>
              </a:rPr>
              <a:t>‘Claude 사용’</a:t>
            </a:r>
            <a:r>
              <a:rPr lang="en-US" sz="1250" dirty="0">
                <a:solidFill>
                  <a:schemeClr val="tx1"/>
                </a:solidFill>
              </a:rPr>
              <a:t> (새 채팅 입력창 + → ‘디자인 시스템’ → ‘새 디자인 시스템’도 가능)</a:t>
            </a:r>
            <a:endParaRPr lang="en-US" sz="1250" dirty="0"/>
          </a:p>
        </p:txBody>
      </p:sp>
      <p:sp>
        <p:nvSpPr>
          <p:cNvPr id="10" name="divider"/>
          <p:cNvSpPr/>
          <p:nvPr/>
        </p:nvSpPr>
        <p:spPr>
          <a:xfrm>
            <a:off x="1005840" y="2628900"/>
            <a:ext cx="6927015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11" name="step-no"/>
          <p:cNvSpPr txBox="1"/>
          <p:nvPr/>
        </p:nvSpPr>
        <p:spPr>
          <a:xfrm>
            <a:off x="1042416" y="2628900"/>
            <a:ext cx="45720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step-text"/>
          <p:cNvSpPr txBox="1"/>
          <p:nvPr/>
        </p:nvSpPr>
        <p:spPr>
          <a:xfrm>
            <a:off x="1554480" y="2628900"/>
            <a:ext cx="6341799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시작 방법 중 </a:t>
            </a:r>
            <a:r>
              <a:rPr lang="en-US" sz="1250" b="1" dirty="0">
                <a:solidFill>
                  <a:schemeClr val="tx2"/>
                </a:solidFill>
              </a:rPr>
              <a:t>‘브랜드 파일 업로드’</a:t>
            </a:r>
            <a:r>
              <a:rPr lang="en-US" sz="1250" dirty="0">
                <a:solidFill>
                  <a:schemeClr val="tx1"/>
                </a:solidFill>
              </a:rPr>
              <a:t> 선택 — 로고·글꼴·가이드라인·기존 PPT 첨부</a:t>
            </a:r>
            <a:endParaRPr lang="en-US" sz="1250" dirty="0"/>
          </a:p>
        </p:txBody>
      </p:sp>
      <p:sp>
        <p:nvSpPr>
          <p:cNvPr id="13" name="divider"/>
          <p:cNvSpPr/>
          <p:nvPr/>
        </p:nvSpPr>
        <p:spPr>
          <a:xfrm>
            <a:off x="1005840" y="3611880"/>
            <a:ext cx="6927015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14" name="step-no"/>
          <p:cNvSpPr txBox="1"/>
          <p:nvPr/>
        </p:nvSpPr>
        <p:spPr>
          <a:xfrm>
            <a:off x="1042416" y="3611880"/>
            <a:ext cx="45720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03</a:t>
            </a:r>
            <a:endParaRPr lang="en-US" sz="1000" dirty="0"/>
          </a:p>
        </p:txBody>
      </p:sp>
      <p:sp>
        <p:nvSpPr>
          <p:cNvPr id="15" name="step-text"/>
          <p:cNvSpPr txBox="1"/>
          <p:nvPr/>
        </p:nvSpPr>
        <p:spPr>
          <a:xfrm>
            <a:off x="1554480" y="3611880"/>
            <a:ext cx="6341799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Claude가 초안 작성 → 오른쪽 안내 페이지에서 용도·규칙 보완</a:t>
            </a:r>
            <a:endParaRPr lang="en-US" sz="1250" dirty="0"/>
          </a:p>
        </p:txBody>
      </p:sp>
      <p:sp>
        <p:nvSpPr>
          <p:cNvPr id="16" name="divider"/>
          <p:cNvSpPr/>
          <p:nvPr/>
        </p:nvSpPr>
        <p:spPr>
          <a:xfrm>
            <a:off x="1005840" y="4594860"/>
            <a:ext cx="6927015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17" name="step-no"/>
          <p:cNvSpPr txBox="1"/>
          <p:nvPr/>
        </p:nvSpPr>
        <p:spPr>
          <a:xfrm>
            <a:off x="1042416" y="4594860"/>
            <a:ext cx="45720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04</a:t>
            </a:r>
            <a:endParaRPr lang="en-US" sz="1000" dirty="0"/>
          </a:p>
        </p:txBody>
      </p:sp>
      <p:sp>
        <p:nvSpPr>
          <p:cNvPr id="18" name="step-text"/>
          <p:cNvSpPr txBox="1"/>
          <p:nvPr/>
        </p:nvSpPr>
        <p:spPr>
          <a:xfrm>
            <a:off x="1554480" y="4594860"/>
            <a:ext cx="6341799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완성 후 슬라이드 시작 화면의 </a:t>
            </a:r>
            <a:r>
              <a:rPr lang="en-US" sz="1250" b="1" dirty="0">
                <a:solidFill>
                  <a:schemeClr val="tx2"/>
                </a:solidFill>
              </a:rPr>
              <a:t>‘디자인 시스템 선택…’</a:t>
            </a:r>
            <a:r>
              <a:rPr lang="en-US" sz="1250" dirty="0">
                <a:solidFill>
                  <a:schemeClr val="tx1"/>
                </a:solidFill>
              </a:rPr>
              <a:t>에서 선택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5093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심화 · 입력 내용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378075" y="603504"/>
            <a:ext cx="8987917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올릴 자료와 적을 내용 — 이름 · 브랜드 자료 · 규칙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645920"/>
            <a:ext cx="10543032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label"/>
          <p:cNvSpPr txBox="1"/>
          <p:nvPr/>
        </p:nvSpPr>
        <p:spPr>
          <a:xfrm>
            <a:off x="1042416" y="179222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이름 · 용도</a:t>
            </a:r>
            <a:endParaRPr lang="en-US" sz="950" dirty="0"/>
          </a:p>
        </p:txBody>
      </p:sp>
      <p:sp>
        <p:nvSpPr>
          <p:cNvPr id="7" name="card-text"/>
          <p:cNvSpPr txBox="1"/>
          <p:nvPr/>
        </p:nvSpPr>
        <p:spPr>
          <a:xfrm>
            <a:off x="1042416" y="2103120"/>
            <a:ext cx="10104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디자인 시스템 이름 + 용도 1~2문장. 예) ‘KISTI 보고서용’. 선택 목록에서 구분하는 이름 — 첫 메시지에 함께 적기.</a:t>
            </a:r>
            <a:endParaRPr lang="en-US" sz="1250" dirty="0"/>
          </a:p>
        </p:txBody>
      </p:sp>
      <p:sp>
        <p:nvSpPr>
          <p:cNvPr id="8" name="card"/>
          <p:cNvSpPr/>
          <p:nvPr/>
        </p:nvSpPr>
        <p:spPr>
          <a:xfrm>
            <a:off x="822960" y="2880360"/>
            <a:ext cx="10543032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label"/>
          <p:cNvSpPr txBox="1"/>
          <p:nvPr/>
        </p:nvSpPr>
        <p:spPr>
          <a:xfrm>
            <a:off x="1042416" y="302666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브랜드 자료</a:t>
            </a:r>
            <a:endParaRPr lang="en-US" sz="950" dirty="0"/>
          </a:p>
        </p:txBody>
      </p:sp>
      <p:sp>
        <p:nvSpPr>
          <p:cNvPr id="10" name="card-text"/>
          <p:cNvSpPr txBox="1"/>
          <p:nvPr/>
        </p:nvSpPr>
        <p:spPr>
          <a:xfrm>
            <a:off x="1042416" y="3337560"/>
            <a:ext cx="10104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표준 보고서 PPT 템플릿 &gt; 로고(SVG·PNG) &gt; CI 가이드 PDF &gt; 지정 서체(.ttf/.otf) 순으로 디자인 일관성 효과 좋음.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스펙 서술보다 실제 완성물이 효과적.</a:t>
            </a:r>
            <a:endParaRPr lang="en-US" sz="1250" dirty="0"/>
          </a:p>
        </p:txBody>
      </p:sp>
      <p:sp>
        <p:nvSpPr>
          <p:cNvPr id="11" name="card"/>
          <p:cNvSpPr/>
          <p:nvPr/>
        </p:nvSpPr>
        <p:spPr>
          <a:xfrm>
            <a:off x="822960" y="4389120"/>
            <a:ext cx="10543032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label"/>
          <p:cNvSpPr txBox="1"/>
          <p:nvPr/>
        </p:nvSpPr>
        <p:spPr>
          <a:xfrm>
            <a:off x="1042416" y="453542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규칙 문장</a:t>
            </a:r>
            <a:endParaRPr lang="en-US" sz="950" dirty="0"/>
          </a:p>
        </p:txBody>
      </p:sp>
      <p:sp>
        <p:nvSpPr>
          <p:cNvPr id="13" name="card-text"/>
          <p:cNvSpPr txBox="1"/>
          <p:nvPr/>
        </p:nvSpPr>
        <p:spPr>
          <a:xfrm>
            <a:off x="1042416" y="4846320"/>
            <a:ext cx="10104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파일로 전달되지 않는 규칙을 문장으로 — 색 hex · 서체명 · 흰 배경·장식 최소화 · 로고 위치 · 슬라이드당 메시지 문체 등.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채팅에 적거나 오른쪽 안내 페이지에 직접 작성 — Claude가 디자인 전에 먼저 읽는 페이지.</a:t>
            </a:r>
            <a:endParaRPr lang="en-US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674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심화 · 기존 사용자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543175" y="603504"/>
            <a:ext cx="8822817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이전 Claude Design 사용자 — 디자인 시스템 옮기기</a:t>
            </a:r>
            <a:endParaRPr lang="en-US" sz="2500" dirty="0"/>
          </a:p>
        </p:txBody>
      </p:sp>
      <p:sp>
        <p:nvSpPr>
          <p:cNvPr id="5" name="screenshot-frame"/>
          <p:cNvSpPr/>
          <p:nvPr/>
        </p:nvSpPr>
        <p:spPr>
          <a:xfrm>
            <a:off x="6967728" y="1618488"/>
            <a:ext cx="4425696" cy="2339118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screenshot" descr="설정 &gt; 디자인 시스템 목록 — 옮기기 전 항목에 '독립 실행형' 표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1645920"/>
            <a:ext cx="4370832" cy="2284254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822960" y="1645920"/>
            <a:ext cx="585216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step-no"/>
          <p:cNvSpPr txBox="1"/>
          <p:nvPr/>
        </p:nvSpPr>
        <p:spPr>
          <a:xfrm>
            <a:off x="1042416" y="164592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step-text"/>
          <p:cNvSpPr txBox="1"/>
          <p:nvPr/>
        </p:nvSpPr>
        <p:spPr>
          <a:xfrm>
            <a:off x="1554480" y="1645920"/>
            <a:ext cx="4901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사이드바 ‘아티팩트’ 위 안내의 </a:t>
            </a:r>
            <a:r>
              <a:rPr lang="en-US" sz="1250" b="1" dirty="0">
                <a:solidFill>
                  <a:schemeClr val="tx2"/>
                </a:solidFill>
              </a:rPr>
              <a:t>‘팀 디자인 시스템 이동’</a:t>
            </a:r>
            <a:r>
              <a:rPr lang="en-US" sz="1250" dirty="0">
                <a:solidFill>
                  <a:schemeClr val="tx1"/>
                </a:solidFill>
              </a:rPr>
              <a:t> 클릭 → 안내에 따라 진행</a:t>
            </a:r>
            <a:endParaRPr lang="en-US" sz="1250" dirty="0"/>
          </a:p>
        </p:txBody>
      </p:sp>
      <p:sp>
        <p:nvSpPr>
          <p:cNvPr id="10" name="divider"/>
          <p:cNvSpPr/>
          <p:nvPr/>
        </p:nvSpPr>
        <p:spPr>
          <a:xfrm>
            <a:off x="1005840" y="2651760"/>
            <a:ext cx="548640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11" name="step-no"/>
          <p:cNvSpPr txBox="1"/>
          <p:nvPr/>
        </p:nvSpPr>
        <p:spPr>
          <a:xfrm>
            <a:off x="1042416" y="265176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step-text"/>
          <p:cNvSpPr txBox="1"/>
          <p:nvPr/>
        </p:nvSpPr>
        <p:spPr>
          <a:xfrm>
            <a:off x="1554480" y="2651760"/>
            <a:ext cx="4901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결과는 </a:t>
            </a:r>
            <a:r>
              <a:rPr lang="en-US" sz="1250" b="1" dirty="0">
                <a:solidFill>
                  <a:schemeClr val="tx2"/>
                </a:solidFill>
              </a:rPr>
              <a:t>설정 &gt; 디자인 시스템</a:t>
            </a:r>
            <a:r>
              <a:rPr lang="en-US" sz="1250" dirty="0">
                <a:solidFill>
                  <a:schemeClr val="tx1"/>
                </a:solidFill>
              </a:rPr>
              <a:t>에서 확인 — ‘독립 실행형’ 표시는 이전 화면의 원본</a:t>
            </a:r>
            <a:endParaRPr lang="en-US" sz="1250" dirty="0"/>
          </a:p>
        </p:txBody>
      </p:sp>
      <p:sp>
        <p:nvSpPr>
          <p:cNvPr id="13" name="card"/>
          <p:cNvSpPr/>
          <p:nvPr/>
        </p:nvSpPr>
        <p:spPr>
          <a:xfrm>
            <a:off x="822960" y="3840480"/>
            <a:ext cx="5852160" cy="1920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label"/>
          <p:cNvSpPr txBox="1"/>
          <p:nvPr/>
        </p:nvSpPr>
        <p:spPr>
          <a:xfrm>
            <a:off x="1042416" y="3986784"/>
            <a:ext cx="5413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옮겨지지 않는 것</a:t>
            </a:r>
            <a:endParaRPr lang="en-US" sz="950" dirty="0"/>
          </a:p>
        </p:txBody>
      </p:sp>
      <p:sp>
        <p:nvSpPr>
          <p:cNvPr id="15" name="list"/>
          <p:cNvSpPr txBox="1"/>
          <p:nvPr/>
        </p:nvSpPr>
        <p:spPr>
          <a:xfrm>
            <a:off x="1042416" y="4315968"/>
            <a:ext cx="54132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기본 프리셋(Classical 등)으로 만든 디자인 시스템 · 빈 디자인 시스템</a:t>
            </a:r>
            <a:endParaRPr lang="en-US" sz="1200" dirty="0"/>
          </a:p>
          <a:p>
            <a:pPr marL="190500" indent="-1905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이전 화면의 채팅·댓글 · 공개 링크 — 필요한 내용은 미리 저장</a:t>
            </a:r>
            <a:endParaRPr lang="en-US" sz="1200" dirty="0"/>
          </a:p>
        </p:txBody>
      </p:sp>
      <p:sp>
        <p:nvSpPr>
          <p:cNvPr id="16" name="card"/>
          <p:cNvSpPr/>
          <p:nvPr/>
        </p:nvSpPr>
        <p:spPr>
          <a:xfrm>
            <a:off x="6995160" y="4204494"/>
            <a:ext cx="4370832" cy="1556226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label"/>
          <p:cNvSpPr txBox="1"/>
          <p:nvPr/>
        </p:nvSpPr>
        <p:spPr>
          <a:xfrm>
            <a:off x="7214616" y="435079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기한</a:t>
            </a:r>
            <a:endParaRPr lang="en-US" sz="950" dirty="0"/>
          </a:p>
        </p:txBody>
      </p:sp>
      <p:sp>
        <p:nvSpPr>
          <p:cNvPr id="18" name="card-text"/>
          <p:cNvSpPr txBox="1"/>
          <p:nvPr/>
        </p:nvSpPr>
        <p:spPr>
          <a:xfrm>
            <a:off x="7214616" y="4661694"/>
            <a:ext cx="3931920" cy="989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2026. 12. 14. 별도 화면 종료 전까지 — 실습에 쓸 디자인 시스템은 미리 옮겨 두기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ude Slides Lecture">
  <a:themeElements>
    <a:clrScheme name="Claude Slides Lecture">
      <a:dk1>
        <a:srgbClr val="ECE7DC"/>
      </a:dk1>
      <a:lt1>
        <a:srgbClr val="0D0D0A"/>
      </a:lt1>
      <a:dk2>
        <a:srgbClr val="FFFFFF"/>
      </a:dk2>
      <a:lt2>
        <a:srgbClr val="1A1810"/>
      </a:lt2>
      <a:accent1>
        <a:srgbClr val="FFD733"/>
      </a:accent1>
      <a:accent2>
        <a:srgbClr val="FFDF57"/>
      </a:accent2>
      <a:accent3>
        <a:srgbClr val="C6BFAD"/>
      </a:accent3>
      <a:accent4>
        <a:srgbClr val="4A4430"/>
      </a:accent4>
      <a:accent5>
        <a:srgbClr val="8A836F"/>
      </a:accent5>
      <a:accent6>
        <a:srgbClr val="D9825B"/>
      </a:accent6>
      <a:hlink>
        <a:srgbClr val="FFD733"/>
      </a:hlink>
      <a:folHlink>
        <a:srgbClr val="C6BFAD"/>
      </a:folHlink>
    </a:clrScheme>
    <a:fontScheme name="Claude Slides Lecture">
      <a:majorFont>
        <a:latin typeface="Malgun Gothic"/>
        <a:ea typeface="Malgun Gothi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Malgun Gothi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Slides로 보고서를 PPT로 만들고 편집하기</dc:title>
  <dc:subject>2026. 10. 기준 개정</dc:subject>
  <dc:creator>PptxGenJS</dc:creator>
  <cp:lastModifiedBy>PptxGenJS</cp:lastModifiedBy>
  <cp:revision>1</cp:revision>
  <dcterms:created xsi:type="dcterms:W3CDTF">2026-10-25T11:48:48Z</dcterms:created>
  <dcterms:modified xsi:type="dcterms:W3CDTF">2026-10-25T11:48:48Z</dcterms:modified>
</cp:coreProperties>
</file>