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</p:sldMasterIdLst>
  <p:notesMasterIdLst>
    <p:notesMasterId r:id="rId16"/>
  </p:notesMasterIdLst>
  <p:sldIdLst>
    <p:sldId id="324" r:id="rId3"/>
    <p:sldId id="271" r:id="rId4"/>
    <p:sldId id="577" r:id="rId5"/>
    <p:sldId id="325" r:id="rId6"/>
    <p:sldId id="326" r:id="rId7"/>
    <p:sldId id="328" r:id="rId8"/>
    <p:sldId id="329" r:id="rId9"/>
    <p:sldId id="330" r:id="rId10"/>
    <p:sldId id="573" r:id="rId11"/>
    <p:sldId id="578" r:id="rId12"/>
    <p:sldId id="574" r:id="rId13"/>
    <p:sldId id="331" r:id="rId14"/>
    <p:sldId id="579" r:id="rId21"/>
    <p:sldId id="346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  <Relationship Id="rId21" Type="http://schemas.openxmlformats.org/officeDocument/2006/relationships/slide" Target="slides/slide14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CF1BD6-0E7A-42F5-A31D-65FD5271A526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56985E-7B6B-4A51-B6DA-3606131FA2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011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3424A-D3FE-F695-A3DC-0C052A796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0C8471-068B-94A0-6BAD-9128B21C5C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783935-ED41-3A23-6285-47D0066835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오프닝. 오늘은 '차트 그리는 법'이 아니라 프로젝트라는 작업 공간을 만들고, 그 안에서 반복 업무를 이어가는 방법을 배웁니다. 비개발 직군도 그대로 따라올 수 있는 흐름입니다.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0AE67C-AC62-7374-EBD5-109E4E2267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69211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83282-D2B0-EA87-BBF4-51DE56486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PlaceHolder 1">
            <a:extLst>
              <a:ext uri="{FF2B5EF4-FFF2-40B4-BE49-F238E27FC236}">
                <a16:creationId xmlns:a16="http://schemas.microsoft.com/office/drawing/2014/main" id="{F0C7EE46-A3E6-1CF4-A5F6-DDC28CC8B7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04" name="PlaceHolder 2">
            <a:extLst>
              <a:ext uri="{FF2B5EF4-FFF2-40B4-BE49-F238E27FC236}">
                <a16:creationId xmlns:a16="http://schemas.microsoft.com/office/drawing/2014/main" id="{8757CCE2-E9E2-A5D4-AECA-21654BDEF50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결과물이 대화창 옆에 열리는 것을 시연(호버로 값 확인). 3종 구성(묶음막대·추이선·도넛). 배포된 HTML 템플릿이 동일 결과물임을 보여주고 더블클릭으로 열어본다.</a:t>
            </a:r>
          </a:p>
          <a:p>
            <a:pPr marL="216000" indent="0">
              <a:lnSpc>
                <a:spcPct val="100000"/>
              </a:lnSpc>
              <a:buNone/>
            </a:pP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※ 프롬프트에 'HTML 파일'을 넣은 이유: '대시보드'라고만 요청하면 Claude가 자체 대시보드 템플릿(베타, 유료 플랜)으로 만들 수 있음. 이 템플릿은 외부 스크립트를 막아 Plotly를 쓸 수 없고, 차트는 내장된 d3로 그림(2026.10 확인).</a:t>
            </a:r>
          </a:p>
          <a:p>
            <a:pPr marL="216000" indent="0">
              <a:lnSpc>
                <a:spcPct val="100000"/>
              </a:lnSpc>
              <a:buNone/>
            </a:pP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※ 모델은 입력창 아래 모델 메뉴에서 변경. 비교할 때 같은 메뉴의 '노력'은 기본값(중간) 그대로 유지. Fable 5.1은 Pro·Team 표준 좌석 등에서 플랜 한도에 포함되지 않고 사용량 크레딧이 따로 차감되므로 실습에서 제외.</a:t>
            </a:r>
          </a:p>
          <a:p>
            <a:pPr marL="216000" indent="0">
              <a:lnSpc>
                <a:spcPct val="100000"/>
              </a:lnSpc>
              <a:buNone/>
            </a:pP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※ 파일이 만들어지지 않으면 설정 &gt; 기능 &gt; '클라우드에서 코드 실행'이 켜져 있는지 확인(Team·Enterprise는 조직 설정 &gt; 기능).</a:t>
            </a:r>
          </a:p>
        </p:txBody>
      </p:sp>
      <p:sp>
        <p:nvSpPr>
          <p:cNvPr id="1305" name="PlaceHolder 3">
            <a:extLst>
              <a:ext uri="{FF2B5EF4-FFF2-40B4-BE49-F238E27FC236}">
                <a16:creationId xmlns:a16="http://schemas.microsoft.com/office/drawing/2014/main" id="{EF5D8668-10B0-0DDD-5CDC-48259293DF47}"/>
              </a:ext>
            </a:extLst>
          </p:cNvPr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8595A6-81DB-47A6-917A-FA7F25FA4428}" type="slidenum"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0319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EB359-B42A-8AB9-1E3D-B6C1E7DEB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PlaceHolder 1">
            <a:extLst>
              <a:ext uri="{FF2B5EF4-FFF2-40B4-BE49-F238E27FC236}">
                <a16:creationId xmlns:a16="http://schemas.microsoft.com/office/drawing/2014/main" id="{07752374-4A3C-AFFC-0187-C4057CB7E2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04" name="PlaceHolder 2">
            <a:extLst>
              <a:ext uri="{FF2B5EF4-FFF2-40B4-BE49-F238E27FC236}">
                <a16:creationId xmlns:a16="http://schemas.microsoft.com/office/drawing/2014/main" id="{C9764988-249C-4C34-2CD6-10020708CAA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대화창 옆 미리보기를 띄워 놓고 왼쪽 순서대로 확인(파일 열기 → 호버 → 색 고정 → 도구 막대 → 내려받아 열기). 3종 구성(묶음막대·추이선·도넛).</a:t>
            </a:r>
          </a:p>
          <a:p>
            <a:pPr marL="216000" indent="0">
              <a:lnSpc>
                <a:spcPct val="100000"/>
              </a:lnSpc>
              <a:buNone/>
            </a:pP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미리보기 안에서 차트가 안 그려지거나 PNG 저장이 안 되면 내려받은 파일을 브라우저에서 열어 확인. 미리보기 동작은 강의 환경에서 한 번 확인해 둘 것.</a:t>
            </a:r>
          </a:p>
          <a:p>
            <a:pPr marL="216000" indent="0">
              <a:lnSpc>
                <a:spcPct val="100000"/>
              </a:lnSpc>
              <a:buNone/>
            </a:pP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Plotly 도구 막대가 없으면 대시보드 템플릿 등 다른 방식으로 만들어진 경우 → 'Plotly로 HTML 파일을 다시 만들어줘'로 재요청.</a:t>
            </a:r>
          </a:p>
          <a:p>
            <a:pPr marL="216000" indent="0">
              <a:lnSpc>
                <a:spcPct val="100000"/>
              </a:lnSpc>
              <a:buNone/>
            </a:pP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'Opus가 더 완성도 높음'은 이전 모델 기준 실측. 현재 모델(Sonnet 5.5·Opus 5.5)로 강의 전 한 번 비교해 보고 설명.</a:t>
            </a:r>
          </a:p>
        </p:txBody>
      </p:sp>
      <p:sp>
        <p:nvSpPr>
          <p:cNvPr id="1305" name="PlaceHolder 3">
            <a:extLst>
              <a:ext uri="{FF2B5EF4-FFF2-40B4-BE49-F238E27FC236}">
                <a16:creationId xmlns:a16="http://schemas.microsoft.com/office/drawing/2014/main" id="{AEE931BC-B5FB-FE05-6B01-3C52BA421B2B}"/>
              </a:ext>
            </a:extLst>
          </p:cNvPr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8595A6-81DB-47A6-917A-FA7F25FA4428}" type="slidenum"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6339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CF938-9AEA-8364-A809-3299A7060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A22B5F-5037-D6F1-7681-78E31E6F37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B6DD45-32CE-7454-32D3-4E64996126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일회성 질문은 일반 대화로 충분합니다. 프로젝트가 필요한 건 '같은 일을 주기적으로 반복'할 때입니다. 수강생에게 본인의 반복 업무를 하나 떠올려 보게 하세요.</a:t>
            </a:r>
          </a:p>
          <a:p>
            <a:pPr/>
            <a:r>
              <a:rPr lang="en-US" dirty="0"/>
              <a:t>메모리가 켜져 있으면(Free·Pro·Max 기본값) 일반 대화도 이전 내용을 어느 정도 기억함. '기억하던데요?'라는 질문이 나오면: 메모리는 핵심 내용을 주제별로 요약해 저장하는 기능, 지침 원문과 파일을 그대로 고정하는 것은 프로젝트라고 구분.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37E854-A46B-7959-BE71-9FDA442774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24137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347E0-9BD6-39F6-97F0-6507B6D01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49ACF9-B198-60C2-2019-9B6EBD672F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63054B-4E5C-A2C4-FDBF-BA128FAC35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실제 화면을 함께 띄워 놓고 세 영역이 어디에 있는지 손으로 짚어 주세요. 지침 = 규칙, 컨텍스트 = 자료, 대화 = 기록.</a:t>
            </a:r>
          </a:p>
          <a:p>
            <a:pPr/>
            <a:r>
              <a:rPr lang="en-US" dirty="0"/>
              <a:t>검색과 메모리는 별개 설정. '채팅 검색 및 참조'를 켜도 프로젝트 안에서는 그 프로젝트 대화만 검색되고 일반 채팅은 검색 안 됨(2026.10 실측). 일반 채팅 내용이 프로젝트에 섞이는 경로는 '채팅에서 메모리 생성'이 켜져 있을 때의 메모리뿐 → 이것까지 막으려면 프로젝트의 '계정 메모리 사용' 끄기.</a:t>
            </a:r>
          </a:p>
          <a:p>
            <a:pPr/>
            <a:r>
              <a:rPr lang="en-US" dirty="0"/>
              <a:t>메모리 기본값: Free·Pro·Max는 켜짐, Team·Enterprise는 관리자가 허용한 뒤 각자 켜야 함. '채팅에서 메모리 생성'이 꺼진 계정은 프로젝트 화면에 메모리 항목이 보이지 않음(2026.10 확인).</a:t>
            </a:r>
          </a:p>
          <a:p>
            <a:pPr/>
            <a:r>
              <a:rPr lang="en-US" dirty="0"/>
              <a:t>이전 대화 검색('채팅 검색 및 참조')은 유료 플랜 기능. 같은 프로젝트 안의 이전 실습 내용이 결과에 섞이는 게 걱정되면 새 프로젝트로 진행.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CDE6F1-6844-95C8-D440-5B306C4D27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13297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A0D3B-3A04-2E00-7D4F-3842F6085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37B888-07EC-33E5-8A6C-24225CFB77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5CD37D-7E81-9436-699D-AD04A79B2C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여기서 한 번 멈추고 전원이 프로젝트 생성까지 마쳤는지 확인하세요. 지침 붙여넣기는 다음 장에서 함께 진행합니다.</a:t>
            </a:r>
          </a:p>
          <a:p>
            <a:pPr/>
            <a:r>
              <a:rPr lang="en-US" dirty="0"/>
              <a:t>우측 패널 버튼 명칭: 지침이 등록된 프로젝트에서는 '편집', 컨텍스트·예정됨은 '추가'로 표시(2026.10.22 확인). 새 프로젝트의 빈 지침 칸 버튼 명칭은 실습 전 한 번 확인.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F8535B-9D25-6C9E-C810-894DE783A4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21566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A3138-010F-C248-4C83-432896A7F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87B0DA-875F-9F73-F00D-A2CCE36571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322E31-CFCD-0C68-4B07-C80E0BBCFC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지침을 한 줄씩 읽으며 '이건 원래 매번 말로 설명하던 것'이라는 점을 짚어 주세요.</a:t>
            </a:r>
          </a:p>
          <a:p>
            <a:pPr/>
            <a:r>
              <a:rPr lang="en-US" dirty="0"/>
              <a:t>'HTML 파일로 만들며'를 넣은 이유: 결과 형태를 파일로 정해 두면 Claude가 자체 대시보드 템플릿(Plotly 사용 불가)을 고르지 않고, 내려받아 보고서 작업에 바로 활용 가능.</a:t>
            </a:r>
          </a:p>
          <a:p>
            <a:pPr/>
            <a:r>
              <a:rPr lang="en-US" dirty="0"/>
              <a:t>Enterprise 조직은 코드 실행 환경의 외부 네트워크가 기본으로 꺼져 있어 plotly 설치가 막힐 수 있음 → 관리자에게 조직 설정 &gt; 기능의 '패키지 매니저만' 허용 요청.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BB8311-11E6-F399-7471-C0A30223F1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96175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0A973-0855-CBE9-8C92-0FE738D77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A88829-C187-4917-58C3-67599547CA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5BFDC7-9D95-11F2-C81F-ADEAF808BA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결과는 대개 HTML 파일로 대화에 첨부되고, 클릭하면 대화창 옆 미리보기로 열림(안 보이면 내려받아 브라우저에서 확인). 차트 하단 우측의 KISTEP 표기로 지침 적용 여부 확인.</a:t>
            </a:r>
            <a:endParaRPr lang="en-US" dirty="0"/>
          </a:p>
          <a:p>
            <a:pPr/>
            <a:r>
              <a:rPr lang="en-US" dirty="0"/>
              <a:t>허용 여부를 묻는 창은 권한 설정이 '수동'일 때 나타나는 정상 확인 절차. 기본값은 Pro·Max·Team '자동', Enterprise '수동'(2026.10 영문 도움말 기준. 한국어 도움말은 아직 '수동(기본값)'으로 표기).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3BAB75-CEAA-D864-574F-07840D9473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41492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D4EED-EB40-D718-5AE3-3D69B86D0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PlaceHolder 1">
            <a:extLst>
              <a:ext uri="{FF2B5EF4-FFF2-40B4-BE49-F238E27FC236}">
                <a16:creationId xmlns:a16="http://schemas.microsoft.com/office/drawing/2014/main" id="{EC82E244-5B0C-5433-B758-3F6290CD6B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07" name="PlaceHolder 2">
            <a:extLst>
              <a:ext uri="{FF2B5EF4-FFF2-40B4-BE49-F238E27FC236}">
                <a16:creationId xmlns:a16="http://schemas.microsoft.com/office/drawing/2014/main" id="{FE0A9C37-6F43-461F-D4A1-AC830F5946F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'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차트 공장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' =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프로젝트 지침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(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하우스 스타일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) +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표준 프롬프트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한 번 세팅하면 데이터만 올리고 표준요청만 보내면 됨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이것이 노코딩 워크플로우의 핵심 산출물. ※ 주의(2026.7 실측): 프로젝트 지침은 전문이 모든 대화에 항상 로드되므로 대괄호만으로는 지침이 분리되지 않고, 호출하지 않은 지침의 기본값까지 함께 실행된다. 활성화 규칙을 지침 안에 명시하되 100% 보장은 아니며, 완전한 격리가 필요하면 기관별 프로젝트 분리 또는 Skills(관련 작업 시에만 로드되는 공식 기능) 사용을 안내할 것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308" name="PlaceHolder 3">
            <a:extLst>
              <a:ext uri="{FF2B5EF4-FFF2-40B4-BE49-F238E27FC236}">
                <a16:creationId xmlns:a16="http://schemas.microsoft.com/office/drawing/2014/main" id="{56AFACC4-4D34-1A5A-F10C-CD50054F5156}"/>
              </a:ext>
            </a:extLst>
          </p:cNvPr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0F5539-BCCD-4FDC-86A6-827E86660078}" type="slidenum"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60595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15439-85AE-45EB-A4FB-9A5CA0A20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PlaceHolder 1">
            <a:extLst>
              <a:ext uri="{FF2B5EF4-FFF2-40B4-BE49-F238E27FC236}">
                <a16:creationId xmlns:a16="http://schemas.microsoft.com/office/drawing/2014/main" id="{47FA666B-5E24-79BE-847B-B130C4C71E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07" name="PlaceHolder 2">
            <a:extLst>
              <a:ext uri="{FF2B5EF4-FFF2-40B4-BE49-F238E27FC236}">
                <a16:creationId xmlns:a16="http://schemas.microsoft.com/office/drawing/2014/main" id="{EECF9610-8558-B351-C849-1BB2D0EDDAD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'</a:t>
            </a:r>
            <a:r>
              <a:rPr lang="zh-CN" sz="2000" b="0" strike="noStrike" spc="-1" dirty="0">
                <a:solidFill>
                  <a:srgbClr val="000000"/>
                </a:solidFill>
                <a:latin typeface="Arial"/>
              </a:rPr>
              <a:t>차트 공장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' = </a:t>
            </a:r>
            <a:r>
              <a:rPr lang="zh-CN" sz="2000" b="0" strike="noStrike" spc="-1" dirty="0">
                <a:solidFill>
                  <a:srgbClr val="000000"/>
                </a:solidFill>
                <a:latin typeface="Arial"/>
              </a:rPr>
              <a:t>프로젝트 지침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(</a:t>
            </a:r>
            <a:r>
              <a:rPr lang="zh-CN" sz="2000" b="0" strike="noStrike" spc="-1" dirty="0">
                <a:solidFill>
                  <a:srgbClr val="000000"/>
                </a:solidFill>
                <a:latin typeface="Arial"/>
              </a:rPr>
              <a:t>하우스 스타일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) + </a:t>
            </a:r>
            <a:r>
              <a:rPr lang="zh-CN" sz="2000" b="0" strike="noStrike" spc="-1" dirty="0">
                <a:solidFill>
                  <a:srgbClr val="000000"/>
                </a:solidFill>
                <a:latin typeface="Arial"/>
              </a:rPr>
              <a:t>표준 프롬프트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 dirty="0">
                <a:solidFill>
                  <a:srgbClr val="000000"/>
                </a:solidFill>
                <a:latin typeface="Arial"/>
              </a:rPr>
              <a:t>한 번 세팅하면 데이터만 올리고 표준요청만 보내면 됨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 dirty="0">
                <a:solidFill>
                  <a:srgbClr val="000000"/>
                </a:solidFill>
                <a:latin typeface="Arial"/>
              </a:rPr>
              <a:t>이것이 노코딩 워크플로우의 핵심 산출물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308" name="PlaceHolder 3">
            <a:extLst>
              <a:ext uri="{FF2B5EF4-FFF2-40B4-BE49-F238E27FC236}">
                <a16:creationId xmlns:a16="http://schemas.microsoft.com/office/drawing/2014/main" id="{4062F60A-DFA1-53B9-1A99-A46C9DAA92F5}"/>
              </a:ext>
            </a:extLst>
          </p:cNvPr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0F5539-BCCD-4FDC-86A6-827E86660078}" type="slidenum"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66673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5CE1A-7050-CDF4-FDB5-0D3E7517B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9E464F-87B1-172E-B3F9-4A78163B49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3AFC50-B595-099B-D767-B7B134C7E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 연속 교체해 보는 것이 핵심입니다. 한 번은 우연일 수 있지만 두 번 같으면 재현되는 워크플로우라고 말할 수 있습니다.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03F4A6-4CD2-F2A6-FCB3-545EA180A4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35146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C852E-A500-7031-0668-BDE51E0E0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PlaceHolder 1">
            <a:extLst>
              <a:ext uri="{FF2B5EF4-FFF2-40B4-BE49-F238E27FC236}">
                <a16:creationId xmlns:a16="http://schemas.microsoft.com/office/drawing/2014/main" id="{713C0F15-D176-33DF-A491-C9C5041A8A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13" name="PlaceHolder 2">
            <a:extLst>
              <a:ext uri="{FF2B5EF4-FFF2-40B4-BE49-F238E27FC236}">
                <a16:creationId xmlns:a16="http://schemas.microsoft.com/office/drawing/2014/main" id="{04030F94-1B94-606D-40C8-3DB641B96EE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블록 2를 블록 3·4로 잇는 가장 중요한 다리. 노코딩은 편하지만 비결정적 → 매번 똑같아야 하는 보고서엔 코드가 필요하다. 이 한계 체감이 블록 2의 진짜 학습목표.</a:t>
            </a:r>
          </a:p>
          <a:p>
            <a:pPr marL="216000" indent="0">
              <a:lnSpc>
                <a:spcPct val="100000"/>
              </a:lnSpc>
              <a:buNone/>
            </a:pP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프로젝트 파일은 Claude의 코드 실행 환경에서 바로 열 수 있음(공식 도움말). 확정한 차트 코드를 파일로 올려 두고 '코드는 고치지 말고 데이터만 바꿔 실행'을 명시하면 매번 같은 코드로 실행 → 결과 형식도 같음. 블록 3·4로 연결.</a:t>
            </a:r>
          </a:p>
        </p:txBody>
      </p:sp>
      <p:sp>
        <p:nvSpPr>
          <p:cNvPr id="1314" name="PlaceHolder 3">
            <a:extLst>
              <a:ext uri="{FF2B5EF4-FFF2-40B4-BE49-F238E27FC236}">
                <a16:creationId xmlns:a16="http://schemas.microsoft.com/office/drawing/2014/main" id="{3DC23D10-849B-5FE1-8F22-6ACB0B1C0484}"/>
              </a:ext>
            </a:extLst>
          </p:cNvPr>
          <p:cNvSpPr>
            <a:spLocks noGrp="1"/>
          </p:cNvSpPr>
          <p:nvPr>
            <p:ph type="sldNum" idx="2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659EF3-4EC0-4AD5-AEF8-0ECFDE7F084F}" type="slidenum"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12858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1E06C-059B-4656-A299-B5EFF5301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396046-8880-4604-B4C7-A05D0D1881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7C2761-3F9C-46A2-A2C4-63AEA72727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프로젝트 우측 '예정됨 &gt; 추가' 화면을 띄워 빈도 메뉴(매시간·매일·평일마다·매주·매월)를 보여주고 저장하지 않고 닫기. '매월'을 고르면 시작일 칸이 생김.</a:t>
            </a:r>
          </a:p>
          <a:p>
            <a:pPr/>
            <a:r>
              <a:rPr lang="en-US" dirty="0"/>
              <a:t>실행할 때마다 플랜 사용량이 차감됨.</a:t>
            </a:r>
          </a:p>
          <a:p>
            <a:pPr/>
            <a:r>
              <a:rPr lang="en-US" dirty="0"/>
              <a:t>프로젝트에서 만든 작업에 프로젝트 지침·파일이 그대로 적용되는지는 공식 문서에 명시가 없음(2026.10 기준) → 첫 실행 결과의 하단 기관명으로 확인하고, 빠져 있으면 하우스 스타일 지침을 작업 지침 칸에 함께 기재.</a:t>
            </a:r>
          </a:p>
          <a:p>
            <a:pPr/>
            <a:r>
              <a:rPr lang="en-US" dirty="0"/>
              <a:t>도움말 문서의 주기 목록에는 매월이 없지만 실제 화면에는 있음(2026.10.22 확인).</a:t>
            </a:r>
          </a:p>
          <a:p>
            <a:pPr/>
            <a:r>
              <a:rPr lang="en-US" dirty="0"/>
              <a:t>표기 차이 주의: 프로젝트 패널은 '예정됨', 좌측 메뉴는 '예약됨', 목록 화면 제목은 '예약된 작업'(2026.10.22 화면 기준).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B17087-0057-42E6-B9BD-27280B2419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21566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84AE5-0005-4499-8C31-5E307A805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A4A3EE-B60C-436E-91B0-4FE1B34A19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241DAD-A152-44A0-B128-1D835561E0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스킬은 프로젝트가 아니라 계정 단위로 적용(Team·Enterprise는 소유자가 조직 전체에 배포 가능) — 프로젝트 밖 대화에서도 요청 내용이 맞으면 쓰일 수 있음. 스킬 설명에 적용 조건을 구체적으로 적어 둘 것.</a:t>
            </a:r>
          </a:p>
          <a:p>
            <a:pPr/>
            <a:r>
              <a:rPr lang="en-US" dirty="0"/>
              <a:t>섞이면 안 되는 작업은 입력창 '+' &gt; Skills에서 쓸 스킬을 직접 지정.</a:t>
            </a:r>
          </a:p>
          <a:p>
            <a:pPr/>
            <a:r>
              <a:rPr lang="en-US" dirty="0"/>
              <a:t>스킬 사용에는 설정 &gt; 기능의 '클라우드에서 코드 실행'이 켜져 있어야 함.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F3F287-9054-4BBE-AF77-94EFDEDFF5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2156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4725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6546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4817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3100644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50E295-A2EB-8AA5-9A34-A34489C7C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7F3DEF9-7493-B391-E539-1314DE954B9E}"/>
              </a:ext>
            </a:extLst>
          </p:cNvPr>
          <p:cNvSpPr/>
          <p:nvPr/>
        </p:nvSpPr>
        <p:spPr>
          <a:xfrm>
            <a:off x="5824728" y="2441448"/>
            <a:ext cx="548640" cy="45720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E5DDA93-62D7-0CDC-B245-1FAA3B73CA59}"/>
              </a:ext>
            </a:extLst>
          </p:cNvPr>
          <p:cNvSpPr/>
          <p:nvPr/>
        </p:nvSpPr>
        <p:spPr>
          <a:xfrm>
            <a:off x="640080" y="2743200"/>
            <a:ext cx="109087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Projects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반복 업무를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워크플로우로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만들기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4C90064-69A2-6E47-BD8F-70BBEB67E92C}"/>
              </a:ext>
            </a:extLst>
          </p:cNvPr>
          <p:cNvSpPr/>
          <p:nvPr/>
        </p:nvSpPr>
        <p:spPr>
          <a:xfrm>
            <a:off x="640080" y="43434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니즈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매월 발간하는 보고서는 매번 유사한 차트가 들어가는데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 만드는 작업을 어느정도 자동화 할 수 있는 방법이 없을까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867009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822960" y="4572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· 아티팩트와 파일</a:t>
            </a:r>
          </a:p>
        </p:txBody>
      </p:sp>
      <p:sp>
        <p:nvSpPr>
          <p:cNvPr id="3" name="Line"/>
          <p:cNvSpPr/>
          <p:nvPr/>
        </p:nvSpPr>
        <p:spPr>
          <a:xfrm>
            <a:off x="3474720" y="598932"/>
            <a:ext cx="7891272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Plotly 대시보드 만들기</a:t>
            </a:r>
          </a:p>
        </p:txBody>
      </p:sp>
      <p:sp>
        <p:nvSpPr>
          <p:cNvPr id="5" name="Subtitle"/>
          <p:cNvSpPr/>
          <p:nvPr/>
        </p:nvSpPr>
        <p:spPr>
          <a:xfrm>
            <a:off x="822960" y="148132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Projects 실습에서 사용할 라이브러리 —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plotly를 직접 지정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인터랙티브 대시보드로 제작</a:t>
            </a:r>
          </a:p>
        </p:txBody>
      </p:sp>
      <p:sp>
        <p:nvSpPr>
          <p:cNvPr id="6" name="Step"/>
          <p:cNvSpPr/>
          <p:nvPr/>
        </p:nvSpPr>
        <p:spPr>
          <a:xfrm>
            <a:off x="822960" y="188976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강의자료 폴더의 </a:t>
            </a:r>
            <a:r>
              <a:rPr kumimoji="0" lang="ko-KR" alt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trackA_admin.csv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 업로드 후 아래 프롬프트 전송. Sonnet 5.5와 Opus 5.5 모델 각각 시도하기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srgbClr val="ECE7D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7" name="Shape"/>
          <p:cNvSpPr/>
          <p:nvPr/>
        </p:nvSpPr>
        <p:spPr>
          <a:xfrm>
            <a:off x="822960" y="2313940"/>
            <a:ext cx="10543032" cy="11887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"/>
          <p:cNvSpPr/>
          <p:nvPr/>
        </p:nvSpPr>
        <p:spPr>
          <a:xfrm>
            <a:off x="822960" y="2313940"/>
            <a:ext cx="54864" cy="1188720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Label"/>
          <p:cNvSpPr/>
          <p:nvPr/>
        </p:nvSpPr>
        <p:spPr>
          <a:xfrm>
            <a:off x="1097280" y="2469388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— PLOTLY 인터랙티브 대시보드(HTML 파일)</a:t>
            </a:r>
          </a:p>
        </p:txBody>
      </p:sp>
      <p:sp>
        <p:nvSpPr>
          <p:cNvPr id="10" name="Prompt"/>
          <p:cNvSpPr/>
          <p:nvPr/>
        </p:nvSpPr>
        <p:spPr>
          <a:xfrm>
            <a:off x="1097280" y="2761996"/>
            <a:ext cx="9994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업로드한 데이터를 Plotly 인터랙티브 대시보드 HTML 파일로 만들어줘.</a:t>
            </a:r>
          </a:p>
          <a:p>
            <a:pPr marL="0" marR="0" lvl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흰 배경(plotly_white), 마우스 호버 값, 부서별 색 고정. 한글 폰트 안 깨지게.</a:t>
            </a:r>
          </a:p>
        </p:txBody>
      </p:sp>
      <p:sp>
        <p:nvSpPr>
          <p:cNvPr id="11" name="Shape"/>
          <p:cNvSpPr/>
          <p:nvPr/>
        </p:nvSpPr>
        <p:spPr>
          <a:xfrm>
            <a:off x="822960" y="3776980"/>
            <a:ext cx="5202936" cy="17373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Label"/>
          <p:cNvSpPr/>
          <p:nvPr/>
        </p:nvSpPr>
        <p:spPr>
          <a:xfrm>
            <a:off x="1042416" y="3941572"/>
            <a:ext cx="4764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아티팩트와 파일</a:t>
            </a:r>
          </a:p>
        </p:txBody>
      </p:sp>
      <p:sp>
        <p:nvSpPr>
          <p:cNvPr id="13" name="ArtifactBody"/>
          <p:cNvSpPr/>
          <p:nvPr/>
        </p:nvSpPr>
        <p:spPr>
          <a:xfrm>
            <a:off x="1042416" y="4234180"/>
            <a:ext cx="4764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75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아티팩트: Claude가 만든 문서·슬라이드·대시보드·웹페이지를 대화창 옆에 띄워 확인·편집·공유하는 기능. 좌측 메뉴 '아티팩트'에 모두 저장</a:t>
            </a:r>
          </a:p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'대시보드'라고만 요청하면 Claude 자체 대시보드 템플릿으로 만들어질 수 있음. 이 템플릿은 Plotly를 쓸 수 없어 이번 실습은 HTML 파일로 요청</a:t>
            </a:r>
          </a:p>
        </p:txBody>
      </p:sp>
      <p:sp>
        <p:nvSpPr>
          <p:cNvPr id="14" name="Shape"/>
          <p:cNvSpPr/>
          <p:nvPr/>
        </p:nvSpPr>
        <p:spPr>
          <a:xfrm>
            <a:off x="6163056" y="3776980"/>
            <a:ext cx="5202936" cy="17373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Label"/>
          <p:cNvSpPr/>
          <p:nvPr/>
        </p:nvSpPr>
        <p:spPr>
          <a:xfrm>
            <a:off x="6382512" y="3941572"/>
            <a:ext cx="4764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PLOTLY</a:t>
            </a:r>
          </a:p>
        </p:txBody>
      </p:sp>
      <p:sp>
        <p:nvSpPr>
          <p:cNvPr id="16" name="PlotlyBody"/>
          <p:cNvSpPr/>
          <p:nvPr/>
        </p:nvSpPr>
        <p:spPr>
          <a:xfrm>
            <a:off x="6382512" y="4234180"/>
            <a:ext cx="4764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75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기능·다양한 차트 유형·Python/JS 호환성이 강점인 시각화 라이브러리</a:t>
            </a:r>
          </a:p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LLM에 plotly를 명시적으로 지정하면 이러한 장점을 갖춘 일관된 대시보드 코드를 안정적으로 생성 가능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yebrow"/>
          <p:cNvSpPr/>
          <p:nvPr/>
        </p:nvSpPr>
        <p:spPr>
          <a:xfrm>
            <a:off x="822960" y="4572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· 아티팩트와 파일</a:t>
            </a:r>
          </a:p>
        </p:txBody>
      </p:sp>
      <p:sp>
        <p:nvSpPr>
          <p:cNvPr id="20" name="Line"/>
          <p:cNvSpPr/>
          <p:nvPr/>
        </p:nvSpPr>
        <p:spPr>
          <a:xfrm>
            <a:off x="3474720" y="598932"/>
            <a:ext cx="7891272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21" name="Title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Plotly 대시보드 만들기 (결과 확인)</a:t>
            </a:r>
          </a:p>
        </p:txBody>
      </p:sp>
      <p:sp>
        <p:nvSpPr>
          <p:cNvPr id="22" name="Subtitle"/>
          <p:cNvSpPr/>
          <p:nvPr/>
        </p:nvSpPr>
        <p:spPr>
          <a:xfrm>
            <a:off x="822960" y="148132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plotly 라이브러리를 직접 지정해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대시보드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제작한 결과를 아래 순서로 확인</a:t>
            </a:r>
          </a:p>
        </p:txBody>
      </p:sp>
      <p:sp>
        <p:nvSpPr>
          <p:cNvPr id="28" name="CheckFrame"/>
          <p:cNvSpPr/>
          <p:nvPr/>
        </p:nvSpPr>
        <p:spPr>
          <a:xfrm>
            <a:off x="822960" y="1965960"/>
            <a:ext cx="5010912" cy="28346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CheckLabel"/>
          <p:cNvSpPr/>
          <p:nvPr/>
        </p:nvSpPr>
        <p:spPr>
          <a:xfrm>
            <a:off x="1042416" y="21305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화면에서 확인하기</a:t>
            </a:r>
          </a:p>
        </p:txBody>
      </p:sp>
      <p:sp>
        <p:nvSpPr>
          <p:cNvPr id="30" name="CheckSteps"/>
          <p:cNvSpPr/>
          <p:nvPr/>
        </p:nvSpPr>
        <p:spPr>
          <a:xfrm>
            <a:off x="1042416" y="2487168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900"/>
              </a:spcAft>
              <a:buClr>
                <a:srgbClr val="FFD733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대화에 생성된 HTML 파일 클릭 → 대화창 옆 미리보기로 확인</a:t>
            </a:r>
          </a:p>
          <a:p>
            <a:pPr marL="285750" marR="0" lvl="0" indent="-28575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900"/>
              </a:spcAft>
              <a:buClr>
                <a:srgbClr val="FFD733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 위에 마우스를 올려 값 표시(호버) 확인</a:t>
            </a:r>
          </a:p>
          <a:p>
            <a:pPr marL="285750" marR="0" lvl="0" indent="-28575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900"/>
              </a:spcAft>
              <a:buClr>
                <a:srgbClr val="FFD733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부서별 색이 모든 차트에서 같은지 확인</a:t>
            </a:r>
          </a:p>
          <a:p>
            <a:pPr marL="285750" marR="0" lvl="0" indent="-28575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900"/>
              </a:spcAft>
              <a:buClr>
                <a:srgbClr val="FFD733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 우측 상단 도구 막대(마우스를 올리면 표시)로 확대·이동</a:t>
            </a:r>
          </a:p>
          <a:p>
            <a:pPr marL="285750" marR="0" lvl="0" indent="-28575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900"/>
              </a:spcAft>
              <a:buClr>
                <a:srgbClr val="FFD733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 내려받아 더블클릭하면 브라우저에서 열림(미리보기가 안 보일 때, PNG로 저장할 때 사용)</a:t>
            </a:r>
          </a:p>
        </p:txBody>
      </p:sp>
      <p:sp>
        <p:nvSpPr>
          <p:cNvPr id="25" name="Shape"/>
          <p:cNvSpPr/>
          <p:nvPr/>
        </p:nvSpPr>
        <p:spPr>
          <a:xfrm>
            <a:off x="6200967" y="1962150"/>
            <a:ext cx="5165025" cy="10058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Label"/>
          <p:cNvSpPr/>
          <p:nvPr/>
        </p:nvSpPr>
        <p:spPr>
          <a:xfrm>
            <a:off x="6420423" y="2126742"/>
            <a:ext cx="47261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</a:t>
            </a:r>
          </a:p>
        </p:txBody>
      </p:sp>
      <p:sp>
        <p:nvSpPr>
          <p:cNvPr id="27" name="Note"/>
          <p:cNvSpPr/>
          <p:nvPr/>
        </p:nvSpPr>
        <p:spPr>
          <a:xfrm>
            <a:off x="6420423" y="2419350"/>
            <a:ext cx="47261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Opus 모델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직접 요청 시 더 완성도 높은 결과물 생성</a:t>
            </a:r>
          </a:p>
        </p:txBody>
      </p:sp>
      <p:sp>
        <p:nvSpPr>
          <p:cNvPr id="31" name="RetryFrame"/>
          <p:cNvSpPr/>
          <p:nvPr/>
        </p:nvSpPr>
        <p:spPr>
          <a:xfrm>
            <a:off x="6199632" y="3154680"/>
            <a:ext cx="5166360" cy="16459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RetryLabel"/>
          <p:cNvSpPr/>
          <p:nvPr/>
        </p:nvSpPr>
        <p:spPr>
          <a:xfrm>
            <a:off x="6419088" y="3319272"/>
            <a:ext cx="4727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Plotly로 안 만들어졌다면</a:t>
            </a:r>
          </a:p>
        </p:txBody>
      </p:sp>
      <p:sp>
        <p:nvSpPr>
          <p:cNvPr id="33" name="RetryBody"/>
          <p:cNvSpPr/>
          <p:nvPr/>
        </p:nvSpPr>
        <p:spPr>
          <a:xfrm>
            <a:off x="6419088" y="3630168"/>
            <a:ext cx="47274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5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차트에 마우스를 올려도 우측 상단에 Plotly 도구 막대가 안 보이면 다른 방식으로 만들어진 것</a:t>
            </a:r>
          </a:p>
          <a:p>
            <a:pPr marL="0" marR="0" lvl="0" indent="0" algn="l" defTabSz="914400" rtl="0" eaLnBrk="1" fontAlgn="auto" latinLnBrk="0" hangingPunct="1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→ </a:t>
            </a: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'Plotly로 HTML 파일을 다시 만들어줘'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재요청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37BAF8-9EAA-8382-ED38-B1052D319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8A6463E-003B-FACA-FCA3-41EA3BCC39CB}"/>
              </a:ext>
            </a:extLst>
          </p:cNvPr>
          <p:cNvSpPr/>
          <p:nvPr/>
        </p:nvSpPr>
        <p:spPr>
          <a:xfrm>
            <a:off x="822960" y="457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왜 프로젝트인가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9AB0EED-D554-5C1B-BA9D-73E3018CFED2}"/>
              </a:ext>
            </a:extLst>
          </p:cNvPr>
          <p:cNvSpPr/>
          <p:nvPr/>
        </p:nvSpPr>
        <p:spPr>
          <a:xfrm>
            <a:off x="2880360" y="598932"/>
            <a:ext cx="8485632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AFC94FF-45C2-82EB-80A6-0C9401735A65}"/>
              </a:ext>
            </a:extLst>
          </p:cNvPr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대화로 반복 업무를 하면 매번 처음부터 시작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557DC9A-621C-CF6E-A02C-3DF188500D27}"/>
              </a:ext>
            </a:extLst>
          </p:cNvPr>
          <p:cNvSpPr/>
          <p:nvPr/>
        </p:nvSpPr>
        <p:spPr>
          <a:xfrm>
            <a:off x="822960" y="148132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메모리를 켜도 핵심 내용만 주제별로 기억할 뿐,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지침·파일·기준은 매번 다시 설명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구조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49DC1E0-87EC-B088-0D20-415760448DB8}"/>
              </a:ext>
            </a:extLst>
          </p:cNvPr>
          <p:cNvSpPr/>
          <p:nvPr/>
        </p:nvSpPr>
        <p:spPr>
          <a:xfrm>
            <a:off x="822960" y="2011680"/>
            <a:ext cx="10543032" cy="8686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87EDA8C-D0CB-609E-EC7C-2632E7084966}"/>
              </a:ext>
            </a:extLst>
          </p:cNvPr>
          <p:cNvSpPr/>
          <p:nvPr/>
        </p:nvSpPr>
        <p:spPr>
          <a:xfrm>
            <a:off x="822960" y="2011680"/>
            <a:ext cx="54864" cy="868680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38868EE-5B37-D33F-FE8C-5B3D2EC557DF}"/>
              </a:ext>
            </a:extLst>
          </p:cNvPr>
          <p:cNvSpPr/>
          <p:nvPr/>
        </p:nvSpPr>
        <p:spPr>
          <a:xfrm>
            <a:off x="1097280" y="2167128"/>
            <a:ext cx="99943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형식과 맥락이 비슷한 업무를 매번 새로운 채팅창에서 이야기 하고 있는 상황이라면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DF5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30EC8B9-805B-933D-E951-E5B2B75CA02D}"/>
              </a:ext>
            </a:extLst>
          </p:cNvPr>
          <p:cNvSpPr/>
          <p:nvPr/>
        </p:nvSpPr>
        <p:spPr>
          <a:xfrm>
            <a:off x="822960" y="3200400"/>
            <a:ext cx="3090672" cy="10515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43472DB-04C1-B781-4D94-2893C45E3BDB}"/>
              </a:ext>
            </a:extLst>
          </p:cNvPr>
          <p:cNvSpPr/>
          <p:nvPr/>
        </p:nvSpPr>
        <p:spPr>
          <a:xfrm>
            <a:off x="822960" y="3200400"/>
            <a:ext cx="3090672" cy="36576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1DDBC02-898B-CA6B-A693-D92ECEBC3D4E}"/>
              </a:ext>
            </a:extLst>
          </p:cNvPr>
          <p:cNvSpPr/>
          <p:nvPr/>
        </p:nvSpPr>
        <p:spPr>
          <a:xfrm>
            <a:off x="932688" y="3364992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세부 규칙을 매번 다시 설명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7BF182E-49BC-EC91-6905-4778150C4CAC}"/>
              </a:ext>
            </a:extLst>
          </p:cNvPr>
          <p:cNvSpPr/>
          <p:nvPr/>
        </p:nvSpPr>
        <p:spPr>
          <a:xfrm>
            <a:off x="932688" y="3657600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형식·용어·기준을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대화마다 다시 입력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9ABAFD9-6231-7B7F-1100-B1F37F2B9C4F}"/>
              </a:ext>
            </a:extLst>
          </p:cNvPr>
          <p:cNvSpPr/>
          <p:nvPr/>
        </p:nvSpPr>
        <p:spPr>
          <a:xfrm>
            <a:off x="3968496" y="3200400"/>
            <a:ext cx="566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D5189EB2-5178-09F0-9B66-9E1F930D5C20}"/>
              </a:ext>
            </a:extLst>
          </p:cNvPr>
          <p:cNvSpPr/>
          <p:nvPr/>
        </p:nvSpPr>
        <p:spPr>
          <a:xfrm>
            <a:off x="4549140" y="3200400"/>
            <a:ext cx="3090672" cy="10515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59F888B7-97D3-4C65-C761-CACADFC70A3D}"/>
              </a:ext>
            </a:extLst>
          </p:cNvPr>
          <p:cNvSpPr/>
          <p:nvPr/>
        </p:nvSpPr>
        <p:spPr>
          <a:xfrm>
            <a:off x="4549140" y="3200400"/>
            <a:ext cx="3090672" cy="36576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2A98D60-A1C8-0F16-7E62-0B9A9C95DF67}"/>
              </a:ext>
            </a:extLst>
          </p:cNvPr>
          <p:cNvSpPr/>
          <p:nvPr/>
        </p:nvSpPr>
        <p:spPr>
          <a:xfrm>
            <a:off x="4658868" y="3364992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결과물이 제각각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67174BA-D2CE-4927-9A4A-1FAEACEAAE0C}"/>
              </a:ext>
            </a:extLst>
          </p:cNvPr>
          <p:cNvSpPr/>
          <p:nvPr/>
        </p:nvSpPr>
        <p:spPr>
          <a:xfrm>
            <a:off x="4658868" y="3657600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요청도 대화창이 다르면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형식·톤이 달라짐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49FC9AC-6219-D737-5D0D-5D1AB88624BE}"/>
              </a:ext>
            </a:extLst>
          </p:cNvPr>
          <p:cNvSpPr/>
          <p:nvPr/>
        </p:nvSpPr>
        <p:spPr>
          <a:xfrm>
            <a:off x="7694676" y="3200400"/>
            <a:ext cx="566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6EBA06E1-7320-C484-12A7-93DD6599DFC0}"/>
              </a:ext>
            </a:extLst>
          </p:cNvPr>
          <p:cNvSpPr/>
          <p:nvPr/>
        </p:nvSpPr>
        <p:spPr>
          <a:xfrm>
            <a:off x="8275320" y="3200400"/>
            <a:ext cx="3090672" cy="10515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D12A823A-B278-0337-DD15-495D348C0325}"/>
              </a:ext>
            </a:extLst>
          </p:cNvPr>
          <p:cNvSpPr/>
          <p:nvPr/>
        </p:nvSpPr>
        <p:spPr>
          <a:xfrm>
            <a:off x="8275320" y="3200400"/>
            <a:ext cx="3090672" cy="36576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51D828D-DAA0-5E5E-61CB-05B9953F7FBE}"/>
              </a:ext>
            </a:extLst>
          </p:cNvPr>
          <p:cNvSpPr/>
          <p:nvPr/>
        </p:nvSpPr>
        <p:spPr>
          <a:xfrm>
            <a:off x="8385048" y="3364992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 매번 재업로드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60BA8AB-320D-2872-6EF8-F245930B3EEC}"/>
              </a:ext>
            </a:extLst>
          </p:cNvPr>
          <p:cNvSpPr/>
          <p:nvPr/>
        </p:nvSpPr>
        <p:spPr>
          <a:xfrm>
            <a:off x="8385048" y="3657600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양식·이전 산출물이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대화창에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존재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BBF2EBE7-608E-2E4E-6D29-1A6214D5C937}"/>
              </a:ext>
            </a:extLst>
          </p:cNvPr>
          <p:cNvSpPr/>
          <p:nvPr/>
        </p:nvSpPr>
        <p:spPr>
          <a:xfrm>
            <a:off x="822960" y="4617720"/>
            <a:ext cx="10543032" cy="8686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82B477D-6326-4A85-0F81-44A0E223439B}"/>
              </a:ext>
            </a:extLst>
          </p:cNvPr>
          <p:cNvSpPr/>
          <p:nvPr/>
        </p:nvSpPr>
        <p:spPr>
          <a:xfrm>
            <a:off x="1042416" y="4736592"/>
            <a:ext cx="10104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AEB25CDF-2DFA-747C-256C-7D7F53476A18}"/>
              </a:ext>
            </a:extLst>
          </p:cNvPr>
          <p:cNvSpPr/>
          <p:nvPr/>
        </p:nvSpPr>
        <p:spPr>
          <a:xfrm>
            <a:off x="1042416" y="5001768"/>
            <a:ext cx="10104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프로젝트는 지침 · 참고파일 · 대화 이력을 한 공간에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고정하는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2331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F146FE-523F-157A-60D7-57C91F432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BA91A4B-9E50-E48A-6CC5-7BA1A7995E82}"/>
              </a:ext>
            </a:extLst>
          </p:cNvPr>
          <p:cNvSpPr/>
          <p:nvPr/>
        </p:nvSpPr>
        <p:spPr>
          <a:xfrm>
            <a:off x="822960" y="457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구성 요소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601AE5E-C46B-FC60-D0BF-92BD469C571B}"/>
              </a:ext>
            </a:extLst>
          </p:cNvPr>
          <p:cNvSpPr/>
          <p:nvPr/>
        </p:nvSpPr>
        <p:spPr>
          <a:xfrm>
            <a:off x="2880360" y="598932"/>
            <a:ext cx="8485632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E13A44A-3381-9A87-2802-A92CEB2E3FBC}"/>
              </a:ext>
            </a:extLst>
          </p:cNvPr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구성요소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세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가지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4007B77-C943-9896-043F-75C6DCEB140B}"/>
              </a:ext>
            </a:extLst>
          </p:cNvPr>
          <p:cNvSpPr/>
          <p:nvPr/>
        </p:nvSpPr>
        <p:spPr>
          <a:xfrm>
            <a:off x="822960" y="136702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우측 패널에서 지침과 참고파일을 관리하고, 입력창 아래 '최근 항목'에 대화 이력이 누적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7B62B66-B829-0B1B-FD3E-674634FFA6F5}"/>
              </a:ext>
            </a:extLst>
          </p:cNvPr>
          <p:cNvSpPr/>
          <p:nvPr/>
        </p:nvSpPr>
        <p:spPr>
          <a:xfrm>
            <a:off x="822960" y="1792224"/>
            <a:ext cx="6446520" cy="120700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CFBE5C6-CA42-0D7B-5665-C3811EC9801A}"/>
              </a:ext>
            </a:extLst>
          </p:cNvPr>
          <p:cNvSpPr/>
          <p:nvPr/>
        </p:nvSpPr>
        <p:spPr>
          <a:xfrm>
            <a:off x="1042416" y="1920240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지침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AEBE26A-6B7E-9CE5-694D-91D1347A70EA}"/>
              </a:ext>
            </a:extLst>
          </p:cNvPr>
          <p:cNvSpPr/>
          <p:nvPr/>
        </p:nvSpPr>
        <p:spPr>
          <a:xfrm>
            <a:off x="1042416" y="2176272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프로젝트에서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지켜야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할 규칙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75BA5DF-E072-6120-25D3-5D2333141B97}"/>
              </a:ext>
            </a:extLst>
          </p:cNvPr>
          <p:cNvSpPr/>
          <p:nvPr/>
        </p:nvSpPr>
        <p:spPr>
          <a:xfrm>
            <a:off x="1042416" y="2487168"/>
            <a:ext cx="5989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지침에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형식·톤·금지사항을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 번만 적어 두면 프로젝트 내 모든 대화에 자동 적용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C14B5BC-C410-AE15-A3A1-6B8B5E7CD2F1}"/>
              </a:ext>
            </a:extLst>
          </p:cNvPr>
          <p:cNvSpPr/>
          <p:nvPr/>
        </p:nvSpPr>
        <p:spPr>
          <a:xfrm>
            <a:off x="822960" y="3182112"/>
            <a:ext cx="6446520" cy="102412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E568688-7A6B-4905-E074-59F2EDD3FF44}"/>
              </a:ext>
            </a:extLst>
          </p:cNvPr>
          <p:cNvSpPr/>
          <p:nvPr/>
        </p:nvSpPr>
        <p:spPr>
          <a:xfrm>
            <a:off x="1042416" y="3310128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· 참고파일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A2124C8-AA85-93EA-950B-E1B41AF9486F}"/>
              </a:ext>
            </a:extLst>
          </p:cNvPr>
          <p:cNvSpPr/>
          <p:nvPr/>
        </p:nvSpPr>
        <p:spPr>
          <a:xfrm>
            <a:off x="1042416" y="3566160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반복해서 참조할 자료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C5DFD74-D0EE-FF77-CF32-AB08C4930D08}"/>
              </a:ext>
            </a:extLst>
          </p:cNvPr>
          <p:cNvSpPr/>
          <p:nvPr/>
        </p:nvSpPr>
        <p:spPr>
          <a:xfrm>
            <a:off x="1042416" y="3858768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양식, 기준 데이터, 이전 산출물 등을 올려 두면 매번 재업로드할 필요 없음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2DE3816-D6A5-E805-2301-407AD6180C5A}"/>
              </a:ext>
            </a:extLst>
          </p:cNvPr>
          <p:cNvSpPr/>
          <p:nvPr/>
        </p:nvSpPr>
        <p:spPr>
          <a:xfrm>
            <a:off x="822960" y="4389120"/>
            <a:ext cx="6446520" cy="221284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A70B049-E5FF-4951-57FA-71052C61B2E6}"/>
              </a:ext>
            </a:extLst>
          </p:cNvPr>
          <p:cNvSpPr/>
          <p:nvPr/>
        </p:nvSpPr>
        <p:spPr>
          <a:xfrm>
            <a:off x="1042416" y="4517136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이력 · 메모리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1EBB162-5B81-C1A1-D5C3-1CF505B8343D}"/>
              </a:ext>
            </a:extLst>
          </p:cNvPr>
          <p:cNvSpPr/>
          <p:nvPr/>
        </p:nvSpPr>
        <p:spPr>
          <a:xfrm>
            <a:off x="1042416" y="4773168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안에 쌓이는 대화 이력과 메모리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7E33E3E-A0D4-894B-0F67-09D026AC4CB5}"/>
              </a:ext>
            </a:extLst>
          </p:cNvPr>
          <p:cNvSpPr/>
          <p:nvPr/>
        </p:nvSpPr>
        <p:spPr>
          <a:xfrm>
            <a:off x="1042416" y="5084064"/>
            <a:ext cx="5989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marR="0" lvl="0" indent="-17145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검색('채팅 검색 및 참조', 유료 플랜): 프로젝트 안에서는 그 프로젝트 대화만 검색. 일반 채팅·다른 프로젝트는 검색 안 됨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FFDF57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71450" marR="0" lvl="0" indent="-17145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메모리('채팅에서 메모리 생성', Free·Pro·Max 기본 켜짐): 대화 중 핵심 내용을 주제별로 저장해 요청 없이 반영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FFDF57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71450" marR="0" lvl="0" indent="-17145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메모리가 켜져 있으면 프로젝트 메모리와 일반 채팅 메모리는 서로 참조(다른 프로젝트와는 안 섞임). 꺼져 있으면 일반 채팅 내용은 프로젝트에 들어오지 않음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FFDF57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FCD6CC9F-587C-BCDD-2E5B-D0B7FC2CA47F}"/>
              </a:ext>
            </a:extLst>
          </p:cNvPr>
          <p:cNvSpPr/>
          <p:nvPr/>
        </p:nvSpPr>
        <p:spPr>
          <a:xfrm>
            <a:off x="7635240" y="1792224"/>
            <a:ext cx="3730752" cy="4809744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9" name="GuideLabel">
            <a:extLst>
              <a:ext uri="{FF2B5EF4-FFF2-40B4-BE49-F238E27FC236}">
                <a16:creationId xmlns:a16="http://schemas.microsoft.com/office/drawing/2014/main" id="{DE11FC60-AF53-4B75-A36A-62D822973B9B}"/>
              </a:ext>
            </a:extLst>
          </p:cNvPr>
          <p:cNvSpPr/>
          <p:nvPr/>
        </p:nvSpPr>
        <p:spPr>
          <a:xfrm>
            <a:off x="7863840" y="193852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화면에서 확인하기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GuideBody">
            <a:extLst>
              <a:ext uri="{FF2B5EF4-FFF2-40B4-BE49-F238E27FC236}">
                <a16:creationId xmlns:a16="http://schemas.microsoft.com/office/drawing/2014/main" id="{EF828FB0-DB73-4670-9829-484CE61A9A4D}"/>
              </a:ext>
            </a:extLst>
          </p:cNvPr>
          <p:cNvSpPr/>
          <p:nvPr/>
        </p:nvSpPr>
        <p:spPr>
          <a:xfrm>
            <a:off x="7863840" y="2286000"/>
            <a:ext cx="3310128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좌측 메뉴 '프로젝트' → 프로젝트 선택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12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우측 패널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지침 &gt; 편집 — 규칙 작성·수정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&gt; 추가 — 파일 올리기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예정됨 &gt; 추가 — 반복 실행 등록(뒤에서 설명)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12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입력창 아래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항목 — 이 프로젝트의 대화 목록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12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메모리·검색 켜기/끄기 — 설정 &gt; 메모리(모바일 앱은 설정 &gt; 기능)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프로젝트만 따로 쓰기 — 메모리를 켠 경우 프로젝트 화면 '메모리'에서 '계정 메모리 사용' 끄기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7668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B19074-A66B-5599-4DDA-726E8A912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>
            <a:extLst>
              <a:ext uri="{FF2B5EF4-FFF2-40B4-BE49-F238E27FC236}">
                <a16:creationId xmlns:a16="http://schemas.microsoft.com/office/drawing/2014/main" id="{ABDB0B56-386E-4470-B4B0-0815A48B4E3A}"/>
              </a:ext>
            </a:extLst>
          </p:cNvPr>
          <p:cNvSpPr/>
          <p:nvPr/>
        </p:nvSpPr>
        <p:spPr>
          <a:xfrm>
            <a:off x="822960" y="457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실습 STEP 1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1DF5C50-8D54-557C-071D-1D75F7DAD50C}"/>
              </a:ext>
            </a:extLst>
          </p:cNvPr>
          <p:cNvSpPr/>
          <p:nvPr/>
        </p:nvSpPr>
        <p:spPr>
          <a:xfrm>
            <a:off x="2880360" y="598932"/>
            <a:ext cx="8485632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D0ACC36-44E9-6F17-F7E8-1751F665AF00}"/>
              </a:ext>
            </a:extLst>
          </p:cNvPr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만들고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지침을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B845521-1041-50BE-E4DD-6B1393AB2ACC}"/>
              </a:ext>
            </a:extLst>
          </p:cNvPr>
          <p:cNvSpPr/>
          <p:nvPr/>
        </p:nvSpPr>
        <p:spPr>
          <a:xfrm>
            <a:off x="822960" y="148132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지침은 그 프로젝트 안의 모든 대화에 자동으로 적용된다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3CD4D2C-7029-1B22-09A1-CCE04302256C}"/>
              </a:ext>
            </a:extLst>
          </p:cNvPr>
          <p:cNvSpPr/>
          <p:nvPr/>
        </p:nvSpPr>
        <p:spPr>
          <a:xfrm>
            <a:off x="822960" y="2011680"/>
            <a:ext cx="5148072" cy="26060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7594498-65C6-E534-F0FB-28C715E7D203}"/>
              </a:ext>
            </a:extLst>
          </p:cNvPr>
          <p:cNvSpPr/>
          <p:nvPr/>
        </p:nvSpPr>
        <p:spPr>
          <a:xfrm>
            <a:off x="1042416" y="217627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48219F4-0646-32DD-F4F4-C54CF4D67AD2}"/>
              </a:ext>
            </a:extLst>
          </p:cNvPr>
          <p:cNvSpPr/>
          <p:nvPr/>
        </p:nvSpPr>
        <p:spPr>
          <a:xfrm>
            <a:off x="1042416" y="2468880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프로젝트 생성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56495F2-0921-EE05-D2EB-71DAFD6CCC92}"/>
              </a:ext>
            </a:extLst>
          </p:cNvPr>
          <p:cNvSpPr/>
          <p:nvPr/>
        </p:nvSpPr>
        <p:spPr>
          <a:xfrm>
            <a:off x="1097280" y="2880360"/>
            <a:ext cx="46542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좌측 메뉴에서 ‘프로젝트’ 선택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‘새 프로젝트’ 클릭 후 이름 입력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예시 — 보고서 차트 공장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9F44AEE-34C7-C628-CF21-1F691AA77D1C}"/>
              </a:ext>
            </a:extLst>
          </p:cNvPr>
          <p:cNvSpPr/>
          <p:nvPr/>
        </p:nvSpPr>
        <p:spPr>
          <a:xfrm>
            <a:off x="1042416" y="39319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이름은 </a:t>
            </a:r>
            <a:r>
              <a:rPr kumimoji="0" lang="en-US" sz="1000" b="0" i="1" u="none" strike="noStrike" kern="1200" cap="none" spc="0" normalizeH="0" baseline="0" noProof="0" dirty="0" err="1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000" b="0" i="1" u="none" strike="noStrike" kern="1200" cap="none" spc="0" normalizeH="0" baseline="0" noProof="0" dirty="0" err="1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기재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9A95F0B-8B7B-C116-E63D-DE83E7C66DF5}"/>
              </a:ext>
            </a:extLst>
          </p:cNvPr>
          <p:cNvSpPr/>
          <p:nvPr/>
        </p:nvSpPr>
        <p:spPr>
          <a:xfrm>
            <a:off x="6217920" y="2011680"/>
            <a:ext cx="5148072" cy="26060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8ABC761-6DD4-ED82-83D5-A6EE6C7AC8B2}"/>
              </a:ext>
            </a:extLst>
          </p:cNvPr>
          <p:cNvSpPr/>
          <p:nvPr/>
        </p:nvSpPr>
        <p:spPr>
          <a:xfrm>
            <a:off x="6437376" y="217627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9D8BF77-C3A8-CBE0-7B92-A95CD52A16F5}"/>
              </a:ext>
            </a:extLst>
          </p:cNvPr>
          <p:cNvSpPr/>
          <p:nvPr/>
        </p:nvSpPr>
        <p:spPr>
          <a:xfrm>
            <a:off x="6437376" y="2468880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지침 등록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3934329-E440-4A90-4710-18B5F95574F7}"/>
              </a:ext>
            </a:extLst>
          </p:cNvPr>
          <p:cNvSpPr/>
          <p:nvPr/>
        </p:nvSpPr>
        <p:spPr>
          <a:xfrm>
            <a:off x="6492240" y="2880360"/>
            <a:ext cx="46542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우측 패널의 ‘지침’ 옆 버튼 클릭(지침을 등록한 뒤에는 ‘편집’으로 표시)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장의 지침 내용을 붙여넣기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후 지침이 등록되었는지 확인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DBD9322-065F-112C-0C27-2A427D0D8860}"/>
              </a:ext>
            </a:extLst>
          </p:cNvPr>
          <p:cNvSpPr/>
          <p:nvPr/>
        </p:nvSpPr>
        <p:spPr>
          <a:xfrm>
            <a:off x="6437376" y="39319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지침은 언제든 수정 가능. 처음부터 완벽할 필요 </a:t>
            </a:r>
            <a:r>
              <a:rPr kumimoji="0" lang="en-US" sz="1000" b="0" i="1" u="none" strike="noStrike" kern="1200" cap="none" spc="0" normalizeH="0" baseline="0" noProof="0" dirty="0" err="1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없이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000" b="0" i="1" u="none" strike="noStrike" kern="1200" cap="none" spc="0" normalizeH="0" baseline="0" noProof="0" dirty="0" err="1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쓰면서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다듬기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5476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23D7FF-7D3F-25B9-3AF9-A9F55A11D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AB79B61-114C-A612-56AC-2A35C022D181}"/>
              </a:ext>
            </a:extLst>
          </p:cNvPr>
          <p:cNvSpPr/>
          <p:nvPr/>
        </p:nvSpPr>
        <p:spPr>
          <a:xfrm>
            <a:off x="822960" y="457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실습 STEP 2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CC72CF-AADC-0207-3EBE-75FEB90400F3}"/>
              </a:ext>
            </a:extLst>
          </p:cNvPr>
          <p:cNvSpPr/>
          <p:nvPr/>
        </p:nvSpPr>
        <p:spPr>
          <a:xfrm>
            <a:off x="2880360" y="598932"/>
            <a:ext cx="8485632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BF4D9A5-6868-21FD-8299-72C742D3325D}"/>
              </a:ext>
            </a:extLst>
          </p:cNvPr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지침 예시 —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하우스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스타일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82C8F1D-FB81-C386-9B25-E9A83EBAF56C}"/>
              </a:ext>
            </a:extLst>
          </p:cNvPr>
          <p:cNvSpPr/>
          <p:nvPr/>
        </p:nvSpPr>
        <p:spPr>
          <a:xfrm>
            <a:off x="824484" y="1356699"/>
            <a:ext cx="105430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매번 비슷한 스타일로 디자인이 그려질 수 있도록 구체적으로 작성해야 함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285750" lvl="0" indent="-2857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지침에서 차트 하단에 기관명 들어가도록 명시하고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내용을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복사해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지침에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붙여넣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DF5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EB48A24-7533-5EB7-9EBF-1E5BE1416AA3}"/>
              </a:ext>
            </a:extLst>
          </p:cNvPr>
          <p:cNvSpPr/>
          <p:nvPr/>
        </p:nvSpPr>
        <p:spPr>
          <a:xfrm>
            <a:off x="822960" y="2011679"/>
            <a:ext cx="11162852" cy="42976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9F4C616-6EB8-DFEC-FB54-C0663E5473D8}"/>
              </a:ext>
            </a:extLst>
          </p:cNvPr>
          <p:cNvSpPr/>
          <p:nvPr/>
        </p:nvSpPr>
        <p:spPr>
          <a:xfrm>
            <a:off x="1069669" y="2165942"/>
            <a:ext cx="1042359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lnSpc>
                <a:spcPct val="150000"/>
              </a:lnSpc>
              <a:defRPr/>
            </a:pPr>
            <a:r>
              <a:rPr lang="en-US" altLang="ko-KR" sz="12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</a:t>
            </a:r>
            <a:r>
              <a:rPr lang="ko-KR" altLang="en-US" sz="12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하우스 스타일 차트 지침 </a:t>
            </a:r>
            <a:r>
              <a:rPr lang="en-US" altLang="ko-KR" sz="12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CSV </a:t>
            </a:r>
            <a:r>
              <a:rPr lang="ko-KR" altLang="en-US" sz="12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 또는 차트</a:t>
            </a:r>
            <a:r>
              <a:rPr lang="en-US" altLang="ko-KR" sz="12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2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 요청 시에만 적용</a:t>
            </a:r>
            <a:r>
              <a:rPr lang="en-US" altLang="ko-KR" sz="12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</a:t>
            </a:r>
          </a:p>
          <a:p>
            <a:pPr lvl="0" latinLnBrk="0">
              <a:lnSpc>
                <a:spcPct val="150000"/>
              </a:lnSpc>
              <a:defRPr/>
            </a:pPr>
            <a:r>
              <a:rPr lang="ko-KR" alt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기관명</a:t>
            </a:r>
            <a:r>
              <a:rPr lang="en-US" altLang="ko-KR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</a:p>
          <a:p>
            <a:pPr lvl="0" latinLnBrk="0">
              <a:lnSpc>
                <a:spcPct val="150000"/>
              </a:lnSpc>
              <a:defRPr/>
            </a:pPr>
            <a:endParaRPr lang="en-US" altLang="ko-KR" sz="1200" b="1" dirty="0">
              <a:solidFill>
                <a:schemeClr val="bg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lvl="0" latinLnBrk="0">
              <a:lnSpc>
                <a:spcPct val="150000"/>
              </a:lnSpc>
              <a:defRPr/>
            </a:pPr>
            <a:r>
              <a:rPr lang="en-US" altLang="ko-KR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"기관명"은 위에 적힌 이름으로 바꿔 적용한다. Plotly로 그리고 plotly.js를 내장한 HTML 파일로 만들며, 모든 차트에 예외 없이 동일하게 적용한다.</a:t>
            </a:r>
          </a:p>
          <a:p>
            <a:pPr lvl="0" latinLnBrk="0">
              <a:lnSpc>
                <a:spcPct val="150000"/>
              </a:lnSpc>
              <a:defRPr/>
            </a:pPr>
            <a:endParaRPr lang="en-US" altLang="ko-KR" sz="1200" b="1" dirty="0">
              <a:solidFill>
                <a:schemeClr val="bg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lvl="0" latinLnBrk="0">
              <a:lnSpc>
                <a:spcPct val="150000"/>
              </a:lnSpc>
              <a:defRPr/>
            </a:pPr>
            <a:r>
              <a:rPr lang="en-US" altLang="ko-KR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</a:t>
            </a:r>
            <a:r>
              <a:rPr lang="ko-KR" alt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모양 </a:t>
            </a:r>
            <a:r>
              <a:rPr lang="en-US" altLang="ko-KR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흰색 </a:t>
            </a:r>
            <a:r>
              <a:rPr lang="en-US" altLang="ko-KR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</a:t>
            </a:r>
            <a:r>
              <a:rPr lang="ko-KR" alt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</a:t>
            </a:r>
            <a:r>
              <a:rPr lang="en-US" altLang="ko-KR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오른쪽 </a:t>
            </a:r>
            <a:r>
              <a:rPr lang="ko-KR" altLang="en-US" sz="1200" b="1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축선</a:t>
            </a:r>
            <a:r>
              <a:rPr lang="ko-KR" alt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없음</a:t>
            </a:r>
            <a:r>
              <a:rPr lang="en-US" altLang="ko-KR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</a:t>
            </a:r>
            <a:r>
              <a:rPr lang="ko-KR" altLang="en-US" sz="1200" b="1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축선만</a:t>
            </a:r>
            <a:r>
              <a:rPr lang="ko-KR" alt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연회색</a:t>
            </a:r>
            <a:r>
              <a:rPr lang="en-US" altLang="ko-KR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(#999) / </a:t>
            </a:r>
            <a:r>
              <a:rPr lang="ko-KR" alt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가로 그리드만 연회색</a:t>
            </a:r>
            <a:r>
              <a:rPr lang="en-US" altLang="ko-KR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(#E5E5E5), </a:t>
            </a:r>
            <a:r>
              <a:rPr lang="ko-KR" alt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세로 그리드 없음 </a:t>
            </a:r>
            <a:r>
              <a:rPr lang="en-US" altLang="ko-KR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</a:t>
            </a:r>
            <a:r>
              <a:rPr lang="ko-KR" alt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글꼴 </a:t>
            </a:r>
            <a:r>
              <a:rPr lang="en-US" altLang="ko-KR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r>
              <a:rPr lang="en-US" altLang="ko-KR" sz="1200" b="1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Malgun</a:t>
            </a:r>
            <a:r>
              <a:rPr lang="en-US" altLang="ko-KR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Gothic, Apple SD Gothic Neo, </a:t>
            </a:r>
            <a:r>
              <a:rPr lang="en-US" altLang="ko-KR" sz="1200" b="1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NanumGothic</a:t>
            </a:r>
            <a:r>
              <a:rPr lang="en-US" altLang="ko-KR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 </a:t>
            </a:r>
            <a:r>
              <a:rPr lang="ko-KR" alt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 지정</a:t>
            </a:r>
            <a:r>
              <a:rPr lang="en-US" altLang="ko-KR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한글 깨짐 방지</a:t>
            </a:r>
            <a:r>
              <a:rPr lang="en-US" altLang="ko-KR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</a:p>
          <a:p>
            <a:pPr lvl="0" latinLnBrk="0">
              <a:lnSpc>
                <a:spcPct val="150000"/>
              </a:lnSpc>
              <a:defRPr/>
            </a:pPr>
            <a:r>
              <a:rPr lang="en-US" altLang="ko-KR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</a:t>
            </a:r>
            <a:r>
              <a:rPr lang="ko-KR" alt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</a:t>
            </a:r>
            <a:r>
              <a:rPr lang="en-US" altLang="ko-KR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범례 </a:t>
            </a:r>
            <a:r>
              <a:rPr lang="en-US" altLang="ko-KR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 좌측 정렬</a:t>
            </a:r>
            <a:r>
              <a:rPr lang="en-US" altLang="ko-KR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굵게</a:t>
            </a:r>
            <a:r>
              <a:rPr lang="en-US" altLang="ko-KR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·18pt, </a:t>
            </a:r>
            <a:r>
              <a:rPr lang="ko-KR" alt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바로 아래 부제 회색</a:t>
            </a:r>
            <a:r>
              <a:rPr lang="en-US" altLang="ko-KR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(#888) 13pt / </a:t>
            </a:r>
            <a:r>
              <a:rPr lang="ko-KR" alt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범례는 차트 위쪽에 가로 한 줄</a:t>
            </a:r>
            <a:r>
              <a:rPr lang="en-US" altLang="ko-KR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좌측 정렬</a:t>
            </a:r>
          </a:p>
          <a:p>
            <a:pPr lvl="0" latinLnBrk="0">
              <a:lnSpc>
                <a:spcPct val="150000"/>
              </a:lnSpc>
              <a:defRPr/>
            </a:pPr>
            <a:r>
              <a:rPr lang="en-US" altLang="ko-KR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</a:t>
            </a:r>
            <a:r>
              <a:rPr lang="ko-KR" alt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하단 표기</a:t>
            </a:r>
            <a:r>
              <a:rPr lang="en-US" altLang="ko-KR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매번 동일</a:t>
            </a:r>
            <a:r>
              <a:rPr lang="en-US" altLang="ko-KR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— </a:t>
            </a:r>
            <a:r>
              <a:rPr lang="ko-KR" alt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 하단에서 아래로 </a:t>
            </a:r>
            <a:r>
              <a:rPr lang="en-US" altLang="ko-KR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18% </a:t>
            </a:r>
            <a:r>
              <a:rPr lang="ko-KR" alt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지점</a:t>
            </a:r>
            <a:r>
              <a:rPr lang="en-US" altLang="ko-KR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하단 여백 약 </a:t>
            </a:r>
            <a:r>
              <a:rPr lang="en-US" altLang="ko-KR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90px / </a:t>
            </a:r>
            <a:r>
              <a:rPr lang="ko-KR" alt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 끝 </a:t>
            </a:r>
            <a:r>
              <a:rPr lang="en-US" altLang="ko-KR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r>
              <a:rPr lang="ko-KR" alt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</a:t>
            </a:r>
            <a:r>
              <a:rPr lang="en-US" altLang="ko-KR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(</a:t>
            </a:r>
            <a:r>
              <a:rPr lang="ko-KR" alt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출처</a:t>
            </a:r>
            <a:r>
              <a:rPr lang="en-US" altLang="ko-KR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)" 11pt </a:t>
            </a:r>
            <a:r>
              <a:rPr lang="ko-KR" alt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회색</a:t>
            </a:r>
            <a:r>
              <a:rPr lang="en-US" altLang="ko-KR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(#888) / </a:t>
            </a:r>
            <a:r>
              <a:rPr lang="ko-KR" alt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오른쪽 끝 </a:t>
            </a:r>
            <a:r>
              <a:rPr lang="en-US" altLang="ko-KR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r>
              <a:rPr lang="ko-KR" alt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기관명</a:t>
            </a:r>
            <a:r>
              <a:rPr lang="en-US" altLang="ko-KR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 11pt </a:t>
            </a:r>
            <a:r>
              <a:rPr lang="ko-KR" alt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굵게 첫 팔레트 색</a:t>
            </a:r>
            <a:r>
              <a:rPr lang="en-US" altLang="ko-KR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(#005BAC) / </a:t>
            </a:r>
            <a:r>
              <a:rPr lang="ko-KR" alt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기관명은 이 자리에만</a:t>
            </a:r>
            <a:r>
              <a:rPr lang="en-US" altLang="ko-KR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</a:t>
            </a:r>
            <a:r>
              <a:rPr lang="en-US" altLang="ko-KR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부제</a:t>
            </a:r>
            <a:r>
              <a:rPr lang="en-US" altLang="ko-KR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범례</a:t>
            </a:r>
            <a:r>
              <a:rPr lang="en-US" altLang="ko-KR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워터마크에 넣지 않음</a:t>
            </a:r>
          </a:p>
          <a:p>
            <a:pPr lvl="0" latinLnBrk="0">
              <a:lnSpc>
                <a:spcPct val="150000"/>
              </a:lnSpc>
              <a:defRPr/>
            </a:pPr>
            <a:r>
              <a:rPr lang="en-US" altLang="ko-KR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</a:t>
            </a:r>
            <a:r>
              <a:rPr lang="ko-KR" alt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 </a:t>
            </a:r>
            <a:r>
              <a:rPr lang="en-US" altLang="ko-KR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</a:t>
            </a:r>
            <a:r>
              <a:rPr lang="en-US" altLang="ko-KR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r>
              <a:rPr lang="ko-KR" alt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색만 순서대로</a:t>
            </a:r>
            <a:r>
              <a:rPr lang="en-US" altLang="ko-KR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#005BAC, #00A0E9, #7FB800, #F39800, #E4002B, #8E8E8E / </a:t>
            </a:r>
            <a:r>
              <a:rPr lang="ko-KR" alt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항목</a:t>
            </a:r>
            <a:r>
              <a:rPr lang="en-US" altLang="ko-KR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</a:t>
            </a:r>
            <a:r>
              <a:rPr lang="en-US" altLang="ko-KR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등</a:t>
            </a:r>
            <a:r>
              <a:rPr lang="en-US" altLang="ko-KR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모든 차트에서 같은 색</a:t>
            </a:r>
          </a:p>
          <a:p>
            <a:pPr lvl="0" latinLnBrk="0">
              <a:lnSpc>
                <a:spcPct val="150000"/>
              </a:lnSpc>
              <a:defRPr/>
            </a:pPr>
            <a:r>
              <a:rPr lang="en-US" altLang="ko-KR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</a:t>
            </a:r>
            <a:r>
              <a:rPr lang="ko-KR" alt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</a:t>
            </a:r>
            <a:r>
              <a:rPr lang="en-US" altLang="ko-KR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 종류 </a:t>
            </a:r>
            <a:r>
              <a:rPr lang="ko-KR" altLang="en-US" sz="1200" b="1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미지정</a:t>
            </a:r>
            <a:r>
              <a:rPr lang="ko-KR" alt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 보고서용 형태를 한 줄로 추천 후 제작 </a:t>
            </a:r>
            <a:r>
              <a:rPr lang="en-US" altLang="ko-KR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</a:t>
            </a:r>
            <a:r>
              <a:rPr lang="ko-KR" alt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 전 점검</a:t>
            </a:r>
            <a:r>
              <a:rPr lang="en-US" altLang="ko-KR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하단 좌측 출처 </a:t>
            </a:r>
            <a:r>
              <a:rPr lang="en-US" altLang="ko-KR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r>
              <a:rPr lang="ko-KR" alt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하단 우측 기관명 </a:t>
            </a:r>
            <a:r>
              <a:rPr lang="en-US" altLang="ko-KR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6</a:t>
            </a:r>
            <a:r>
              <a:rPr lang="ko-KR" alt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 팔레트 </a:t>
            </a:r>
            <a:r>
              <a:rPr lang="en-US" altLang="ko-KR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plotly.js </a:t>
            </a:r>
            <a:r>
              <a:rPr lang="ko-KR" alt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내장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0413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C00C43-FDE0-D34E-2F21-564F1B052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785E8E4-D46E-95C6-8719-C577DA3071E7}"/>
              </a:ext>
            </a:extLst>
          </p:cNvPr>
          <p:cNvSpPr/>
          <p:nvPr/>
        </p:nvSpPr>
        <p:spPr>
          <a:xfrm>
            <a:off x="822960" y="457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실습 STEP 3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A3F2763-3F9E-6515-CD0D-B14523819B62}"/>
              </a:ext>
            </a:extLst>
          </p:cNvPr>
          <p:cNvSpPr/>
          <p:nvPr/>
        </p:nvSpPr>
        <p:spPr>
          <a:xfrm>
            <a:off x="2880360" y="598932"/>
            <a:ext cx="8485632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AB4054E-5D16-2CF1-9499-5E7A1F635D13}"/>
              </a:ext>
            </a:extLst>
          </p:cNvPr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파일을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올리고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워크플로우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작업을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355B78D-CC66-6B18-E53B-58812DE7D5D0}"/>
              </a:ext>
            </a:extLst>
          </p:cNvPr>
          <p:cNvSpPr/>
          <p:nvPr/>
        </p:nvSpPr>
        <p:spPr>
          <a:xfrm>
            <a:off x="822960" y="148132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marR="0" lvl="0" indent="-15240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화면 입력창에 아래 프롬프트 붙여 넣기 → trackA_admin.csv 파일 첨부 후 전송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7C3B74E-B7A5-2830-72F4-46483DA37BBF}"/>
              </a:ext>
            </a:extLst>
          </p:cNvPr>
          <p:cNvSpPr/>
          <p:nvPr/>
        </p:nvSpPr>
        <p:spPr>
          <a:xfrm>
            <a:off x="822960" y="2011680"/>
            <a:ext cx="10543032" cy="12344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7AF379D-11C7-7E15-3D96-4CD3D23B49DF}"/>
              </a:ext>
            </a:extLst>
          </p:cNvPr>
          <p:cNvSpPr/>
          <p:nvPr/>
        </p:nvSpPr>
        <p:spPr>
          <a:xfrm>
            <a:off x="822960" y="2011680"/>
            <a:ext cx="54864" cy="1234440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563EE0F-D963-5128-E32C-893CC970FBFD}"/>
              </a:ext>
            </a:extLst>
          </p:cNvPr>
          <p:cNvSpPr/>
          <p:nvPr/>
        </p:nvSpPr>
        <p:spPr>
          <a:xfrm>
            <a:off x="1097280" y="2157984"/>
            <a:ext cx="9994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요청 프롬프트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AE65616-F13F-402B-949F-73ED086EA2BF}"/>
              </a:ext>
            </a:extLst>
          </p:cNvPr>
          <p:cNvSpPr/>
          <p:nvPr/>
        </p:nvSpPr>
        <p:spPr>
          <a:xfrm>
            <a:off x="1097280" y="2450592"/>
            <a:ext cx="9994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첨부 CSV로 우리 하우스 스타일 차트 세트를 그려줘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91EF9CDB-274A-289F-E7E7-3DF95E92641D}"/>
              </a:ext>
            </a:extLst>
          </p:cNvPr>
          <p:cNvSpPr/>
          <p:nvPr/>
        </p:nvSpPr>
        <p:spPr>
          <a:xfrm>
            <a:off x="746760" y="3683000"/>
            <a:ext cx="10543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marR="0" lvl="0" indent="-15240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지침이 반영되었는지 확인하기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ECE7D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52400" marR="0" lvl="0" indent="-15240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쉬운 확인 방법은 결과 차트 하단 우측에 KISTEP 표기가 있는지 보기(지침 3번 항목)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ECE7D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52400" marR="0" lvl="0" indent="-15240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중 허용 여부를 묻는 창이 뜨면 내용 확인 후 허용(입력창 아래 권한 설정이 '수동'일 때)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ECE7D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39124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Eyebrow"/>
          <p:cNvSpPr/>
          <p:nvPr/>
        </p:nvSpPr>
        <p:spPr>
          <a:xfrm>
            <a:off x="822960" y="457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· 지침이 여러 개일 때</a:t>
            </a:r>
          </a:p>
        </p:txBody>
      </p:sp>
      <p:sp>
        <p:nvSpPr>
          <p:cNvPr id="31" name="Line"/>
          <p:cNvSpPr/>
          <p:nvPr/>
        </p:nvSpPr>
        <p:spPr>
          <a:xfrm>
            <a:off x="3520440" y="598932"/>
            <a:ext cx="7845552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32" name="Title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괄호 태그는 자동으로 실행되는 스위치가 아님</a:t>
            </a:r>
          </a:p>
        </p:txBody>
      </p:sp>
      <p:sp>
        <p:nvSpPr>
          <p:cNvPr id="33" name="Subtitle"/>
          <p:cNvSpPr/>
          <p:nvPr/>
        </p:nvSpPr>
        <p:spPr>
          <a:xfrm>
            <a:off x="822960" y="1332156"/>
            <a:ext cx="10543032" cy="537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지침을 적용할지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활성화 규칙으로 직접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명시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ECE7D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 latinLnBrk="0">
              <a:lnSpc>
                <a:spcPts val="2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지침에서 차트 하단에 기관명 들어가도록 명시하고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내용을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복사해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지침에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붙여넣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endParaRPr lang="en-US" altLang="ko-KR" sz="1400" dirty="0">
              <a:solidFill>
                <a:srgbClr val="FFDF57"/>
              </a:solidFill>
            </a:endParaRPr>
          </a:p>
        </p:txBody>
      </p:sp>
      <p:sp>
        <p:nvSpPr>
          <p:cNvPr id="34" name="Shape"/>
          <p:cNvSpPr/>
          <p:nvPr/>
        </p:nvSpPr>
        <p:spPr>
          <a:xfrm>
            <a:off x="822960" y="1961478"/>
            <a:ext cx="10543032" cy="7315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"/>
          <p:cNvSpPr/>
          <p:nvPr/>
        </p:nvSpPr>
        <p:spPr>
          <a:xfrm>
            <a:off x="822960" y="1961478"/>
            <a:ext cx="54864" cy="731520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Callout"/>
          <p:cNvSpPr/>
          <p:nvPr/>
        </p:nvSpPr>
        <p:spPr>
          <a:xfrm>
            <a:off x="1097280" y="2089494"/>
            <a:ext cx="9994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지침은 전문이 모든 대화에 항상 로드됨</a:t>
            </a:r>
          </a:p>
          <a:p>
            <a:pPr marL="0" marR="0" lvl="0" indent="0" algn="l" defTabSz="914400" rtl="0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여러 지침 사용 시 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“무조건 실행될 것(공통)”과 “골라 쓸 것(오버레이)”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구조적으로 분리</a:t>
            </a:r>
          </a:p>
        </p:txBody>
      </p:sp>
      <p:sp>
        <p:nvSpPr>
          <p:cNvPr id="37" name="Shape"/>
          <p:cNvSpPr/>
          <p:nvPr/>
        </p:nvSpPr>
        <p:spPr>
          <a:xfrm>
            <a:off x="822960" y="2875878"/>
            <a:ext cx="10543032" cy="3847652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Label"/>
          <p:cNvSpPr/>
          <p:nvPr/>
        </p:nvSpPr>
        <p:spPr>
          <a:xfrm>
            <a:off x="1097280" y="3031326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지침</a:t>
            </a:r>
          </a:p>
        </p:txBody>
      </p:sp>
      <p:sp>
        <p:nvSpPr>
          <p:cNvPr id="39" name="GuideBody"/>
          <p:cNvSpPr/>
          <p:nvPr/>
        </p:nvSpPr>
        <p:spPr>
          <a:xfrm>
            <a:off x="1097280" y="3323934"/>
            <a:ext cx="9994392" cy="325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lnSpc>
                <a:spcPts val="1550"/>
              </a:lnSpc>
              <a:defRPr/>
            </a:pP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하우스 스타일 차트 지침 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CSV 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 또는 차트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 요청 시에만 적용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</a:t>
            </a:r>
          </a:p>
          <a:p>
            <a:pPr lvl="0" latinLnBrk="0">
              <a:lnSpc>
                <a:spcPts val="1550"/>
              </a:lnSpc>
              <a:defRPr/>
            </a:pP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기관명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</a:p>
          <a:p>
            <a:pPr lvl="0" latinLnBrk="0">
              <a:lnSpc>
                <a:spcPts val="1550"/>
              </a:lnSpc>
              <a:defRPr/>
            </a:pPr>
            <a:endParaRPr lang="en-US" altLang="ko-KR" sz="1050" b="1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lvl="0" latinLnBrk="0">
              <a:lnSpc>
                <a:spcPts val="1550"/>
              </a:lnSpc>
              <a:defRPr/>
            </a:pP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《공통 규칙 — 항상 적용》 "기관명"은 위에 적힌 이름으로 바꿔 적용한다. Plotly로 그리고 plotly.js를 내장한 HTML 파일로 만들며, 모든 차트에 예외 없이 동일하게 적용한다.</a:t>
            </a:r>
          </a:p>
          <a:p>
            <a:pPr lvl="0" latinLnBrk="0">
              <a:lnSpc>
                <a:spcPts val="1550"/>
              </a:lnSpc>
              <a:defRPr/>
            </a:pP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모양 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흰색 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오른쪽 </a:t>
            </a:r>
            <a:r>
              <a:rPr lang="ko-KR" altLang="en-US" sz="105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축선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없음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</a:t>
            </a:r>
            <a:r>
              <a:rPr lang="ko-KR" altLang="en-US" sz="105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축선만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연회색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(#999) / 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가로 그리드만 연회색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(#E5E5E5), 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세로 그리드 없음 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글꼴 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r>
              <a:rPr lang="en-US" altLang="ko-KR" sz="105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Malgun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Gothic, Apple SD Gothic Neo, </a:t>
            </a:r>
            <a:r>
              <a:rPr lang="en-US" altLang="ko-KR" sz="105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NanumGothic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 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 지정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한글 깨짐 방지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</a:p>
          <a:p>
            <a:pPr lvl="0" latinLnBrk="0">
              <a:lnSpc>
                <a:spcPts val="1550"/>
              </a:lnSpc>
              <a:defRPr/>
            </a:pP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범례 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 좌측 정렬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굵게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·18pt, 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바로 아래 부제 회색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(#888) 13pt / 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범례는 차트 위쪽에 가로 한 줄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좌측 정렬</a:t>
            </a:r>
          </a:p>
          <a:p>
            <a:pPr lvl="0" latinLnBrk="0">
              <a:lnSpc>
                <a:spcPts val="1550"/>
              </a:lnSpc>
              <a:defRPr/>
            </a:pP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하단 표기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매번 동일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— 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 하단에서 아래로 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18% 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지점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하단 여백 약 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90px / 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 끝 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(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출처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)" 11pt 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회색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(#888) / 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오른쪽 끝 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기관명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 11pt 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굵게 첫 팔레트 색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(#005BAC) / 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기관명은 이 자리에만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부제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범례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워터마크에 넣지 않음</a:t>
            </a:r>
          </a:p>
          <a:p>
            <a:pPr lvl="0" latinLnBrk="0">
              <a:lnSpc>
                <a:spcPts val="1550"/>
              </a:lnSpc>
              <a:defRPr/>
            </a:pP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 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색만 순서대로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#005BAC, #00A0E9, #7FB800, #F39800, #E4002B, #8E8E8E / 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항목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등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모든 차트에서 같은 색</a:t>
            </a:r>
          </a:p>
          <a:p>
            <a:pPr lvl="0" latinLnBrk="0">
              <a:lnSpc>
                <a:spcPts val="1550"/>
              </a:lnSpc>
              <a:defRPr/>
            </a:pP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 종류 </a:t>
            </a:r>
            <a:r>
              <a:rPr lang="ko-KR" altLang="en-US" sz="105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미지정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 보고서용 형태를 한 줄로 추천 후 제작 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세트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묶음막대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예산집행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), </a:t>
            </a:r>
            <a:r>
              <a:rPr lang="ko-KR" altLang="en-US" sz="105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집행률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추이 선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연간 </a:t>
            </a:r>
            <a:r>
              <a:rPr lang="ko-KR" altLang="en-US" sz="105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집행액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도넛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구멍 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55%) / 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 전 점검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하단 좌측 출처 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하단 우측 기관명 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6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 팔레트 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plotly.js 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내장</a:t>
            </a:r>
            <a:endParaRPr lang="en-US" altLang="ko-KR" sz="1050" b="1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lvl="0" latinLnBrk="0">
              <a:lnSpc>
                <a:spcPts val="1550"/>
              </a:lnSpc>
              <a:defRPr/>
            </a:pPr>
            <a:endParaRPr lang="ko-KR" altLang="en-US" sz="1050" b="1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lvl="0" latinLnBrk="0">
              <a:lnSpc>
                <a:spcPts val="1550"/>
              </a:lnSpc>
              <a:defRPr/>
            </a:pP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《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프롬프트에 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국방부 공고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명시된 경우에만 아래 항목으로 공통 규칙을 덮어쓰고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없으면 무시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》</a:t>
            </a:r>
          </a:p>
          <a:p>
            <a:pPr lvl="0" latinLnBrk="0">
              <a:lnSpc>
                <a:spcPts val="1550"/>
              </a:lnSpc>
              <a:defRPr/>
            </a:pP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[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국방부 공고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]: 3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 하단 우측 문구를 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국방부 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교체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색은 그대로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/ 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글꼴은 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r>
              <a:rPr lang="en-US" altLang="ko-KR" sz="105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NanumGothic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Noto Sans KR" 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순으로 교체 </a:t>
            </a:r>
            <a:r>
              <a:rPr lang="en-US" alt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</a:t>
            </a: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외 항목은 공통 규칙 유지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ECE7D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Eyebrow"/>
          <p:cNvSpPr/>
          <p:nvPr/>
        </p:nvSpPr>
        <p:spPr>
          <a:xfrm>
            <a:off x="822960" y="457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· 지침이 여러 개일 때</a:t>
            </a:r>
          </a:p>
        </p:txBody>
      </p:sp>
      <p:sp>
        <p:nvSpPr>
          <p:cNvPr id="43" name="Line"/>
          <p:cNvSpPr/>
          <p:nvPr/>
        </p:nvSpPr>
        <p:spPr>
          <a:xfrm>
            <a:off x="3520440" y="598932"/>
            <a:ext cx="7845552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4" name="Title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국방부 공고 스타일로 차트 만들기</a:t>
            </a:r>
          </a:p>
        </p:txBody>
      </p:sp>
      <p:sp>
        <p:nvSpPr>
          <p:cNvPr id="45" name="Subtitle"/>
          <p:cNvSpPr/>
          <p:nvPr/>
        </p:nvSpPr>
        <p:spPr>
          <a:xfrm>
            <a:off x="822960" y="148132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하단에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KISTEP 대신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'국방부 AX 프로젝트'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기재되었는지 확인</a:t>
            </a:r>
          </a:p>
        </p:txBody>
      </p:sp>
      <p:sp>
        <p:nvSpPr>
          <p:cNvPr id="46" name="Shape"/>
          <p:cNvSpPr/>
          <p:nvPr/>
        </p:nvSpPr>
        <p:spPr>
          <a:xfrm>
            <a:off x="822960" y="2011680"/>
            <a:ext cx="10543032" cy="10058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"/>
          <p:cNvSpPr/>
          <p:nvPr/>
        </p:nvSpPr>
        <p:spPr>
          <a:xfrm>
            <a:off x="822960" y="2011680"/>
            <a:ext cx="54864" cy="1005840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Label"/>
          <p:cNvSpPr/>
          <p:nvPr/>
        </p:nvSpPr>
        <p:spPr>
          <a:xfrm>
            <a:off x="1097280" y="2167128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[국방부 공고] 스타일 프롬프트</a:t>
            </a:r>
          </a:p>
        </p:txBody>
      </p:sp>
      <p:sp>
        <p:nvSpPr>
          <p:cNvPr id="49" name="Prompt"/>
          <p:cNvSpPr/>
          <p:nvPr/>
        </p:nvSpPr>
        <p:spPr>
          <a:xfrm>
            <a:off x="1097280" y="2459736"/>
            <a:ext cx="9994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[국방부 공고] 스타일로 첨부 CSV로 우리 하우스 스타일 차트 세트를 그려줘</a:t>
            </a:r>
          </a:p>
        </p:txBody>
      </p:sp>
      <p:sp>
        <p:nvSpPr>
          <p:cNvPr id="50" name="Shape"/>
          <p:cNvSpPr/>
          <p:nvPr/>
        </p:nvSpPr>
        <p:spPr>
          <a:xfrm>
            <a:off x="822960" y="3246120"/>
            <a:ext cx="10543032" cy="8686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Label"/>
          <p:cNvSpPr/>
          <p:nvPr/>
        </p:nvSpPr>
        <p:spPr>
          <a:xfrm>
            <a:off x="1042416" y="3364992"/>
            <a:ext cx="10104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</a:p>
        </p:txBody>
      </p:sp>
      <p:sp>
        <p:nvSpPr>
          <p:cNvPr id="52" name="Key"/>
          <p:cNvSpPr/>
          <p:nvPr/>
        </p:nvSpPr>
        <p:spPr>
          <a:xfrm>
            <a:off x="1042416" y="3630168"/>
            <a:ext cx="10104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데이터만 올리고 표준 프롬프트 앞에 '[국방부 공고]'만 붙여 보내면 </a:t>
            </a: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스타일로 재생산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Eyebrow"/>
          <p:cNvSpPr/>
          <p:nvPr/>
        </p:nvSpPr>
        <p:spPr>
          <a:xfrm>
            <a:off x="822960" y="457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가이드 · 지침 선별 사용</a:t>
            </a:r>
          </a:p>
        </p:txBody>
      </p:sp>
      <p:sp>
        <p:nvSpPr>
          <p:cNvPr id="56" name="Line"/>
          <p:cNvSpPr/>
          <p:nvPr/>
        </p:nvSpPr>
        <p:spPr>
          <a:xfrm>
            <a:off x="3246120" y="598932"/>
            <a:ext cx="8119872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57" name="Title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각기 다른 지침을 선별적으로 사용해야 할 경우 상황에 따라 대처</a:t>
            </a:r>
          </a:p>
        </p:txBody>
      </p:sp>
      <p:sp>
        <p:nvSpPr>
          <p:cNvPr id="58" name="Subtitle"/>
          <p:cNvSpPr/>
          <p:nvPr/>
        </p:nvSpPr>
        <p:spPr>
          <a:xfrm>
            <a:off x="822960" y="1481328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지침이 섞였을 때의 리스크가 적고 지침 수가 적으면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활성화 규칙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충분</a:t>
            </a:r>
          </a:p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격리가 반드시 보장돼야 하면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분리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, 지침이 많아지면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 활용</a:t>
            </a:r>
          </a:p>
        </p:txBody>
      </p:sp>
      <p:sp>
        <p:nvSpPr>
          <p:cNvPr id="59" name="Shape"/>
          <p:cNvSpPr/>
          <p:nvPr/>
        </p:nvSpPr>
        <p:spPr>
          <a:xfrm>
            <a:off x="822960" y="2606040"/>
            <a:ext cx="3422904" cy="19202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Shape"/>
          <p:cNvSpPr/>
          <p:nvPr/>
        </p:nvSpPr>
        <p:spPr>
          <a:xfrm>
            <a:off x="822960" y="2606040"/>
            <a:ext cx="3422904" cy="36576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OptHead"/>
          <p:cNvSpPr/>
          <p:nvPr/>
        </p:nvSpPr>
        <p:spPr>
          <a:xfrm>
            <a:off x="1042416" y="2807208"/>
            <a:ext cx="2983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활성화 규칙 명시</a:t>
            </a:r>
          </a:p>
        </p:txBody>
      </p:sp>
      <p:sp>
        <p:nvSpPr>
          <p:cNvPr id="62" name="OptBody"/>
          <p:cNvSpPr/>
          <p:nvPr/>
        </p:nvSpPr>
        <p:spPr>
          <a:xfrm>
            <a:off x="1042416" y="3154680"/>
            <a:ext cx="29839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앞장 방식 — 가장 간편</a:t>
            </a:r>
          </a:p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단, LLM의 지침 준수는 확률적이라 100% 격리는 보장되지 않음</a:t>
            </a:r>
          </a:p>
        </p:txBody>
      </p:sp>
      <p:sp>
        <p:nvSpPr>
          <p:cNvPr id="63" name="Shape"/>
          <p:cNvSpPr/>
          <p:nvPr/>
        </p:nvSpPr>
        <p:spPr>
          <a:xfrm>
            <a:off x="4383024" y="2606040"/>
            <a:ext cx="3422904" cy="19202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Shape"/>
          <p:cNvSpPr/>
          <p:nvPr/>
        </p:nvSpPr>
        <p:spPr>
          <a:xfrm>
            <a:off x="4383024" y="2606040"/>
            <a:ext cx="3422904" cy="36576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OptHead"/>
          <p:cNvSpPr/>
          <p:nvPr/>
        </p:nvSpPr>
        <p:spPr>
          <a:xfrm>
            <a:off x="4602480" y="2807208"/>
            <a:ext cx="2983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프로젝트 분리</a:t>
            </a:r>
          </a:p>
        </p:txBody>
      </p:sp>
      <p:sp>
        <p:nvSpPr>
          <p:cNvPr id="66" name="OptBody"/>
          <p:cNvSpPr/>
          <p:nvPr/>
        </p:nvSpPr>
        <p:spPr>
          <a:xfrm>
            <a:off x="4602480" y="3154680"/>
            <a:ext cx="29839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기관·스타일별로 프로젝트를 나눔</a:t>
            </a:r>
          </a:p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구조적으로 격리가 보장되는 가장 확실한 방법</a:t>
            </a:r>
          </a:p>
        </p:txBody>
      </p:sp>
      <p:sp>
        <p:nvSpPr>
          <p:cNvPr id="67" name="Shape"/>
          <p:cNvSpPr/>
          <p:nvPr/>
        </p:nvSpPr>
        <p:spPr>
          <a:xfrm>
            <a:off x="7943088" y="2606040"/>
            <a:ext cx="3422904" cy="19202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Shape"/>
          <p:cNvSpPr/>
          <p:nvPr/>
        </p:nvSpPr>
        <p:spPr>
          <a:xfrm>
            <a:off x="7943088" y="2606040"/>
            <a:ext cx="3422904" cy="36576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OptHead"/>
          <p:cNvSpPr/>
          <p:nvPr/>
        </p:nvSpPr>
        <p:spPr>
          <a:xfrm>
            <a:off x="8162544" y="2807208"/>
            <a:ext cx="2983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Skills</a:t>
            </a:r>
          </a:p>
        </p:txBody>
      </p:sp>
      <p:sp>
        <p:nvSpPr>
          <p:cNvPr id="70" name="OptBody"/>
          <p:cNvSpPr/>
          <p:nvPr/>
        </p:nvSpPr>
        <p:spPr>
          <a:xfrm>
            <a:off x="8162544" y="3154680"/>
            <a:ext cx="29839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지침을 스킬로 등록하면 관련 작업일 때만 로드됨</a:t>
            </a:r>
          </a:p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'골라 쓰는 지침'을 위한 공식 기능</a:t>
            </a:r>
          </a:p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Claude가 판단해 불러오며, 입력창 '+' &gt; Skills로 직접 지정도 가능</a:t>
            </a:r>
          </a:p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등록: 좌측 메뉴 '사용자 지정' &gt; Skills</a:t>
            </a:r>
          </a:p>
        </p:txBody>
      </p:sp>
      <p:sp>
        <p:nvSpPr>
          <p:cNvPr id="71" name="Shape"/>
          <p:cNvSpPr/>
          <p:nvPr/>
        </p:nvSpPr>
        <p:spPr>
          <a:xfrm>
            <a:off x="822960" y="4754880"/>
            <a:ext cx="10543032" cy="10972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Label"/>
          <p:cNvSpPr/>
          <p:nvPr/>
        </p:nvSpPr>
        <p:spPr>
          <a:xfrm>
            <a:off x="1042416" y="4873752"/>
            <a:ext cx="10104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</a:p>
        </p:txBody>
      </p:sp>
      <p:sp>
        <p:nvSpPr>
          <p:cNvPr id="73" name="Key"/>
          <p:cNvSpPr/>
          <p:nvPr/>
        </p:nvSpPr>
        <p:spPr>
          <a:xfrm>
            <a:off x="1042416" y="5138928"/>
            <a:ext cx="10104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데이터를 공유하는 Projects 작업에서 여러 지침 중 필요한 것만 선별해 사용할 때의 가이드</a:t>
            </a:r>
          </a:p>
          <a:p>
            <a:pPr marL="0" marR="0" lvl="0" indent="0" algn="l" defTabSz="914400" rtl="0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기관별 산출물처럼 섞이면 안 되는 작업은 </a:t>
            </a: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②(가장 확실) 또는 ③ 사용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 — 프롬프트 우회책(①)에만 의존하지 않도록 주의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34569A-D853-080D-F670-479511282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753F25B-6FD7-9965-01F9-66DB0B4884E2}"/>
              </a:ext>
            </a:extLst>
          </p:cNvPr>
          <p:cNvSpPr/>
          <p:nvPr/>
        </p:nvSpPr>
        <p:spPr>
          <a:xfrm>
            <a:off x="822960" y="457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실습 STEP 4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8A27870-20A9-96EC-0AC4-3EC265052CC7}"/>
              </a:ext>
            </a:extLst>
          </p:cNvPr>
          <p:cNvSpPr/>
          <p:nvPr/>
        </p:nvSpPr>
        <p:spPr>
          <a:xfrm>
            <a:off x="2880360" y="598932"/>
            <a:ext cx="8485632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4441D39-B0D3-3094-0471-8443698DDCC2}"/>
              </a:ext>
            </a:extLst>
          </p:cNvPr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데이터만 바꿔도 같은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형식으로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 재생산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82FD466-8368-5A34-8DB1-F4E54F0B0D7F}"/>
              </a:ext>
            </a:extLst>
          </p:cNvPr>
          <p:cNvSpPr/>
          <p:nvPr/>
        </p:nvSpPr>
        <p:spPr>
          <a:xfrm>
            <a:off x="822960" y="148132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스키마가 같으면 거의 동일한 형태로, 다르더라도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지침에 최대한 맞춰 통일성 있게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생성된다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0497560-6DF2-A411-E82B-D30DB8E3B11D}"/>
              </a:ext>
            </a:extLst>
          </p:cNvPr>
          <p:cNvSpPr/>
          <p:nvPr/>
        </p:nvSpPr>
        <p:spPr>
          <a:xfrm>
            <a:off x="822960" y="2148840"/>
            <a:ext cx="2450592" cy="16002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1E2C7FF-EC8D-11AC-E354-70D13BFD4A28}"/>
              </a:ext>
            </a:extLst>
          </p:cNvPr>
          <p:cNvSpPr/>
          <p:nvPr/>
        </p:nvSpPr>
        <p:spPr>
          <a:xfrm>
            <a:off x="822960" y="2148840"/>
            <a:ext cx="2450592" cy="36576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67BCF62-0642-B6EA-CDD7-945220BD9AF9}"/>
              </a:ext>
            </a:extLst>
          </p:cNvPr>
          <p:cNvSpPr/>
          <p:nvPr/>
        </p:nvSpPr>
        <p:spPr>
          <a:xfrm>
            <a:off x="969264" y="237744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호 데이터 업로드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9AEB67C-093C-3631-1AFA-A8713CEEFA8A}"/>
              </a:ext>
            </a:extLst>
          </p:cNvPr>
          <p:cNvSpPr/>
          <p:nvPr/>
        </p:nvSpPr>
        <p:spPr>
          <a:xfrm>
            <a:off x="969264" y="2926080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양식의 CSV를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프로젝트에 첨부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FAEDD34-7186-A377-5CEC-8DB076829F32}"/>
              </a:ext>
            </a:extLst>
          </p:cNvPr>
          <p:cNvSpPr/>
          <p:nvPr/>
        </p:nvSpPr>
        <p:spPr>
          <a:xfrm>
            <a:off x="3291840" y="2148840"/>
            <a:ext cx="228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3BF6380-7995-B6CC-9F91-F8CE5D47245D}"/>
              </a:ext>
            </a:extLst>
          </p:cNvPr>
          <p:cNvSpPr/>
          <p:nvPr/>
        </p:nvSpPr>
        <p:spPr>
          <a:xfrm>
            <a:off x="3520440" y="2148840"/>
            <a:ext cx="2450592" cy="16002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B20DBA56-0BB7-B43E-1878-54DCB1CDCC38}"/>
              </a:ext>
            </a:extLst>
          </p:cNvPr>
          <p:cNvSpPr/>
          <p:nvPr/>
        </p:nvSpPr>
        <p:spPr>
          <a:xfrm>
            <a:off x="3520440" y="2148840"/>
            <a:ext cx="2450592" cy="36576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8A8064C-AABE-A553-D820-F5E27AE13CAD}"/>
              </a:ext>
            </a:extLst>
          </p:cNvPr>
          <p:cNvSpPr/>
          <p:nvPr/>
        </p:nvSpPr>
        <p:spPr>
          <a:xfrm>
            <a:off x="3666744" y="237744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프롬프트 전송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B680BEC-E9A2-4881-35CF-D803911A86E1}"/>
              </a:ext>
            </a:extLst>
          </p:cNvPr>
          <p:cNvSpPr/>
          <p:nvPr/>
        </p:nvSpPr>
        <p:spPr>
          <a:xfrm>
            <a:off x="3666744" y="2926080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지침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인해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규칙이 재적용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4F26F03-0BEA-6AA4-5BD9-B207C1DD1ABB}"/>
              </a:ext>
            </a:extLst>
          </p:cNvPr>
          <p:cNvSpPr/>
          <p:nvPr/>
        </p:nvSpPr>
        <p:spPr>
          <a:xfrm>
            <a:off x="5989320" y="2148840"/>
            <a:ext cx="228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ADF9978C-231F-04F2-C246-1375700D77EC}"/>
              </a:ext>
            </a:extLst>
          </p:cNvPr>
          <p:cNvSpPr/>
          <p:nvPr/>
        </p:nvSpPr>
        <p:spPr>
          <a:xfrm>
            <a:off x="6217920" y="2148840"/>
            <a:ext cx="2450592" cy="16002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5EB90B19-F94C-525D-7253-7EF90053D1C5}"/>
              </a:ext>
            </a:extLst>
          </p:cNvPr>
          <p:cNvSpPr/>
          <p:nvPr/>
        </p:nvSpPr>
        <p:spPr>
          <a:xfrm>
            <a:off x="6217920" y="2148840"/>
            <a:ext cx="2450592" cy="36576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C98CC28-69E7-5DE7-27D7-434DC6A1E2A4}"/>
              </a:ext>
            </a:extLst>
          </p:cNvPr>
          <p:cNvSpPr/>
          <p:nvPr/>
        </p:nvSpPr>
        <p:spPr>
          <a:xfrm>
            <a:off x="6364224" y="237744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모양 산출물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D9193F4-7023-3AB5-2314-974714FA7DBB}"/>
              </a:ext>
            </a:extLst>
          </p:cNvPr>
          <p:cNvSpPr/>
          <p:nvPr/>
        </p:nvSpPr>
        <p:spPr>
          <a:xfrm>
            <a:off x="6364224" y="2926080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숫자만 바뀐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형식의 차트 세트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AA27B29-CAAF-7739-F287-B22ABC62CA89}"/>
              </a:ext>
            </a:extLst>
          </p:cNvPr>
          <p:cNvSpPr/>
          <p:nvPr/>
        </p:nvSpPr>
        <p:spPr>
          <a:xfrm>
            <a:off x="8686800" y="2148840"/>
            <a:ext cx="228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9536FBD5-4E3C-2DE8-DEC4-1D88610616AB}"/>
              </a:ext>
            </a:extLst>
          </p:cNvPr>
          <p:cNvSpPr/>
          <p:nvPr/>
        </p:nvSpPr>
        <p:spPr>
          <a:xfrm>
            <a:off x="8915400" y="2148840"/>
            <a:ext cx="2450592" cy="16002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E332493C-6290-6A0C-F7C9-EF434B9B14B4}"/>
              </a:ext>
            </a:extLst>
          </p:cNvPr>
          <p:cNvSpPr/>
          <p:nvPr/>
        </p:nvSpPr>
        <p:spPr>
          <a:xfrm>
            <a:off x="8915400" y="2148840"/>
            <a:ext cx="2450592" cy="36576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08FB7D9-7385-3383-3435-C9B975DDD6A9}"/>
              </a:ext>
            </a:extLst>
          </p:cNvPr>
          <p:cNvSpPr/>
          <p:nvPr/>
        </p:nvSpPr>
        <p:spPr>
          <a:xfrm>
            <a:off x="9061704" y="237744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워크플로우로 이용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77982A6-51BB-653B-2CD4-23548B9354BE}"/>
              </a:ext>
            </a:extLst>
          </p:cNvPr>
          <p:cNvSpPr/>
          <p:nvPr/>
        </p:nvSpPr>
        <p:spPr>
          <a:xfrm>
            <a:off x="9061704" y="2926080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반복해도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스타일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유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262471D8-61EF-3F70-93F3-7BD3732FEE19}"/>
              </a:ext>
            </a:extLst>
          </p:cNvPr>
          <p:cNvSpPr/>
          <p:nvPr/>
        </p:nvSpPr>
        <p:spPr>
          <a:xfrm>
            <a:off x="822959" y="4069080"/>
            <a:ext cx="10928774" cy="14173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4DF31722-409D-A0D8-0E82-89A4FABF19B0}"/>
              </a:ext>
            </a:extLst>
          </p:cNvPr>
          <p:cNvSpPr/>
          <p:nvPr/>
        </p:nvSpPr>
        <p:spPr>
          <a:xfrm>
            <a:off x="1042416" y="423367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해 보기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02952A82-A563-F37B-5442-86FAFD5AEF53}"/>
              </a:ext>
            </a:extLst>
          </p:cNvPr>
          <p:cNvSpPr/>
          <p:nvPr/>
        </p:nvSpPr>
        <p:spPr>
          <a:xfrm>
            <a:off x="1042415" y="4526280"/>
            <a:ext cx="1032357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trackA_operation.csv 를 올린 뒤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프롬프트를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보내고, 앞서 만든 차트와 형식이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유지되는지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DF57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DF57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첨부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CSV로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하우스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스타일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세트를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그려줘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83937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Eyebrow"/>
          <p:cNvSpPr/>
          <p:nvPr/>
        </p:nvSpPr>
        <p:spPr>
          <a:xfrm>
            <a:off x="822960" y="457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 2 · 꼭 알아둘 개념</a:t>
            </a:r>
          </a:p>
        </p:txBody>
      </p:sp>
      <p:sp>
        <p:nvSpPr>
          <p:cNvPr id="77" name="Line"/>
          <p:cNvSpPr/>
          <p:nvPr/>
        </p:nvSpPr>
        <p:spPr>
          <a:xfrm>
            <a:off x="3246120" y="598932"/>
            <a:ext cx="8119872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78" name="Title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Projects 템플릿이 잘 되는 경우와 노코딩의 한계</a:t>
            </a:r>
          </a:p>
        </p:txBody>
      </p:sp>
      <p:sp>
        <p:nvSpPr>
          <p:cNvPr id="79" name="Shape"/>
          <p:cNvSpPr/>
          <p:nvPr/>
        </p:nvSpPr>
        <p:spPr>
          <a:xfrm>
            <a:off x="822960" y="1737360"/>
            <a:ext cx="5202936" cy="15544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Shape"/>
          <p:cNvSpPr/>
          <p:nvPr/>
        </p:nvSpPr>
        <p:spPr>
          <a:xfrm>
            <a:off x="822960" y="1737360"/>
            <a:ext cx="5202936" cy="36576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" name="Text"/>
          <p:cNvSpPr/>
          <p:nvPr/>
        </p:nvSpPr>
        <p:spPr>
          <a:xfrm>
            <a:off x="1042416" y="1938528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간에 스키마(열 구성)가 같으면</a:t>
            </a:r>
          </a:p>
        </p:txBody>
      </p:sp>
      <p:sp>
        <p:nvSpPr>
          <p:cNvPr id="82" name="Text"/>
          <p:cNvSpPr/>
          <p:nvPr/>
        </p:nvSpPr>
        <p:spPr>
          <a:xfrm>
            <a:off x="1042416" y="2304288"/>
            <a:ext cx="4764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데이터만 올려 그대로 재생산</a:t>
            </a:r>
          </a:p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색·스타일·구성 전부 유지, 별도 수정 불필요</a:t>
            </a:r>
          </a:p>
        </p:txBody>
      </p:sp>
      <p:sp>
        <p:nvSpPr>
          <p:cNvPr id="83" name="Shape"/>
          <p:cNvSpPr/>
          <p:nvPr/>
        </p:nvSpPr>
        <p:spPr>
          <a:xfrm>
            <a:off x="6163056" y="1737360"/>
            <a:ext cx="5202936" cy="15544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Shape"/>
          <p:cNvSpPr/>
          <p:nvPr/>
        </p:nvSpPr>
        <p:spPr>
          <a:xfrm>
            <a:off x="6163056" y="1737360"/>
            <a:ext cx="5202936" cy="36576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" name="Text"/>
          <p:cNvSpPr/>
          <p:nvPr/>
        </p:nvSpPr>
        <p:spPr>
          <a:xfrm>
            <a:off x="6382512" y="1938528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간에 스키마가 다르면</a:t>
            </a:r>
          </a:p>
        </p:txBody>
      </p:sp>
      <p:sp>
        <p:nvSpPr>
          <p:cNvPr id="86" name="Text"/>
          <p:cNvSpPr/>
          <p:nvPr/>
        </p:nvSpPr>
        <p:spPr>
          <a:xfrm>
            <a:off x="6382512" y="2304288"/>
            <a:ext cx="4764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포맷이 달라질 수 있어 지침 수정이 필요할 수 있음</a:t>
            </a:r>
          </a:p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스타일은 유지되지만 매핑(어떤 열을 쓸지)은 다시 지정</a:t>
            </a:r>
          </a:p>
        </p:txBody>
      </p:sp>
      <p:sp>
        <p:nvSpPr>
          <p:cNvPr id="87" name="Shape"/>
          <p:cNvSpPr/>
          <p:nvPr/>
        </p:nvSpPr>
        <p:spPr>
          <a:xfrm>
            <a:off x="822960" y="3474720"/>
            <a:ext cx="5202936" cy="18745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" name="Label"/>
          <p:cNvSpPr/>
          <p:nvPr/>
        </p:nvSpPr>
        <p:spPr>
          <a:xfrm>
            <a:off x="1042416" y="3639312"/>
            <a:ext cx="4764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 선택</a:t>
            </a:r>
          </a:p>
        </p:txBody>
      </p:sp>
      <p:sp>
        <p:nvSpPr>
          <p:cNvPr id="89" name="Text"/>
          <p:cNvSpPr/>
          <p:nvPr/>
        </p:nvSpPr>
        <p:spPr>
          <a:xfrm>
            <a:off x="1042416" y="3931920"/>
            <a:ext cx="4764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지정 모드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(차트 종류를 내가 지정)</a:t>
            </a: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모드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(AI가 선택)</a:t>
            </a:r>
          </a:p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상황에 맞게 선택해 사용</a:t>
            </a:r>
          </a:p>
        </p:txBody>
      </p:sp>
      <p:sp>
        <p:nvSpPr>
          <p:cNvPr id="90" name="Shape"/>
          <p:cNvSpPr/>
          <p:nvPr/>
        </p:nvSpPr>
        <p:spPr>
          <a:xfrm>
            <a:off x="6163056" y="3474720"/>
            <a:ext cx="5202936" cy="18745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1" name="Label"/>
          <p:cNvSpPr/>
          <p:nvPr/>
        </p:nvSpPr>
        <p:spPr>
          <a:xfrm>
            <a:off x="6382512" y="3639312"/>
            <a:ext cx="4764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노코딩의 한계 — 결정성</a:t>
            </a:r>
          </a:p>
        </p:txBody>
      </p:sp>
      <p:sp>
        <p:nvSpPr>
          <p:cNvPr id="92" name="Text"/>
          <p:cNvSpPr/>
          <p:nvPr/>
        </p:nvSpPr>
        <p:spPr>
          <a:xfrm>
            <a:off x="6382512" y="3931920"/>
            <a:ext cx="47640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노코딩은 일관적이지만 </a:t>
            </a: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 결정적이지는 않음</a:t>
            </a:r>
          </a:p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(같은 요청도 미세하게 달라질 수 있음)</a:t>
            </a:r>
          </a:p>
          <a:p>
            <a:pPr marL="0" marR="0" lvl="0" indent="0" algn="l" defTabSz="914400" rtl="0" eaLnBrk="1" fontAlgn="auto" latinLnBrk="0" hangingPunct="1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→ '항상 똑같이'가 필요한 보고서엔 </a:t>
            </a: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코드가 답</a:t>
            </a:r>
          </a:p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60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단계: 확정한 차트 코드를 프로젝트 파일로 올려 두고 그 코드로만 실행하도록 요청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A26892-E7C5-49F7-8093-5735B5874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yebrow"/>
          <p:cNvSpPr/>
          <p:nvPr/>
        </p:nvSpPr>
        <p:spPr>
          <a:xfrm>
            <a:off x="822960" y="457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가이드 · 반복 실행 자동화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13CDE24-0A89-4BFF-A840-691BDACA7152}"/>
              </a:ext>
            </a:extLst>
          </p:cNvPr>
          <p:cNvSpPr/>
          <p:nvPr/>
        </p:nvSpPr>
        <p:spPr>
          <a:xfrm>
            <a:off x="3520440" y="598932"/>
            <a:ext cx="7845552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ED79C2A-1992-4DBA-B26B-38DFCC3CBD1B}"/>
              </a:ext>
            </a:extLst>
          </p:cNvPr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예약된 작업으로 정해진 주기마다 자동 실행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E1B9DDF-C604-4425-A8DD-20A8DF793E1C}"/>
              </a:ext>
            </a:extLst>
          </p:cNvPr>
          <p:cNvSpPr/>
          <p:nvPr/>
        </p:nvSpPr>
        <p:spPr>
          <a:xfrm>
            <a:off x="822960" y="148132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요청을 정해 둔 주기마다 Claude가 대신 실행 — 유료 플랜(Pro·Max·Team·Enterprise)에서 사용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25C50BF-ADA4-4E8A-A794-9287BA3D1597}"/>
              </a:ext>
            </a:extLst>
          </p:cNvPr>
          <p:cNvSpPr/>
          <p:nvPr/>
        </p:nvSpPr>
        <p:spPr>
          <a:xfrm>
            <a:off x="822960" y="2011680"/>
            <a:ext cx="5148072" cy="27432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9E07AED-90D0-4303-AB41-79F119D02320}"/>
              </a:ext>
            </a:extLst>
          </p:cNvPr>
          <p:cNvSpPr/>
          <p:nvPr/>
        </p:nvSpPr>
        <p:spPr>
          <a:xfrm>
            <a:off x="1042416" y="217627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만드는 방법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FFDA104-892C-471D-B8A0-6737F00868D6}"/>
              </a:ext>
            </a:extLst>
          </p:cNvPr>
          <p:cNvSpPr/>
          <p:nvPr/>
        </p:nvSpPr>
        <p:spPr>
          <a:xfrm>
            <a:off x="1042416" y="2468880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화면에서 등록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DC46256-A273-447B-8693-4ECD3F3516A7}"/>
              </a:ext>
            </a:extLst>
          </p:cNvPr>
          <p:cNvSpPr/>
          <p:nvPr/>
        </p:nvSpPr>
        <p:spPr>
          <a:xfrm>
            <a:off x="1097280" y="2880360"/>
            <a:ext cx="46542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우측 패널 ‘예정됨’ 옆 ‘추가’ 클릭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이름·지침 입력 — 지침에 표준 프롬프트와 데이터 위치 기재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빈도(매시간·매일·평일마다·매주·매월)와 시간 지정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‘만들기’ 후 좌측 메뉴 ‘예약됨’에서 실행 기록 확인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72F15DB-B819-42EA-8B1B-51BAC70555F7}"/>
              </a:ext>
            </a:extLst>
          </p:cNvPr>
          <p:cNvSpPr/>
          <p:nvPr/>
        </p:nvSpPr>
        <p:spPr>
          <a:xfrm>
            <a:off x="1042416" y="411480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대화창에 일정과 할 일을 말로 요청해도 Claude가 작업 내용을 제안 → 확인 후 등록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456E838-0DF0-4C09-A2B6-F75AE544A348}"/>
              </a:ext>
            </a:extLst>
          </p:cNvPr>
          <p:cNvSpPr/>
          <p:nvPr/>
        </p:nvSpPr>
        <p:spPr>
          <a:xfrm>
            <a:off x="6217920" y="2011680"/>
            <a:ext cx="5148072" cy="27432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C77070F-D63F-4E35-A470-0858FD0C66D1}"/>
              </a:ext>
            </a:extLst>
          </p:cNvPr>
          <p:cNvSpPr/>
          <p:nvPr/>
        </p:nvSpPr>
        <p:spPr>
          <a:xfrm>
            <a:off x="6437376" y="217627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알아둘 점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C985DB6-00B8-441D-BDF1-45DB4F6CE7E4}"/>
              </a:ext>
            </a:extLst>
          </p:cNvPr>
          <p:cNvSpPr/>
          <p:nvPr/>
        </p:nvSpPr>
        <p:spPr>
          <a:xfrm>
            <a:off x="6437376" y="2468880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환경과 데이터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E7A5DF7-9D2A-4B9F-BE2E-A443C41722CB}"/>
              </a:ext>
            </a:extLst>
          </p:cNvPr>
          <p:cNvSpPr/>
          <p:nvPr/>
        </p:nvSpPr>
        <p:spPr>
          <a:xfrm>
            <a:off x="6492240" y="2880360"/>
            <a:ext cx="46542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원격 실행 — 컴퓨터가 꺼져 있어도 일정대로 진행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위치 — Google Drive 같은 커넥터(고급 설정에서 선택) 또는 Claude 계정에 저장된 파일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권한이 ‘자동’이면 승인 없이 커넥터까지 사용 → 지침에 할 일 범위 명시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실행 결과의 하단 기관명으로 지침 적용 여부 확인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9277290-C5B9-4950-A6FB-3F281042BB2E}"/>
              </a:ext>
            </a:extLst>
          </p:cNvPr>
          <p:cNvSpPr/>
          <p:nvPr/>
        </p:nvSpPr>
        <p:spPr>
          <a:xfrm>
            <a:off x="6437376" y="411480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PC 파일이 필요한 작업은 PC가 켜져 있을 때만 실행. 지침이 빠져 있으면 하우스 스타일 지침을 작업 지침 칸에 함께 기재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KeyFrame">
            <a:extLst>
              <a:ext uri="{FF2B5EF4-FFF2-40B4-BE49-F238E27FC236}">
                <a16:creationId xmlns:a16="http://schemas.microsoft.com/office/drawing/2014/main" id="{F79F1261-F770-4E43-8151-84DCBC7B6F06}"/>
              </a:ext>
            </a:extLst>
          </p:cNvPr>
          <p:cNvSpPr/>
          <p:nvPr/>
        </p:nvSpPr>
        <p:spPr>
          <a:xfrm>
            <a:off x="822960" y="4983480"/>
            <a:ext cx="10543032" cy="10515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8" name="KeyLabel">
            <a:extLst>
              <a:ext uri="{FF2B5EF4-FFF2-40B4-BE49-F238E27FC236}">
                <a16:creationId xmlns:a16="http://schemas.microsoft.com/office/drawing/2014/main" id="{8689FE67-A17A-4B73-8D04-8607483EA737}"/>
              </a:ext>
            </a:extLst>
          </p:cNvPr>
          <p:cNvSpPr/>
          <p:nvPr/>
        </p:nvSpPr>
        <p:spPr>
          <a:xfrm>
            <a:off x="1042416" y="5102352"/>
            <a:ext cx="10104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KeyText">
            <a:extLst>
              <a:ext uri="{FF2B5EF4-FFF2-40B4-BE49-F238E27FC236}">
                <a16:creationId xmlns:a16="http://schemas.microsoft.com/office/drawing/2014/main" id="{5E605614-F22B-476C-9A08-6817D35F3A1E}"/>
              </a:ext>
            </a:extLst>
          </p:cNvPr>
          <p:cNvSpPr/>
          <p:nvPr/>
        </p:nvSpPr>
        <p:spPr>
          <a:xfrm>
            <a:off x="1042416" y="5376672"/>
            <a:ext cx="10104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매달 사람이 CSV를 올리는 방식이면 </a:t>
            </a: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 표준 프롬프트로 충분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새 데이터가 정해진 곳(예: Google Drive 폴더)에 쌓이는 업무면 </a:t>
            </a: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예약된 작업으로 실행까지 자동화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5476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2331</Words>
  <Application>Microsoft Office PowerPoint</Application>
  <PresentationFormat>와이드스크린</PresentationFormat>
  <Paragraphs>191</Paragraphs>
  <Slides>13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13</vt:i4>
      </vt:variant>
    </vt:vector>
  </HeadingPairs>
  <TitlesOfParts>
    <vt:vector size="22" baseType="lpstr">
      <vt:lpstr>맑은 고딕</vt:lpstr>
      <vt:lpstr>맑은 고딕</vt:lpstr>
      <vt:lpstr>Arial</vt:lpstr>
      <vt:lpstr>Calibri</vt:lpstr>
      <vt:lpstr>Symbol</vt:lpstr>
      <vt:lpstr>Times New Roman</vt:lpstr>
      <vt:lpstr>Wingdings</vt:lpstr>
      <vt:lpstr>Office Theme</vt:lpstr>
      <vt:lpstr>1_Office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think</dc:creator>
  <cp:lastModifiedBy>think</cp:lastModifiedBy>
  <cp:revision>1</cp:revision>
  <dcterms:created xsi:type="dcterms:W3CDTF">2026-08-27T12:34:58Z</dcterms:created>
  <dcterms:modified xsi:type="dcterms:W3CDTF">2026-09-22T05:51:15Z</dcterms:modified>
</cp:coreProperties>
</file>